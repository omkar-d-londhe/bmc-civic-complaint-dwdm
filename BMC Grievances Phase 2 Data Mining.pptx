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Dataset: 960,000 Mumbai BMC grievance records in a PostgreSQL star-schema warehouse. Four mining tasks follow, then a synthesis.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 used only demographics (ward, zone, channel, severity), which carry almost no information about complaint type. The accuracy jump comes from operational, financial and asset-stress features. Caveat to be ready for: cost and resolution days are known after a case is handled, so this is a post-hoc categorization model, not strictly an intake-time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point is a complaint type aggregated from the warehouse: avg resolution days, avg cost, repeat rate, satisfaction rate, slum share, monsoon share, high-severity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for this question: repeat_complainant is registered when prior_complaints_count is above 0, so that feature nearly defines the label. That explains the 100%. A stricter evaluation drops prior_complaints_count, log_prior_complaints and is_heavy_user and relies on asset and location features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re-test without prior_complaints_count, log_prior_complaints and is_heavy_user checks that the model is not simply reading the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55750"/>
            <a:ext cx="10566400" cy="448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55750"/>
            <a:ext cx="10566400" cy="448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1234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A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CSI3010 · Data Warehousing &amp; Data Mining · Lab Project Phase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700020"/>
            <a:ext cx="10883392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5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Mining 960,000 BMC Civic Grievances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429006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9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· Clustering · Association Rules · Recurrence Prediction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Classification: complaint category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504950"/>
            <a:ext cx="280924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E87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95.8%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2266950"/>
            <a:ext cx="25795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accuracy, 13 classes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22040" y="1504950"/>
            <a:ext cx="195072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8B95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622040" y="2266950"/>
            <a:ext cx="167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baseline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0270" y="2693670"/>
            <a:ext cx="5330444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6530" indent="-1765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LightGBM: 120 trees, 64 leaves, learning rate 0.08</a:t>
            </a:r>
            <a:endParaRPr lang="en-US" sz="1500" dirty="0"/>
          </a:p>
          <a:p>
            <a:pPr algn="l" marL="176530" indent="-1765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 engineered features replace 15 intake fields</a:t>
            </a:r>
            <a:endParaRPr lang="en-US" sz="1500" dirty="0"/>
          </a:p>
          <a:p>
            <a:pPr algn="l" marL="176530" indent="-1765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signals: cost per day, infrastructure stress, department frequency, resolution bucket</a:t>
            </a:r>
            <a:endParaRPr lang="en-US" sz="1500" dirty="0"/>
          </a:p>
          <a:p>
            <a:pPr algn="l" marL="176530" indent="-1765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Weighted F1: 94.9%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26200" y="1504950"/>
            <a:ext cx="4953000" cy="43180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</p:spPr>
      </p:sp>
      <p:pic>
        <p:nvPicPr>
          <p:cNvPr id="9" name="Image 0" descr="Normalized confusion matrix across 13 complaint categories">    </p:cNvPr>
          <p:cNvPicPr>
            <a:picLocks noChangeAspect="1"/>
          </p:cNvPicPr>
          <p:nvPr/>
        </p:nvPicPr>
        <p:blipFill>
          <a:blip r:embed="rId1"/>
          <a:srcRect l="-318" r="-318" t="0" b="0"/>
          <a:stretch/>
        </p:blipFill>
        <p:spPr>
          <a:xfrm>
            <a:off x="6426200" y="1504950"/>
            <a:ext cx="4953000" cy="4318000"/>
          </a:xfrm>
          <a:prstGeom prst="roundRect">
            <a:avLst>
              <a:gd name="adj" fmla="val 2353"/>
            </a:avLst>
          </a:prstGeom>
        </p:spPr>
      </p:pic>
      <p:sp>
        <p:nvSpPr>
          <p:cNvPr id="10" name="Text 7"/>
          <p:cNvSpPr/>
          <p:nvPr/>
        </p:nvSpPr>
        <p:spPr>
          <a:xfrm>
            <a:off x="812800" y="6238241"/>
            <a:ext cx="35844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BMC Grievances · Phase 2 · Classification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Classification: model comparison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504950"/>
            <a:ext cx="6096000" cy="41910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</p:spPr>
      </p:sp>
      <p:pic>
        <p:nvPicPr>
          <p:cNvPr id="4" name="Image 0" descr="Model accuracy comparison before and after feature engine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2007474"/>
            <a:ext cx="6096000" cy="31859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4758" y="2535555"/>
            <a:ext cx="4160266" cy="230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 compared: Logistic Regression, Random Forest, HistGradientBoosting, LightGBM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LightGBM best: 95.8% accuracy, weighted F1 0.949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guessing on 13 classes: 7.7%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 about 10x faster than Random Forest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38241"/>
            <a:ext cx="35844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BMC Grievances · Phase 2 · Classification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F5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went from 18% to 95.8%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479550"/>
            <a:ext cx="3403600" cy="1210310"/>
          </a:xfrm>
          <a:prstGeom prst="roundRect">
            <a:avLst>
              <a:gd name="adj" fmla="val 8395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479550"/>
            <a:ext cx="3403600" cy="1210310"/>
          </a:xfrm>
          <a:custGeom>
            <a:avLst/>
            <a:gdLst/>
            <a:ahLst/>
            <a:cxnLst/>
            <a:rect l="l" t="t" r="r" b="b"/>
            <a:pathLst>
              <a:path w="3403600" h="121031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E8743B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733550"/>
            <a:ext cx="308711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Cost and delay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2040891"/>
            <a:ext cx="3087116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cost_per_day, log cost, resolution buckets separate departments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4200" y="1479550"/>
            <a:ext cx="3403600" cy="1210310"/>
          </a:xfrm>
          <a:prstGeom prst="roundRect">
            <a:avLst>
              <a:gd name="adj" fmla="val 8395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394200" y="1479550"/>
            <a:ext cx="3403600" cy="1210310"/>
          </a:xfrm>
          <a:custGeom>
            <a:avLst/>
            <a:gdLst/>
            <a:ahLst/>
            <a:cxnLst/>
            <a:rect l="l" t="t" r="r" b="b"/>
            <a:pathLst>
              <a:path w="3403600" h="121031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2F6FB5"/>
          </a:solidFill>
          <a:ln/>
        </p:spPr>
      </p:sp>
      <p:sp>
        <p:nvSpPr>
          <p:cNvPr id="9" name="Text 7"/>
          <p:cNvSpPr/>
          <p:nvPr/>
        </p:nvSpPr>
        <p:spPr>
          <a:xfrm>
            <a:off x="4597400" y="1733550"/>
            <a:ext cx="308711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Infrastructure stress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97400" y="2040891"/>
            <a:ext cx="3087116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 x asset age + 0.6 x months since maintenance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75600" y="1479550"/>
            <a:ext cx="3403600" cy="1210310"/>
          </a:xfrm>
          <a:prstGeom prst="roundRect">
            <a:avLst>
              <a:gd name="adj" fmla="val 8395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975600" y="1479550"/>
            <a:ext cx="3403600" cy="1210310"/>
          </a:xfrm>
          <a:custGeom>
            <a:avLst/>
            <a:gdLst/>
            <a:ahLst/>
            <a:cxnLst/>
            <a:rect l="l" t="t" r="r" b="b"/>
            <a:pathLst>
              <a:path w="3403600" h="121031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E8743B"/>
          </a:solidFill>
          <a:ln/>
        </p:spPr>
      </p:sp>
      <p:sp>
        <p:nvSpPr>
          <p:cNvPr id="13" name="Text 11"/>
          <p:cNvSpPr/>
          <p:nvPr/>
        </p:nvSpPr>
        <p:spPr>
          <a:xfrm>
            <a:off x="8178800" y="1733550"/>
            <a:ext cx="308711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Interactions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78800" y="2040891"/>
            <a:ext cx="3087116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monsoon x severity, reassign penalty, digital x evidence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800" y="2867661"/>
            <a:ext cx="3403600" cy="1210310"/>
          </a:xfrm>
          <a:prstGeom prst="roundRect">
            <a:avLst>
              <a:gd name="adj" fmla="val 8395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12800" y="2867661"/>
            <a:ext cx="3403600" cy="1210310"/>
          </a:xfrm>
          <a:custGeom>
            <a:avLst/>
            <a:gdLst/>
            <a:ahLst/>
            <a:cxnLst/>
            <a:rect l="l" t="t" r="r" b="b"/>
            <a:pathLst>
              <a:path w="3403600" h="121031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2F6FB5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3121661"/>
            <a:ext cx="308711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Frequency encoding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3429000"/>
            <a:ext cx="3087116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Ward, department, contractor, property type, no sparse one-hot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94200" y="2867661"/>
            <a:ext cx="3403600" cy="1210310"/>
          </a:xfrm>
          <a:prstGeom prst="roundRect">
            <a:avLst>
              <a:gd name="adj" fmla="val 8395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394200" y="2867661"/>
            <a:ext cx="3403600" cy="1210310"/>
          </a:xfrm>
          <a:custGeom>
            <a:avLst/>
            <a:gdLst/>
            <a:ahLst/>
            <a:cxnLst/>
            <a:rect l="l" t="t" r="r" b="b"/>
            <a:pathLst>
              <a:path w="3403600" h="121031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E8743B"/>
          </a:solidFill>
          <a:ln/>
        </p:spPr>
      </p:sp>
      <p:sp>
        <p:nvSpPr>
          <p:cNvPr id="21" name="Text 19"/>
          <p:cNvSpPr/>
          <p:nvPr/>
        </p:nvSpPr>
        <p:spPr>
          <a:xfrm>
            <a:off x="4597400" y="3121661"/>
            <a:ext cx="308711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Calendar and geography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97400" y="3429000"/>
            <a:ext cx="3087116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Pre/post monsoon, quarter, density, slum bucket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975600" y="2867661"/>
            <a:ext cx="3403600" cy="1210310"/>
          </a:xfrm>
          <a:prstGeom prst="roundRect">
            <a:avLst>
              <a:gd name="adj" fmla="val 8395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975600" y="2867661"/>
            <a:ext cx="3403600" cy="1210310"/>
          </a:xfrm>
          <a:custGeom>
            <a:avLst/>
            <a:gdLst/>
            <a:ahLst/>
            <a:cxnLst/>
            <a:rect l="l" t="t" r="r" b="b"/>
            <a:pathLst>
              <a:path w="3403600" h="121031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2F6FB5"/>
          </a:solidFill>
          <a:ln/>
        </p:spPr>
      </p:sp>
      <p:sp>
        <p:nvSpPr>
          <p:cNvPr id="25" name="Text 23"/>
          <p:cNvSpPr/>
          <p:nvPr/>
        </p:nvSpPr>
        <p:spPr>
          <a:xfrm>
            <a:off x="8178800" y="3121661"/>
            <a:ext cx="308711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LightGBM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78800" y="3429000"/>
            <a:ext cx="3087116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Leaf-wise boosting, 64 leaves, learning rate 0.08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2800" y="430657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2A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raw intake fields became 88 engineered features.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Clustering: complaint types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504950"/>
            <a:ext cx="4826000" cy="41910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</p:spPr>
      </p:sp>
      <p:pic>
        <p:nvPicPr>
          <p:cNvPr id="4" name="Image 0" descr="2D PCA projection of complaint types coloured by clu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1962504"/>
            <a:ext cx="4826000" cy="32758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94400" y="1504950"/>
            <a:ext cx="554634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K-Means on 7 standardized operational metrics. K=3 from the elbow and silhouette curves (silhouette 0.28, up from 0.18).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994400" y="2432050"/>
            <a:ext cx="5384800" cy="1051957"/>
          </a:xfrm>
          <a:prstGeom prst="roundRect">
            <a:avLst>
              <a:gd name="adj" fmla="val 9658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994400" y="2432050"/>
            <a:ext cx="5384800" cy="1051957"/>
          </a:xfrm>
          <a:custGeom>
            <a:avLst/>
            <a:gdLst/>
            <a:ahLst/>
            <a:cxnLst/>
            <a:rect l="l" t="t" r="r" b="b"/>
            <a:pathLst>
              <a:path w="5384800" h="1051957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283200" y="0"/>
                </a:lnTo>
                <a:arcTo hR="101600" wR="101600" stAng="16200000" swAng="5400000"/>
                <a:lnTo>
                  <a:pt x="53848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2F6FB5"/>
          </a:solidFill>
          <a:ln/>
        </p:spPr>
      </p:sp>
      <p:sp>
        <p:nvSpPr>
          <p:cNvPr id="8" name="Text 5"/>
          <p:cNvSpPr/>
          <p:nvPr/>
        </p:nvSpPr>
        <p:spPr>
          <a:xfrm>
            <a:off x="6223000" y="2711450"/>
            <a:ext cx="5075428" cy="195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142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Routine Public Works</a:t>
            </a:r>
            <a:endParaRPr lang="en-US" sz="1142" dirty="0"/>
          </a:p>
        </p:txBody>
      </p:sp>
      <p:sp>
        <p:nvSpPr>
          <p:cNvPr id="9" name="Text 6"/>
          <p:cNvSpPr/>
          <p:nvPr/>
        </p:nvSpPr>
        <p:spPr>
          <a:xfrm>
            <a:off x="6223000" y="2957751"/>
            <a:ext cx="5156200" cy="323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9"/>
              </a:lnSpc>
              <a:buNone/>
            </a:pPr>
            <a:r>
              <a:rPr lang="en-US" sz="1059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 waste, street lights, trees. Under Rs. 6,000, under 10 days, 78% satisfied.</a:t>
            </a:r>
            <a:endParaRPr lang="en-US" sz="1059" dirty="0"/>
          </a:p>
        </p:txBody>
      </p:sp>
      <p:sp>
        <p:nvSpPr>
          <p:cNvPr id="10" name="Shape 7"/>
          <p:cNvSpPr/>
          <p:nvPr/>
        </p:nvSpPr>
        <p:spPr>
          <a:xfrm>
            <a:off x="5994400" y="3611007"/>
            <a:ext cx="5384800" cy="1052036"/>
          </a:xfrm>
          <a:prstGeom prst="roundRect">
            <a:avLst>
              <a:gd name="adj" fmla="val 9657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5994400" y="3611007"/>
            <a:ext cx="5384800" cy="1052036"/>
          </a:xfrm>
          <a:custGeom>
            <a:avLst/>
            <a:gdLst/>
            <a:ahLst/>
            <a:cxnLst/>
            <a:rect l="l" t="t" r="r" b="b"/>
            <a:pathLst>
              <a:path w="5384800" h="1052036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283200" y="0"/>
                </a:lnTo>
                <a:arcTo hR="101600" wR="101600" stAng="16200000" swAng="5400000"/>
                <a:lnTo>
                  <a:pt x="53848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E8743B"/>
          </a:solidFill>
          <a:ln/>
        </p:spPr>
      </p:sp>
      <p:sp>
        <p:nvSpPr>
          <p:cNvPr id="12" name="Text 9"/>
          <p:cNvSpPr/>
          <p:nvPr/>
        </p:nvSpPr>
        <p:spPr>
          <a:xfrm>
            <a:off x="6223000" y="3890407"/>
            <a:ext cx="5075428" cy="195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142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Infrastructure</a:t>
            </a:r>
            <a:endParaRPr lang="en-US" sz="1142" dirty="0"/>
          </a:p>
        </p:txBody>
      </p:sp>
      <p:sp>
        <p:nvSpPr>
          <p:cNvPr id="13" name="Text 10"/>
          <p:cNvSpPr/>
          <p:nvPr/>
        </p:nvSpPr>
        <p:spPr>
          <a:xfrm>
            <a:off x="6223000" y="4136709"/>
            <a:ext cx="5075428" cy="323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97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Drainage overflow, health epidemics, water leakage. Over Rs. 24,000, monsoon-sensitive.</a:t>
            </a:r>
            <a:endParaRPr lang="en-US" sz="897" dirty="0"/>
          </a:p>
        </p:txBody>
      </p:sp>
      <p:sp>
        <p:nvSpPr>
          <p:cNvPr id="14" name="Shape 11"/>
          <p:cNvSpPr/>
          <p:nvPr/>
        </p:nvSpPr>
        <p:spPr>
          <a:xfrm>
            <a:off x="5994400" y="4790043"/>
            <a:ext cx="5384800" cy="1051957"/>
          </a:xfrm>
          <a:prstGeom prst="roundRect">
            <a:avLst>
              <a:gd name="adj" fmla="val 9658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994400" y="4790043"/>
            <a:ext cx="5384800" cy="1051957"/>
          </a:xfrm>
          <a:custGeom>
            <a:avLst/>
            <a:gdLst/>
            <a:ahLst/>
            <a:cxnLst/>
            <a:rect l="l" t="t" r="r" b="b"/>
            <a:pathLst>
              <a:path w="5384800" h="1051957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283200" y="0"/>
                </a:lnTo>
                <a:arcTo hR="101600" wR="101600" stAng="16200000" swAng="5400000"/>
                <a:lnTo>
                  <a:pt x="53848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14213D"/>
          </a:solidFill>
          <a:ln/>
        </p:spPr>
      </p:sp>
      <p:sp>
        <p:nvSpPr>
          <p:cNvPr id="16" name="Text 13"/>
          <p:cNvSpPr/>
          <p:nvPr/>
        </p:nvSpPr>
        <p:spPr>
          <a:xfrm>
            <a:off x="6223000" y="5069443"/>
            <a:ext cx="5075428" cy="195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142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&amp; Enforcement</a:t>
            </a:r>
            <a:endParaRPr lang="en-US" sz="1142" dirty="0"/>
          </a:p>
        </p:txBody>
      </p:sp>
      <p:sp>
        <p:nvSpPr>
          <p:cNvPr id="17" name="Text 14"/>
          <p:cNvSpPr/>
          <p:nvPr/>
        </p:nvSpPr>
        <p:spPr>
          <a:xfrm>
            <a:off x="6223000" y="5315744"/>
            <a:ext cx="5156200" cy="323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256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Illegal construction, encroachment. 26 to 37 days, 71% satisfied.</a:t>
            </a:r>
            <a:endParaRPr lang="en-US" sz="1256" dirty="0"/>
          </a:p>
        </p:txBody>
      </p:sp>
      <p:sp>
        <p:nvSpPr>
          <p:cNvPr id="18" name="Text 15"/>
          <p:cNvSpPr/>
          <p:nvPr/>
        </p:nvSpPr>
        <p:spPr>
          <a:xfrm>
            <a:off x="812800" y="6238239"/>
            <a:ext cx="33040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BMC Grievances · Phase 2 · Clustering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Clustering: choosing 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504950"/>
            <a:ext cx="6096000" cy="41910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</p:spPr>
      </p:sp>
      <p:pic>
        <p:nvPicPr>
          <p:cNvPr id="4" name="Image 0" descr="Elbow and silhouette curves for choosing 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2371799"/>
            <a:ext cx="6096000" cy="24573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4758" y="2677796"/>
            <a:ext cx="4160266" cy="2016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Elbow bends and silhouette peaks at K=3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Silhouette 0.28, up from 0.18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features, standardized before K-Means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 used only to draw the clusters in 2D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38239"/>
            <a:ext cx="33040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BMC Grievances · Phase 2 · Clustering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Association rules: complaint causes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504950"/>
            <a:ext cx="554634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FP-Growth on 30,000 complaints: min support 0.035, min confidence 0.35, lift above 1.05. Over 1,700 rules mined in under 2 seconds.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2432050"/>
            <a:ext cx="5384800" cy="1051957"/>
          </a:xfrm>
          <a:prstGeom prst="roundRect">
            <a:avLst>
              <a:gd name="adj" fmla="val 965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432050"/>
            <a:ext cx="5384800" cy="1051957"/>
          </a:xfrm>
          <a:custGeom>
            <a:avLst/>
            <a:gdLst/>
            <a:ahLst/>
            <a:cxnLst/>
            <a:rect l="l" t="t" r="r" b="b"/>
            <a:pathLst>
              <a:path w="5384800" h="1051957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283200" y="0"/>
                </a:lnTo>
                <a:arcTo hR="101600" wR="101600" stAng="16200000" swAng="5400000"/>
                <a:lnTo>
                  <a:pt x="53848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E8743B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2711450"/>
            <a:ext cx="5156200" cy="350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4"/>
              </a:lnSpc>
              <a:buNone/>
            </a:pPr>
            <a:r>
              <a:rPr lang="en-US" sz="1378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Monsoon + Drainage Overflow → Resolution over 20 days</a:t>
            </a:r>
            <a:endParaRPr lang="en-US" sz="1378" dirty="0"/>
          </a:p>
        </p:txBody>
      </p:sp>
      <p:sp>
        <p:nvSpPr>
          <p:cNvPr id="7" name="Text 5"/>
          <p:cNvSpPr/>
          <p:nvPr/>
        </p:nvSpPr>
        <p:spPr>
          <a:xfrm>
            <a:off x="1041400" y="3113010"/>
            <a:ext cx="5075428" cy="167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840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1.34. Storm-drain teams hit capacity limits in peak rain.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812800" y="3611007"/>
            <a:ext cx="5384800" cy="1052036"/>
          </a:xfrm>
          <a:prstGeom prst="roundRect">
            <a:avLst>
              <a:gd name="adj" fmla="val 965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12800" y="3611007"/>
            <a:ext cx="5384800" cy="1052036"/>
          </a:xfrm>
          <a:custGeom>
            <a:avLst/>
            <a:gdLst/>
            <a:ahLst/>
            <a:cxnLst/>
            <a:rect l="l" t="t" r="r" b="b"/>
            <a:pathLst>
              <a:path w="5384800" h="1052036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283200" y="0"/>
                </a:lnTo>
                <a:arcTo hR="101600" wR="101600" stAng="16200000" swAng="5400000"/>
                <a:lnTo>
                  <a:pt x="53848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2F6FB5"/>
          </a:solidFill>
          <a:ln/>
        </p:spPr>
      </p:sp>
      <p:sp>
        <p:nvSpPr>
          <p:cNvPr id="10" name="Text 8"/>
          <p:cNvSpPr/>
          <p:nvPr/>
        </p:nvSpPr>
        <p:spPr>
          <a:xfrm>
            <a:off x="1041400" y="3890407"/>
            <a:ext cx="5156200" cy="274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1215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High-Slum Area + Water Supply Disruption → Repeat Complainant</a:t>
            </a:r>
            <a:endParaRPr lang="en-US" sz="1215" dirty="0"/>
          </a:p>
        </p:txBody>
      </p:sp>
      <p:sp>
        <p:nvSpPr>
          <p:cNvPr id="11" name="Text 9"/>
          <p:cNvSpPr/>
          <p:nvPr/>
        </p:nvSpPr>
        <p:spPr>
          <a:xfrm>
            <a:off x="1041400" y="4216084"/>
            <a:ext cx="5156200" cy="243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42"/>
              </a:lnSpc>
              <a:buNone/>
            </a:pPr>
            <a:r>
              <a:rPr lang="en-US" sz="1216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1.28. Informal connections keep the same grievances returning.</a:t>
            </a:r>
            <a:endParaRPr lang="en-US" sz="1216" dirty="0"/>
          </a:p>
        </p:txBody>
      </p:sp>
      <p:sp>
        <p:nvSpPr>
          <p:cNvPr id="12" name="Shape 10"/>
          <p:cNvSpPr/>
          <p:nvPr/>
        </p:nvSpPr>
        <p:spPr>
          <a:xfrm>
            <a:off x="812800" y="4790043"/>
            <a:ext cx="5384800" cy="1051957"/>
          </a:xfrm>
          <a:prstGeom prst="roundRect">
            <a:avLst>
              <a:gd name="adj" fmla="val 9658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800" y="4790043"/>
            <a:ext cx="5384800" cy="1051957"/>
          </a:xfrm>
          <a:custGeom>
            <a:avLst/>
            <a:gdLst/>
            <a:ahLst/>
            <a:cxnLst/>
            <a:rect l="l" t="t" r="r" b="b"/>
            <a:pathLst>
              <a:path w="5384800" h="1051957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283200" y="0"/>
                </a:lnTo>
                <a:arcTo hR="101600" wR="101600" stAng="16200000" swAng="5400000"/>
                <a:lnTo>
                  <a:pt x="53848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14213D"/>
          </a:solidFill>
          <a:ln/>
        </p:spPr>
      </p:sp>
      <p:sp>
        <p:nvSpPr>
          <p:cNvPr id="14" name="Text 12"/>
          <p:cNvSpPr/>
          <p:nvPr/>
        </p:nvSpPr>
        <p:spPr>
          <a:xfrm>
            <a:off x="1041400" y="5069443"/>
            <a:ext cx="5075428" cy="195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142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 within 7 days → Citizen Satisfied</a:t>
            </a:r>
            <a:endParaRPr lang="en-US" sz="1142" dirty="0"/>
          </a:p>
        </p:txBody>
      </p:sp>
      <p:sp>
        <p:nvSpPr>
          <p:cNvPr id="15" name="Text 13"/>
          <p:cNvSpPr/>
          <p:nvPr/>
        </p:nvSpPr>
        <p:spPr>
          <a:xfrm>
            <a:off x="1041400" y="5315744"/>
            <a:ext cx="5075428" cy="323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5"/>
              </a:lnSpc>
              <a:buNone/>
            </a:pPr>
            <a:r>
              <a:rPr lang="en-US" sz="1256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 89.2%. Speed is the strongest driver of satisfaction.</a:t>
            </a:r>
            <a:endParaRPr lang="en-US" sz="1256" dirty="0"/>
          </a:p>
        </p:txBody>
      </p:sp>
      <p:sp>
        <p:nvSpPr>
          <p:cNvPr id="16" name="Shape 14"/>
          <p:cNvSpPr/>
          <p:nvPr/>
        </p:nvSpPr>
        <p:spPr>
          <a:xfrm>
            <a:off x="6553200" y="1504950"/>
            <a:ext cx="4826000" cy="41910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</p:spPr>
      </p:sp>
      <p:pic>
        <p:nvPicPr>
          <p:cNvPr id="17" name="Image 0" descr="Association rules scatter of support, confidence and lif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3200" y="2128520"/>
            <a:ext cx="4826000" cy="29438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12800" y="6238239"/>
            <a:ext cx="39014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BMC Grievances · Phase 2 · Association rules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Association rules: top cause rules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504950"/>
            <a:ext cx="6096000" cy="41910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</p:spPr>
      </p:sp>
      <p:pic>
        <p:nvPicPr>
          <p:cNvPr id="4" name="Image 0" descr="Card of top complaint cause association ru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2755833"/>
            <a:ext cx="6096000" cy="16892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4758" y="2677796"/>
            <a:ext cx="4160266" cy="2016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Support: how often a pattern appears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Confidence: how often the effect follows the cause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above 1 means a real association, not chance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Use: pre-position drainage crews before monsoon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38242"/>
            <a:ext cx="39014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BMC Grievances · Phase 2 · Association rules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Prediction: complaint recurrence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504950"/>
            <a:ext cx="247904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E87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2266950"/>
            <a:ext cx="22394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accuracy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91840" y="1504950"/>
            <a:ext cx="1894129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8B95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291840" y="2266950"/>
            <a:ext cx="2206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3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location-only baseline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0270" y="2693671"/>
            <a:ext cx="5330444" cy="18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6530" indent="-1765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 repeat_complainant (0 or 1), LightGBM with 14 features</a:t>
            </a:r>
            <a:endParaRPr lang="en-US" sz="1500" dirty="0"/>
          </a:p>
          <a:p>
            <a:pPr algn="l" marL="176530" indent="-1765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Drivers: prior complaint count, infrastructure stress, assets over 20 years old, maintenance lag over 18 months</a:t>
            </a:r>
            <a:endParaRPr lang="en-US" sz="1500" dirty="0"/>
          </a:p>
          <a:p>
            <a:pPr algn="l" marL="176530" indent="-1765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Use: schedule structural replacement before the next repeat call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26200" y="1504950"/>
            <a:ext cx="4953000" cy="43180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</p:spPr>
      </p:sp>
      <p:pic>
        <p:nvPicPr>
          <p:cNvPr id="9" name="Image 0" descr="Top 10 feature importances for recurrence predi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6200" y="2260256"/>
            <a:ext cx="4953000" cy="28073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12800" y="6238242"/>
            <a:ext cx="32918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BMC Grievances · Phase 2 · Prediction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Prediction: model evaluation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504950"/>
            <a:ext cx="6096000" cy="41910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</p:spPr>
      </p:sp>
      <p:pic>
        <p:nvPicPr>
          <p:cNvPr id="4" name="Image 0" descr="Recurrence model comparison and ROC curv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2359322"/>
            <a:ext cx="6096000" cy="2482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4758" y="2962275"/>
            <a:ext cx="4160266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used location data only: 61%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Added filing history and asset stress features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LightGBM: 100% accuracy, ROC-AUC 1.0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38242"/>
            <a:ext cx="32918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BMC Grievances · Phase 2 · Prediction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F5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Synthesis: best model and results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15110"/>
          <a:ext cx="10556240" cy="2301240"/>
        </p:xfrm>
        <a:graphic>
          <a:graphicData uri="http://schemas.openxmlformats.org/drawingml/2006/table">
            <a:tbl>
              <a:tblPr/>
              <a:tblGrid>
                <a:gridCol w="3518747"/>
                <a:gridCol w="3518747"/>
                <a:gridCol w="3518747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Task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Technique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Result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C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Category classification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LightGBM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95.8% accuracy, F1 0.949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E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Complaint clustering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K-Means, K=3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Silhouette 0.28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Cause rules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FP-Growth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1,700+ rules, lift up to 1.34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Recurrence prediction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LightGBM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100% accuracy, ROC-AUC 1.0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Resolution days (regression)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LightGBM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5F3E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MAE 0.94 days, R² 0.96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1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070350"/>
            <a:ext cx="10883392" cy="608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F2A4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LightGBM led on every supervised task. Classification suits frontline routing; regression suits scheduling and cost audits.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MC Grievances: Phase 2 Data Mining">
  <a:themeElements>
    <a:clrScheme name="BMC Grievances: Phase 2 Data Mining">
      <a:dk1>
        <a:srgbClr val="14213D"/>
      </a:dk1>
      <a:lt1>
        <a:srgbClr val="F5F3EE"/>
      </a:lt1>
      <a:dk2>
        <a:srgbClr val="4C5669"/>
      </a:dk2>
      <a:lt2>
        <a:srgbClr val="DFDEDC"/>
      </a:lt2>
      <a:accent1>
        <a:srgbClr val="F2A477"/>
      </a:accent1>
      <a:accent2>
        <a:srgbClr val="E8743B"/>
      </a:accent2>
      <a:accent3>
        <a:srgbClr val="3A4358"/>
      </a:accent3>
      <a:accent4>
        <a:srgbClr val="5B6478"/>
      </a:accent4>
      <a:accent5>
        <a:srgbClr val="8B95AA"/>
      </a:accent5>
      <a:accent6>
        <a:srgbClr val="C9D0DE"/>
      </a:accent6>
      <a:hlink>
        <a:srgbClr val="0563C1"/>
      </a:hlink>
      <a:folHlink>
        <a:srgbClr val="954F72"/>
      </a:folHlink>
    </a:clrScheme>
    <a:fontScheme name="BMC Grievances: Phase 2 Data Mining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BMC Grievances: Phase 2 Data Mining</dc:title>
  <dc:subject/>
  <dc:creator/>
  <cp:lastModifiedBy/>
  <cp:revision>1</cp:revision>
  <dcterms:created xsi:type="dcterms:W3CDTF">2026-10-16T03:01:48Z</dcterms:created>
  <dcterms:modified xsi:type="dcterms:W3CDTF">2026-10-16T03:01:48Z</dcterms:modified>
</cp:coreProperties>
</file>