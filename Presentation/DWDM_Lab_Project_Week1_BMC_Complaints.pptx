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F48784BA-7B9E-06E5-4CCF-344A2382D4BF}">
          <p14:sldIdLst>
            <p14:sldId id="256"/>
          </p14:sldIdLst>
        </p14:section>
        <p14:section name="Dataset" id="{D79C840E-7269-8AC5-760E-9549C956F552}">
          <p14:sldIdLst>
            <p14:sldId id="257"/>
            <p14:sldId id="258"/>
          </p14:sldIdLst>
        </p14:section>
        <p14:section name="Warehouse" id="{75777074-7AA5-E516-5AE2-16BB8DF60707}">
          <p14:sldIdLst>
            <p14:sldId id="259"/>
            <p14:sldId id="260"/>
          </p14:sldIdLst>
        </p14:section>
        <p14:section name="OLAP" id="{667E24A1-C8BB-2EE4-BD18-DA14152A87F5}">
          <p14:sldIdLst>
            <p14:sldId id="261"/>
          </p14:sldIdLst>
        </p14:section>
        <p14:section name="Code" id="{01E6FDEA-CB28-48CA-68DF-EDB7E400CD34}">
          <p14:sldIdLst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5457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828800"/>
            <a:ext cx="137160" cy="1463040"/>
          </a:xfrm>
          <a:prstGeom prst="rect">
            <a:avLst/>
          </a:prstGeom>
          <a:solidFill>
            <a:schemeClr val="bg1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" cy="6858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CSI3010 · Data Mining &amp; Warehousing · Lab Project</a:t>
            </a:r>
            <a:endParaRPr lang="en-US" sz="10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82296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828800"/>
            <a:ext cx="137160" cy="155448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1097280" y="1737360"/>
            <a:ext cx="98755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3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1097280" y="2880360"/>
            <a:ext cx="98755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1097280" y="1737360"/>
            <a:ext cx="9875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t>Complaint Pattern Analysis of Mumbai BMC Civic Complaints</a:t>
            </a:r>
            <a:endParaRPr lang="en-US" sz="38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1097280" y="2880360"/>
            <a:ext cx="987552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Data Warehousing &amp; Data Mining (CSI3010) — Lab Project</a:t>
            </a:r>
            <a:endParaRPr lang="en-US" sz="1800" dirty="0"/>
          </a:p>
        </p:txBody>
      </p:sp>
      <p:sp>
        <p:nvSpPr>
          <p:cNvPr id="4" name="Team details"/>
          <p:cNvSpPr txBox="1"/>
          <p:nvPr/>
        </p:nvSpPr>
        <p:spPr>
          <a:xfrm>
            <a:off x="1097280" y="49377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bg2"/>
                </a:solidFill>
              </a:rPr>
              <a:t>Team: [Name 1 – Reg. No.], [Name 2 – Reg. No.] [Name 3 – Reg. No.]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Faculty: [Faculty name]   |   Slot: [Lab slot]   |   Date: [DD-MM-YYYY]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82296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Dataset Description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852160" cy="35204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Property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Details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Dataset name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Mumbai BMC Civic Complaints Dataset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Source / link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Municipal Corporation of Greater Mumbai (MCGM / BMC) Portal [To be updated]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Size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960,000 rows × 35 columns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Time period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Jan 2018 – Dec 2024 (7 Years)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Format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CSV / Relational Data Warehouse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Domain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Smart Cities / Municipal Governance &amp; Civic Services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ationale card"/>
          <p:cNvSpPr/>
          <p:nvPr/>
        </p:nvSpPr>
        <p:spPr>
          <a:xfrm>
            <a:off x="6766560" y="1554480"/>
            <a:ext cx="4846320" cy="4480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5" name="Rationale accent"/>
          <p:cNvSpPr/>
          <p:nvPr/>
        </p:nvSpPr>
        <p:spPr>
          <a:xfrm>
            <a:off x="6766560" y="1554480"/>
            <a:ext cx="4846320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6" name="Rationale head"/>
          <p:cNvSpPr txBox="1"/>
          <p:nvPr/>
        </p:nvSpPr>
        <p:spPr>
          <a:xfrm>
            <a:off x="6949440" y="1783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Why this dataset?</a:t>
            </a:r>
            <a:endParaRPr lang="en-US" sz="1600" dirty="0"/>
          </a:p>
        </p:txBody>
      </p:sp>
      <p:sp>
        <p:nvSpPr>
          <p:cNvPr id="7" name="Rationale body"/>
          <p:cNvSpPr txBox="1"/>
          <p:nvPr/>
        </p:nvSpPr>
        <p:spPr>
          <a:xfrm>
            <a:off x="6949440" y="2286000"/>
            <a:ext cx="4480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 sz="1100"/>
            </a:pPr>
            <a:r>
              <a:t>Business problem: Evaluating 960k civic complaints in Mumbai to identify recurring infrastructure breakdowns, optimize inter-departmental routing, and reduce citizen redressal turnaround times across 24 municipal wards.</a:t>
            </a:r>
            <a:endParaRPr lang="en-US" sz="1300" dirty="0"/>
          </a:p>
          <a:p>
            <a:pPr>
              <a:defRPr sz="1100"/>
            </a:pPr>
            <a:r>
              <a:t>Key questions: Which complaint categories dominate civic grievances? How does resolution time surge during monsoons? Which suburban wards face the largest infrastructure backlog?</a:t>
            </a:r>
          </a:p>
          <a:p>
            <a:pPr>
              <a:defRPr sz="1100"/>
            </a:pPr>
            <a:r>
              <a:t>Data quality: 0 duplicate IDs, 0 null values in curated dataset. Cleaned for whitespace, valid date formats (2018-2024), and positive physical domains.</a:t>
            </a:r>
          </a:p>
          <a:p>
            <a:pPr>
              <a:defRPr sz="1100"/>
            </a:pPr>
            <a:r>
              <a:t>Planned mining tasks: 1) Complaint category classification, 2) Ward vulnerability clustering, 3) Infrastructure association rule mining, 4) Citizen satisfaction prediction.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82296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Attribute Summary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3803904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Attribute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Role in DW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t>complaint_id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Unique complaint identifier (ward+year+seq)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Key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t>complaint_date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Date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Date complaint filed (2018–2024)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Dimension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t>ward_code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BMC administrative ward (A to T)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Dimension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t>complaint_category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Civic grievance category (13 classes)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Dimension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t>complaint_status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Resolution state (Resolved, Escalated, etc.)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Dimension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t>resolution_days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Integer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Elapsed days taken to resolve issue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Measure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t>estimated_cost_inr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Decimal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Estimated resolution cost in INR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Measure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Hint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Replace the sample rows with your dataset’s attributes; mark each as Key, Dimension or Measure.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82296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Data Warehouse to be Built — Star Schema</a:t>
            </a:r>
            <a:endParaRPr lang="en-US" sz="2800" dirty="0"/>
          </a:p>
        </p:txBody>
      </p:sp>
      <p:sp>
        <p:nvSpPr>
          <p:cNvPr id="3" name="Link 1"/>
          <p:cNvSpPr/>
          <p:nvPr/>
        </p:nvSpPr>
        <p:spPr>
          <a:xfrm>
            <a:off x="2468880" y="2148840"/>
            <a:ext cx="3630168" cy="173736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4" name="Link 2"/>
          <p:cNvSpPr/>
          <p:nvPr/>
        </p:nvSpPr>
        <p:spPr>
          <a:xfrm flipV="1">
            <a:off x="6099048" y="2148840"/>
            <a:ext cx="3621024" cy="173736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5" name="Link 3"/>
          <p:cNvSpPr/>
          <p:nvPr/>
        </p:nvSpPr>
        <p:spPr>
          <a:xfrm flipV="1">
            <a:off x="2468880" y="3886200"/>
            <a:ext cx="3630168" cy="146304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6" name="Link 4"/>
          <p:cNvSpPr/>
          <p:nvPr/>
        </p:nvSpPr>
        <p:spPr>
          <a:xfrm>
            <a:off x="6099048" y="3886200"/>
            <a:ext cx="3621024" cy="146304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7" name="Fact table"/>
          <p:cNvSpPr/>
          <p:nvPr/>
        </p:nvSpPr>
        <p:spPr>
          <a:xfrm>
            <a:off x="4727448" y="3017520"/>
            <a:ext cx="2743200" cy="17373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8" name="Fact table text"/>
          <p:cNvSpPr txBox="1"/>
          <p:nvPr/>
        </p:nvSpPr>
        <p:spPr>
          <a:xfrm>
            <a:off x="4864608" y="301752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FACT_COMPLAINT</a:t>
            </a:r>
          </a:p>
          <a:p/>
          <a:p>
            <a:r>
              <a:t>• complaint_key (PK)</a:t>
            </a:r>
          </a:p>
          <a:p>
            <a:r>
              <a:t>• complaint_id (Degenerate)</a:t>
            </a:r>
          </a:p>
          <a:p>
            <a:r>
              <a:t>• time_key (FK)</a:t>
            </a:r>
          </a:p>
          <a:p>
            <a:r>
              <a:t>• location_key (FK)</a:t>
            </a:r>
          </a:p>
          <a:p>
            <a:r>
              <a:t>• category_key (FK)</a:t>
            </a:r>
          </a:p>
          <a:p>
            <a:r>
              <a:t>• status_key (FK)</a:t>
            </a:r>
          </a:p>
          <a:p>
            <a:r>
              <a:t>• complaint_count (Measure)</a:t>
            </a:r>
          </a:p>
          <a:p>
            <a:r>
              <a:t>• resolution_days (Measure)</a:t>
            </a:r>
          </a:p>
          <a:p>
            <a:r>
              <a:t>• estimated_cost_inr (Measure)</a:t>
            </a:r>
          </a:p>
          <a:p>
            <a:r>
              <a:t>• citizen_satisfied (Measure)</a:t>
            </a:r>
          </a:p>
        </p:txBody>
      </p:sp>
      <p:sp>
        <p:nvSpPr>
          <p:cNvPr id="9" name="Dim time"/>
          <p:cNvSpPr/>
          <p:nvPr/>
        </p:nvSpPr>
        <p:spPr>
          <a:xfrm>
            <a:off x="1097280" y="1554480"/>
            <a:ext cx="2743200" cy="118872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0" name="Dim time text"/>
          <p:cNvSpPr txBox="1"/>
          <p:nvPr/>
        </p:nvSpPr>
        <p:spPr>
          <a:xfrm>
            <a:off x="123444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DIM_TIME</a:t>
            </a:r>
          </a:p>
          <a:p/>
          <a:p>
            <a:r>
              <a:t>• time_key (PK)</a:t>
            </a:r>
          </a:p>
          <a:p>
            <a:r>
              <a:t>• full_date (DATE)</a:t>
            </a:r>
          </a:p>
          <a:p>
            <a:r>
              <a:t>• day, month, quarter, year</a:t>
            </a:r>
          </a:p>
          <a:p>
            <a:r>
              <a:t>• month_name, day_of_week</a:t>
            </a:r>
          </a:p>
          <a:p>
            <a:r>
              <a:t>• is_monsoon_season</a:t>
            </a:r>
          </a:p>
        </p:txBody>
      </p:sp>
      <p:sp>
        <p:nvSpPr>
          <p:cNvPr id="11" name="Dim 2"/>
          <p:cNvSpPr/>
          <p:nvPr/>
        </p:nvSpPr>
        <p:spPr>
          <a:xfrm>
            <a:off x="8348472" y="1554480"/>
            <a:ext cx="2743200" cy="1188720"/>
          </a:xfrm>
          <a:prstGeom prst="roundRect">
            <a:avLst>
              <a:gd name="adj" fmla="val 615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12" name="Dim 2 text"/>
          <p:cNvSpPr txBox="1"/>
          <p:nvPr/>
        </p:nvSpPr>
        <p:spPr>
          <a:xfrm>
            <a:off x="8485632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DIM_STATUS</a:t>
            </a:r>
          </a:p>
          <a:p/>
          <a:p>
            <a:r>
              <a:t>• status_key (PK)</a:t>
            </a:r>
          </a:p>
          <a:p>
            <a:r>
              <a:t>• status_name</a:t>
            </a:r>
          </a:p>
          <a:p>
            <a:r>
              <a:t>• work_quality_rating</a:t>
            </a:r>
          </a:p>
          <a:p>
            <a:r>
              <a:t>• contractor_category</a:t>
            </a:r>
          </a:p>
        </p:txBody>
      </p:sp>
      <p:sp>
        <p:nvSpPr>
          <p:cNvPr id="13" name="Dim 3"/>
          <p:cNvSpPr/>
          <p:nvPr/>
        </p:nvSpPr>
        <p:spPr>
          <a:xfrm>
            <a:off x="1097280" y="4754880"/>
            <a:ext cx="2743200" cy="1188720"/>
          </a:xfrm>
          <a:prstGeom prst="roundRect">
            <a:avLst>
              <a:gd name="adj" fmla="val 6154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14" name="Dim 3 text"/>
          <p:cNvSpPr txBox="1"/>
          <p:nvPr/>
        </p:nvSpPr>
        <p:spPr>
          <a:xfrm>
            <a:off x="1234440" y="47548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DIM_CATEGORY</a:t>
            </a:r>
          </a:p>
          <a:p/>
          <a:p>
            <a:r>
              <a:t>• category_key (PK)</a:t>
            </a:r>
          </a:p>
          <a:p>
            <a:r>
              <a:t>• category_name</a:t>
            </a:r>
          </a:p>
          <a:p>
            <a:r>
              <a:t>• department_assigned</a:t>
            </a:r>
          </a:p>
        </p:txBody>
      </p:sp>
      <p:sp>
        <p:nvSpPr>
          <p:cNvPr id="15" name="Dim 4"/>
          <p:cNvSpPr/>
          <p:nvPr/>
        </p:nvSpPr>
        <p:spPr>
          <a:xfrm>
            <a:off x="8348472" y="4754880"/>
            <a:ext cx="2743200" cy="1188720"/>
          </a:xfrm>
          <a:prstGeom prst="roundRect">
            <a:avLst>
              <a:gd name="adj" fmla="val 6154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p/>
        </p:txBody>
      </p:sp>
      <p:sp>
        <p:nvSpPr>
          <p:cNvPr id="16" name="Dim 4 text"/>
          <p:cNvSpPr txBox="1"/>
          <p:nvPr/>
        </p:nvSpPr>
        <p:spPr>
          <a:xfrm>
            <a:off x="8485632" y="47548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DIM_LOCATION</a:t>
            </a:r>
          </a:p>
          <a:p/>
          <a:p>
            <a:r>
              <a:t>• location_key (PK)</a:t>
            </a:r>
          </a:p>
          <a:p>
            <a:r>
              <a:t>• ward (Code: A to T)</a:t>
            </a:r>
          </a:p>
          <a:p>
            <a:r>
              <a:t>• ward_area (Locality)</a:t>
            </a:r>
          </a:p>
          <a:p>
            <a:r>
              <a:t>• zone (City, Western, Eastern)</a:t>
            </a:r>
          </a:p>
          <a:p>
            <a:r>
              <a:t>• ward_type, population_density</a:t>
            </a:r>
          </a:p>
          <a:p>
            <a:r>
              <a:t>• ward_slum_percentage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82296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Warehouse Design &amp; ETL</a:t>
            </a:r>
            <a:endParaRPr lang="en-US" sz="2800" dirty="0"/>
          </a:p>
        </p:txBody>
      </p:sp>
      <p:sp>
        <p:nvSpPr>
          <p:cNvPr id="3" name="Fact card"/>
          <p:cNvSpPr/>
          <p:nvPr/>
        </p:nvSpPr>
        <p:spPr>
          <a:xfrm>
            <a:off x="548640" y="1554480"/>
            <a:ext cx="3566160" cy="4480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Fact accent"/>
          <p:cNvSpPr/>
          <p:nvPr/>
        </p:nvSpPr>
        <p:spPr>
          <a:xfrm>
            <a:off x="548640" y="1554480"/>
            <a:ext cx="3566160" cy="7315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5" name="Fact head"/>
          <p:cNvSpPr txBox="1"/>
          <p:nvPr/>
        </p:nvSpPr>
        <p:spPr>
          <a:xfrm>
            <a:off x="73152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Fact Table</a:t>
            </a:r>
            <a:endParaRPr lang="en-US" sz="1600" dirty="0"/>
          </a:p>
        </p:txBody>
      </p:sp>
      <p:sp>
        <p:nvSpPr>
          <p:cNvPr id="6" name="Fact body"/>
          <p:cNvSpPr txBox="1"/>
          <p:nvPr/>
        </p:nvSpPr>
        <p:spPr>
          <a:xfrm>
            <a:off x="731520" y="2286000"/>
            <a:ext cx="3200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Grain: One row in FACT_COMPLAINT represents one unique civic complaint registered with BMC.</a:t>
            </a:r>
          </a:p>
          <a:p/>
          <a:p>
            <a:r>
              <a:t>Measures: complaint_count (Additive), resolution_days (Additive/Semi-additive), estimated_cost_inr (Additive), citizen_satisfied (Additive 0/1 binary metric).</a:t>
            </a:r>
          </a:p>
          <a:p/>
          <a:p>
            <a:r>
              <a:t>Foreign keys: time_key → DIM_TIME, location_key → DIM_LOCATION, category_key → DIM_CATEGORY, status_key → DIM_STATUS.</a:t>
            </a:r>
          </a:p>
        </p:txBody>
      </p:sp>
      <p:sp>
        <p:nvSpPr>
          <p:cNvPr id="7" name="Dims card"/>
          <p:cNvSpPr/>
          <p:nvPr/>
        </p:nvSpPr>
        <p:spPr>
          <a:xfrm>
            <a:off x="4315968" y="1554480"/>
            <a:ext cx="3566160" cy="4480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8" name="Dims accent"/>
          <p:cNvSpPr/>
          <p:nvPr/>
        </p:nvSpPr>
        <p:spPr>
          <a:xfrm>
            <a:off x="4315968" y="1554480"/>
            <a:ext cx="3566160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9" name="Dims head"/>
          <p:cNvSpPr txBox="1"/>
          <p:nvPr/>
        </p:nvSpPr>
        <p:spPr>
          <a:xfrm>
            <a:off x="4498848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Dimensions &amp; Hierarchies</a:t>
            </a:r>
            <a:endParaRPr lang="en-US" sz="1600" dirty="0"/>
          </a:p>
        </p:txBody>
      </p:sp>
      <p:sp>
        <p:nvSpPr>
          <p:cNvPr id="10" name="Dims body"/>
          <p:cNvSpPr txBox="1"/>
          <p:nvPr/>
        </p:nvSpPr>
        <p:spPr>
          <a:xfrm>
            <a:off x="4498848" y="2286000"/>
            <a:ext cx="3200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Time: Day → Month → Quarter → Year</a:t>
            </a:r>
          </a:p>
          <a:p>
            <a:r>
              <a:t>Location: Area (ward_area) → Ward (ward) → Zone (zone)</a:t>
            </a:r>
          </a:p>
          <a:p>
            <a:r>
              <a:t>Category: Complaint Category → Department Assigned</a:t>
            </a:r>
          </a:p>
          <a:p>
            <a:r>
              <a:t>Status: Resolution Status → Contractor Category</a:t>
            </a:r>
          </a:p>
        </p:txBody>
      </p:sp>
      <p:sp>
        <p:nvSpPr>
          <p:cNvPr id="11" name="ETL card"/>
          <p:cNvSpPr/>
          <p:nvPr/>
        </p:nvSpPr>
        <p:spPr>
          <a:xfrm>
            <a:off x="8083296" y="1554480"/>
            <a:ext cx="3566160" cy="4480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2" name="ETL accent"/>
          <p:cNvSpPr/>
          <p:nvPr/>
        </p:nvSpPr>
        <p:spPr>
          <a:xfrm>
            <a:off x="8083296" y="1554480"/>
            <a:ext cx="3566160" cy="7315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13" name="ETL head"/>
          <p:cNvSpPr txBox="1"/>
          <p:nvPr/>
        </p:nvSpPr>
        <p:spPr>
          <a:xfrm>
            <a:off x="8266176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ETL &amp; Tools</a:t>
            </a:r>
            <a:endParaRPr lang="en-US" sz="1600" dirty="0"/>
          </a:p>
        </p:txBody>
      </p:sp>
      <p:sp>
        <p:nvSpPr>
          <p:cNvPr id="14" name="ETL body"/>
          <p:cNvSpPr txBox="1"/>
          <p:nvPr/>
        </p:nvSpPr>
        <p:spPr>
          <a:xfrm>
            <a:off x="8266176" y="2286000"/>
            <a:ext cx="3200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Extract: Raw CSV ingestion (960k rows from dataset/bmc_train.csv) via Pandas.</a:t>
            </a:r>
          </a:p>
          <a:p>
            <a:r>
              <a:t>Transform: Whitespace stripping, date parsing, surrogate key generation, fact FK mapping.</a:t>
            </a:r>
          </a:p>
          <a:p>
            <a:r>
              <a:t>Load: MySQL database bmc_complaint_dw via SQLAlchemy &amp; PyMySQL.</a:t>
            </a:r>
          </a:p>
          <a:p>
            <a:r>
              <a:t>Tools: Python 3.12, Pandas, SQLAlchemy, PyMySQL, MySQL Server 8.0.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82296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Sample OLAP Operations</a:t>
            </a:r>
            <a:endParaRPr lang="en-US" sz="2800" dirty="0"/>
          </a:p>
        </p:txBody>
      </p:sp>
      <p:sp>
        <p:nvSpPr>
          <p:cNvPr id="3" name="Roll-up card"/>
          <p:cNvSpPr/>
          <p:nvPr/>
        </p:nvSpPr>
        <p:spPr>
          <a:xfrm>
            <a:off x="548640" y="1554480"/>
            <a:ext cx="2103120" cy="4480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Roll-up header"/>
          <p:cNvSpPr/>
          <p:nvPr/>
        </p:nvSpPr>
        <p:spPr>
          <a:xfrm>
            <a:off x="548640" y="1554480"/>
            <a:ext cx="2103120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5" name="Roll-up title"/>
          <p:cNvSpPr txBox="1"/>
          <p:nvPr/>
        </p:nvSpPr>
        <p:spPr>
          <a:xfrm>
            <a:off x="548640" y="1554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Roll-up</a:t>
            </a:r>
            <a:endParaRPr lang="en-US" sz="1600" dirty="0"/>
          </a:p>
        </p:txBody>
      </p:sp>
      <p:sp>
        <p:nvSpPr>
          <p:cNvPr id="6" name="Roll-up desc"/>
          <p:cNvSpPr txBox="1"/>
          <p:nvPr/>
        </p:nvSpPr>
        <p:spPr>
          <a:xfrm>
            <a:off x="685800" y="22402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Ward → Zone (Location Hierarchy)</a:t>
            </a:r>
          </a:p>
        </p:txBody>
      </p:sp>
      <p:sp>
        <p:nvSpPr>
          <p:cNvPr id="7" name="Roll-up placeholder"/>
          <p:cNvSpPr txBox="1"/>
          <p:nvPr/>
        </p:nvSpPr>
        <p:spPr>
          <a:xfrm>
            <a:off x="685800" y="3337560"/>
            <a:ext cx="1828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Sample query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[SQL / MDX here]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Output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[Screenshot / result table]</a:t>
            </a:r>
            <a:endParaRPr lang="en-US" sz="1200" dirty="0"/>
          </a:p>
        </p:txBody>
      </p:sp>
      <p:sp>
        <p:nvSpPr>
          <p:cNvPr id="8" name="Drill-down card"/>
          <p:cNvSpPr/>
          <p:nvPr/>
        </p:nvSpPr>
        <p:spPr>
          <a:xfrm>
            <a:off x="2788920" y="1554480"/>
            <a:ext cx="2103120" cy="4480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9" name="Drill-down header"/>
          <p:cNvSpPr/>
          <p:nvPr/>
        </p:nvSpPr>
        <p:spPr>
          <a:xfrm>
            <a:off x="2788920" y="1554480"/>
            <a:ext cx="2103120" cy="5486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10" name="Drill-down title"/>
          <p:cNvSpPr txBox="1"/>
          <p:nvPr/>
        </p:nvSpPr>
        <p:spPr>
          <a:xfrm>
            <a:off x="2788920" y="1554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Drill-down</a:t>
            </a:r>
            <a:endParaRPr lang="en-US" sz="1600" dirty="0"/>
          </a:p>
        </p:txBody>
      </p:sp>
      <p:sp>
        <p:nvSpPr>
          <p:cNvPr id="11" name="Drill-down desc"/>
          <p:cNvSpPr txBox="1"/>
          <p:nvPr/>
        </p:nvSpPr>
        <p:spPr>
          <a:xfrm>
            <a:off x="2926080" y="22402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Move to finer detail, e.g. Year → Quarter → Month</a:t>
            </a:r>
            <a:endParaRPr lang="en-US" sz="1200" dirty="0"/>
          </a:p>
        </p:txBody>
      </p:sp>
      <p:sp>
        <p:nvSpPr>
          <p:cNvPr id="12" name="Drill-down placeholder"/>
          <p:cNvSpPr txBox="1"/>
          <p:nvPr/>
        </p:nvSpPr>
        <p:spPr>
          <a:xfrm>
            <a:off x="2926080" y="3337560"/>
            <a:ext cx="1828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Sample query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[SQL / MDX here]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Output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[Screenshot / result table]</a:t>
            </a:r>
            <a:endParaRPr lang="en-US" sz="1200" dirty="0"/>
          </a:p>
        </p:txBody>
      </p:sp>
      <p:sp>
        <p:nvSpPr>
          <p:cNvPr id="13" name="Slice card"/>
          <p:cNvSpPr/>
          <p:nvPr/>
        </p:nvSpPr>
        <p:spPr>
          <a:xfrm>
            <a:off x="5029200" y="1554480"/>
            <a:ext cx="2103120" cy="4480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4" name="Slice header"/>
          <p:cNvSpPr/>
          <p:nvPr/>
        </p:nvSpPr>
        <p:spPr>
          <a:xfrm>
            <a:off x="5029200" y="1554480"/>
            <a:ext cx="2103120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15" name="Slice title"/>
          <p:cNvSpPr txBox="1"/>
          <p:nvPr/>
        </p:nvSpPr>
        <p:spPr>
          <a:xfrm>
            <a:off x="5029200" y="1554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Slice</a:t>
            </a:r>
            <a:endParaRPr lang="en-US" sz="1600" dirty="0"/>
          </a:p>
        </p:txBody>
      </p:sp>
      <p:sp>
        <p:nvSpPr>
          <p:cNvPr id="16" name="Slice desc"/>
          <p:cNvSpPr txBox="1"/>
          <p:nvPr/>
        </p:nvSpPr>
        <p:spPr>
          <a:xfrm>
            <a:off x="5166360" y="22402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Fix one dimension, e.g. Year = [2022]</a:t>
            </a:r>
            <a:endParaRPr lang="en-US" sz="1200" dirty="0"/>
          </a:p>
        </p:txBody>
      </p:sp>
      <p:sp>
        <p:nvSpPr>
          <p:cNvPr id="17" name="Slice placeholder"/>
          <p:cNvSpPr txBox="1"/>
          <p:nvPr/>
        </p:nvSpPr>
        <p:spPr>
          <a:xfrm>
            <a:off x="5166360" y="3337560"/>
            <a:ext cx="1828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Sample query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[SQL / MDX here]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Output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[Screenshot / result table]</a:t>
            </a:r>
            <a:endParaRPr lang="en-US" sz="1200" dirty="0"/>
          </a:p>
        </p:txBody>
      </p:sp>
      <p:sp>
        <p:nvSpPr>
          <p:cNvPr id="18" name="Dice card"/>
          <p:cNvSpPr/>
          <p:nvPr/>
        </p:nvSpPr>
        <p:spPr>
          <a:xfrm>
            <a:off x="7269480" y="1554480"/>
            <a:ext cx="2103120" cy="4480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9" name="Dice header"/>
          <p:cNvSpPr/>
          <p:nvPr/>
        </p:nvSpPr>
        <p:spPr>
          <a:xfrm>
            <a:off x="7269480" y="1554480"/>
            <a:ext cx="2103120" cy="5486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20" name="Dice title"/>
          <p:cNvSpPr txBox="1"/>
          <p:nvPr/>
        </p:nvSpPr>
        <p:spPr>
          <a:xfrm>
            <a:off x="7269480" y="1554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Dice</a:t>
            </a:r>
            <a:endParaRPr lang="en-US" sz="1600" dirty="0"/>
          </a:p>
        </p:txBody>
      </p:sp>
      <p:sp>
        <p:nvSpPr>
          <p:cNvPr id="21" name="Dice desc"/>
          <p:cNvSpPr txBox="1"/>
          <p:nvPr/>
        </p:nvSpPr>
        <p:spPr>
          <a:xfrm>
            <a:off x="7406640" y="22402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Select a sub-cube on 2+ dimensions, e.g. Region &amp; Category</a:t>
            </a:r>
            <a:endParaRPr lang="en-US" sz="1200" dirty="0"/>
          </a:p>
        </p:txBody>
      </p:sp>
      <p:sp>
        <p:nvSpPr>
          <p:cNvPr id="22" name="Dice placeholder"/>
          <p:cNvSpPr txBox="1"/>
          <p:nvPr/>
        </p:nvSpPr>
        <p:spPr>
          <a:xfrm>
            <a:off x="7406640" y="3337560"/>
            <a:ext cx="1828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Sample query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[SQL / MDX here]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Output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[Screenshot / result table]</a:t>
            </a:r>
            <a:endParaRPr lang="en-US" sz="1200" dirty="0"/>
          </a:p>
        </p:txBody>
      </p:sp>
      <p:sp>
        <p:nvSpPr>
          <p:cNvPr id="23" name="Pivot card"/>
          <p:cNvSpPr/>
          <p:nvPr/>
        </p:nvSpPr>
        <p:spPr>
          <a:xfrm>
            <a:off x="9509760" y="1554480"/>
            <a:ext cx="2103120" cy="4480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24" name="Pivot header"/>
          <p:cNvSpPr/>
          <p:nvPr/>
        </p:nvSpPr>
        <p:spPr>
          <a:xfrm>
            <a:off x="9509760" y="1554480"/>
            <a:ext cx="2103120" cy="5486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p/>
        </p:txBody>
      </p:sp>
      <p:sp>
        <p:nvSpPr>
          <p:cNvPr id="25" name="Pivot title"/>
          <p:cNvSpPr txBox="1"/>
          <p:nvPr/>
        </p:nvSpPr>
        <p:spPr>
          <a:xfrm>
            <a:off x="9509760" y="1554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Pivot</a:t>
            </a:r>
            <a:endParaRPr lang="en-US" sz="1600" dirty="0"/>
          </a:p>
        </p:txBody>
      </p:sp>
      <p:sp>
        <p:nvSpPr>
          <p:cNvPr id="26" name="Pivot desc"/>
          <p:cNvSpPr txBox="1"/>
          <p:nvPr/>
        </p:nvSpPr>
        <p:spPr>
          <a:xfrm>
            <a:off x="9646920" y="22402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Rotate axes, e.g. swap Region and Product on the report</a:t>
            </a:r>
            <a:endParaRPr lang="en-US" sz="1200" dirty="0"/>
          </a:p>
        </p:txBody>
      </p:sp>
      <p:sp>
        <p:nvSpPr>
          <p:cNvPr id="27" name="Pivot placeholder"/>
          <p:cNvSpPr txBox="1"/>
          <p:nvPr/>
        </p:nvSpPr>
        <p:spPr>
          <a:xfrm>
            <a:off x="9646920" y="3337560"/>
            <a:ext cx="1828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Sample query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[SQL / MDX here]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Output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[Screenshot / result table]</a:t>
            </a:r>
            <a:endParaRPr lang="en-US" sz="1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82296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Code: Creating the Warehouse (SQL)</a:t>
            </a:r>
            <a:endParaRPr lang="en-US" sz="2800" dirty="0"/>
          </a:p>
        </p:txBody>
      </p:sp>
      <p:sp>
        <p:nvSpPr>
          <p:cNvPr id="3" name="DDL code box"/>
          <p:cNvSpPr/>
          <p:nvPr/>
        </p:nvSpPr>
        <p:spPr>
          <a:xfrm>
            <a:off x="548640" y="1508760"/>
            <a:ext cx="11064240" cy="45720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4" name="DDL code"/>
          <p:cNvSpPr txBox="1"/>
          <p:nvPr/>
        </p:nvSpPr>
        <p:spPr>
          <a:xfrm>
            <a:off x="731520" y="1645920"/>
            <a:ext cx="106984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CREATE TABLE dim_time (</a:t>
            </a:r>
          </a:p>
          <a:p>
            <a:r>
              <a:t>  time_key INT PRIMARY KEY,</a:t>
            </a:r>
          </a:p>
          <a:p>
            <a:r>
              <a:t>  full_date DATE NOT NULL UNIQUE,</a:t>
            </a:r>
          </a:p>
          <a:p>
            <a:r>
              <a:t>  day INT, month INT, quarter INT, year INT, is_monsoon_season INT</a:t>
            </a:r>
          </a:p>
          <a:p>
            <a:r>
              <a:t>);</a:t>
            </a:r>
          </a:p>
          <a:p>
            <a:r>
              <a:t>CREATE TABLE dim_location (</a:t>
            </a:r>
          </a:p>
          <a:p>
            <a:r>
              <a:t>  location_key INT PRIMARY KEY,</a:t>
            </a:r>
          </a:p>
          <a:p>
            <a:r>
              <a:t>  ward VARCHAR(10) NOT NULL UNIQUE,</a:t>
            </a:r>
          </a:p>
          <a:p>
            <a:r>
              <a:t>  ward_area VARCHAR(100), zone VARCHAR(50), ward_type VARCHAR(50)</a:t>
            </a:r>
          </a:p>
          <a:p>
            <a:r>
              <a:t>);</a:t>
            </a:r>
          </a:p>
          <a:p>
            <a:r>
              <a:t>CREATE TABLE dim_category (</a:t>
            </a:r>
          </a:p>
          <a:p>
            <a:r>
              <a:t>  category_key INT PRIMARY KEY,</a:t>
            </a:r>
          </a:p>
          <a:p>
            <a:r>
              <a:t>  category_name VARCHAR(100) NOT NULL UNIQUE, department_assigned VARCHAR(100)</a:t>
            </a:r>
          </a:p>
          <a:p>
            <a:r>
              <a:t>);</a:t>
            </a:r>
          </a:p>
          <a:p>
            <a:r>
              <a:t>CREATE TABLE dim_status (</a:t>
            </a:r>
          </a:p>
          <a:p>
            <a:r>
              <a:t>  status_key INT PRIMARY KEY,</a:t>
            </a:r>
          </a:p>
          <a:p>
            <a:r>
              <a:t>  status_name VARCHAR(50), work_quality_rating VARCHAR(50), contractor_category VARCHAR(50)</a:t>
            </a:r>
          </a:p>
          <a:p>
            <a:r>
              <a:t>);</a:t>
            </a:r>
          </a:p>
          <a:p>
            <a:r>
              <a:t>CREATE TABLE fact_complaint (</a:t>
            </a:r>
          </a:p>
          <a:p>
            <a:r>
              <a:t>  complaint_key INT AUTO_INCREMENT PRIMARY KEY,</a:t>
            </a:r>
          </a:p>
          <a:p>
            <a:r>
              <a:t>  complaint_id VARCHAR(50) NOT NULL UNIQUE,</a:t>
            </a:r>
          </a:p>
          <a:p>
            <a:r>
              <a:t>  time_key INT REFERENCES dim_time(time_key),</a:t>
            </a:r>
          </a:p>
          <a:p>
            <a:r>
              <a:t>  location_key INT REFERENCES dim_location(location_key),</a:t>
            </a:r>
          </a:p>
          <a:p>
            <a:r>
              <a:t>  category_key INT REFERENCES dim_category(category_key),</a:t>
            </a:r>
          </a:p>
          <a:p>
            <a:r>
              <a:t>  status_key INT REFERENCES dim_status(status_key),</a:t>
            </a:r>
          </a:p>
          <a:p>
            <a:r>
              <a:t>  complaint_count INT DEFAULT 1, resolution_days INT, estimated_cost_inr DECIMAL(12,2)</a:t>
            </a:r>
          </a:p>
          <a:p>
            <a:r>
              <a:t>);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82296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Code: ETL with Python (pandas)</a:t>
            </a:r>
            <a:endParaRPr lang="en-US" sz="2800" dirty="0"/>
          </a:p>
        </p:txBody>
      </p:sp>
      <p:sp>
        <p:nvSpPr>
          <p:cNvPr id="3" name="ETL code box"/>
          <p:cNvSpPr/>
          <p:nvPr/>
        </p:nvSpPr>
        <p:spPr>
          <a:xfrm>
            <a:off x="548640" y="1508760"/>
            <a:ext cx="11064240" cy="45720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4" name="ETL code"/>
          <p:cNvSpPr txBox="1"/>
          <p:nvPr/>
        </p:nvSpPr>
        <p:spPr>
          <a:xfrm>
            <a:off x="731520" y="1645920"/>
            <a:ext cx="106984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import pandas as pd</a:t>
            </a:r>
          </a:p>
          <a:p>
            <a:r>
              <a:t>from sqlalchemy import create_engine</a:t>
            </a:r>
          </a:p>
          <a:p>
            <a:r>
              <a:t>from sqlalchemy.engine import URL</a:t>
            </a:r>
          </a:p>
          <a:p/>
          <a:p>
            <a:r>
              <a:t># 1. Extract</a:t>
            </a:r>
          </a:p>
          <a:p>
            <a:r>
              <a:t>df = pd.read_csv("dataset/bmc_train.csv")</a:t>
            </a:r>
          </a:p>
          <a:p/>
          <a:p>
            <a:r>
              <a:t># 2. Transform &amp; Clean</a:t>
            </a:r>
          </a:p>
          <a:p>
            <a:r>
              <a:t>df = df.drop_duplicates(subset=["complaint_id"])</a:t>
            </a:r>
          </a:p>
          <a:p>
            <a:r>
              <a:t>df["complaint_date"] = pd.to_datetime(df["complaint_date"])</a:t>
            </a:r>
          </a:p>
          <a:p>
            <a:r>
              <a:t>df["full_date"] = df["complaint_date"].dt.date</a:t>
            </a:r>
          </a:p>
          <a:p/>
          <a:p>
            <a:r>
              <a:t># 3. Create Dimensions</a:t>
            </a:r>
          </a:p>
          <a:p>
            <a:r>
              <a:t>dim_time = df[["full_date", "year", "month", "is_monsoon_season"]].drop_duplicates().reset_index(drop=True)</a:t>
            </a:r>
          </a:p>
          <a:p>
            <a:r>
              <a:t>dim_time["time_key"] = dim_time.index + 1</a:t>
            </a:r>
          </a:p>
          <a:p/>
          <a:p>
            <a:r>
              <a:t>dim_location = df[["ward_code", "ward_area", "zone"]].drop_duplicates().reset_index(drop=True)</a:t>
            </a:r>
          </a:p>
          <a:p>
            <a:r>
              <a:t>dim_location.rename(columns={"ward_code": "ward"}, inplace=True)</a:t>
            </a:r>
          </a:p>
          <a:p>
            <a:r>
              <a:t>dim_location["location_key"] = dim_location.index + 1</a:t>
            </a:r>
          </a:p>
          <a:p/>
          <a:p>
            <a:r>
              <a:t># 4. Build Fact Table</a:t>
            </a:r>
          </a:p>
          <a:p>
            <a:r>
              <a:t>fact_complaint = df[["complaint_id", "resolution_days", "estimated_cost_inr"]].copy()</a:t>
            </a:r>
          </a:p>
          <a:p>
            <a:r>
              <a:t>fact_complaint["complaint_count"] = 1</a:t>
            </a:r>
          </a:p>
          <a:p>
            <a:r>
              <a:t>fact_complaint["time_key"] = df["full_date"].map(dict(zip(dim_time["full_date"], dim_time["time_key"])))</a:t>
            </a:r>
          </a:p>
          <a:p>
            <a:r>
              <a:t>fact_complaint["location_key"] = df["ward_code"].map(dict(zip(dim_location["ward"], dim_location["location_key"])))</a:t>
            </a:r>
          </a:p>
          <a:p/>
          <a:p>
            <a:r>
              <a:t># 5. Load to MySQL</a:t>
            </a:r>
          </a:p>
          <a:p>
            <a:r>
              <a:t>engine = create_engine(URL.create("mysql+pymysql", "root", "your_password", "localhost", 3306, "bmc_complaint_dw"))</a:t>
            </a:r>
          </a:p>
          <a:p>
            <a:r>
              <a:t>dim_time.to_sql("dim_time", engine, if_exists="append", index=False)</a:t>
            </a:r>
          </a:p>
          <a:p>
            <a:r>
              <a:t>dim_location.to_sql("dim_location", engine, if_exists="append", index=False)</a:t>
            </a:r>
          </a:p>
          <a:p>
            <a:r>
              <a:t>fact_complaint.to_sql("fact_complaint", engine, if_exists="append", index=False, chunksize=20000)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82296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Code: Sample OLAP Queries</a:t>
            </a:r>
            <a:endParaRPr lang="en-US" sz="2800" dirty="0"/>
          </a:p>
        </p:txBody>
      </p:sp>
      <p:sp>
        <p:nvSpPr>
          <p:cNvPr id="3" name="OLAP code left box"/>
          <p:cNvSpPr/>
          <p:nvPr/>
        </p:nvSpPr>
        <p:spPr>
          <a:xfrm>
            <a:off x="548640" y="1508760"/>
            <a:ext cx="5440680" cy="45720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4" name="OLAP code left"/>
          <p:cNvSpPr txBox="1"/>
          <p:nvPr/>
        </p:nvSpPr>
        <p:spPr>
          <a:xfrm>
            <a:off x="731520" y="1645920"/>
            <a:ext cx="50749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-- 1. Roll-up: Ward -&gt; Zone</a:t>
            </a:r>
          </a:p>
          <a:p>
            <a:r>
              <a:t>SELECT l.zone, COUNT(f.complaint_key) AS total_complaints, ROUND(AVG(f.resolution_days), 2) AS avg_res_days</a:t>
            </a:r>
          </a:p>
          <a:p>
            <a:r>
              <a:t>FROM fact_complaint f JOIN dim_location l ON f.location_key = l.location_key</a:t>
            </a:r>
          </a:p>
          <a:p>
            <a:r>
              <a:t>GROUP BY l.zone ORDER BY total_complaints DESC;</a:t>
            </a:r>
          </a:p>
          <a:p/>
          <a:p>
            <a:r>
              <a:t>-- 2. Drill-down: Year -&gt; Quarter -&gt; Month (2024)</a:t>
            </a:r>
          </a:p>
          <a:p>
            <a:r>
              <a:t>SELECT t.year, t.quarter, t.month_name, SUM(f.complaint_count) AS total_complaints, ROUND(AVG(f.resolution_days), 2) AS avg_days</a:t>
            </a:r>
          </a:p>
          <a:p>
            <a:r>
              <a:t>FROM fact_complaint f JOIN dim_time t ON f.time_key = t.time_key</a:t>
            </a:r>
          </a:p>
          <a:p>
            <a:r>
              <a:t>WHERE t.year = 2024 GROUP BY t.year, t.quarter, t.month, t.month_name ORDER BY t.quarter, t.month;</a:t>
            </a:r>
          </a:p>
          <a:p/>
          <a:p>
            <a:r>
              <a:t>-- 3. Slice: Category = 'Pothole / Road Damage'</a:t>
            </a:r>
          </a:p>
          <a:p>
            <a:r>
              <a:t>SELECT l.ward, l.ward_area, SUM(f.complaint_count) AS pothole_complaints</a:t>
            </a:r>
          </a:p>
          <a:p>
            <a:r>
              <a:t>FROM fact_complaint f JOIN dim_location l ON f.location_key = l.location_key</a:t>
            </a:r>
          </a:p>
          <a:p>
            <a:r>
              <a:t>JOIN dim_category c ON f.category_key = c.category_key</a:t>
            </a:r>
          </a:p>
          <a:p>
            <a:r>
              <a:t>WHERE c.category_name = 'Pothole / Road Damage' GROUP BY l.ward, l.ward_area ORDER BY pothole_complaints DESC;</a:t>
            </a:r>
          </a:p>
          <a:p/>
          <a:p>
            <a:r>
              <a:t>-- 4. Dice: 3 Categories, 2 Zones, Year 2024</a:t>
            </a:r>
          </a:p>
          <a:p>
            <a:r>
              <a:t>SELECT l.zone, c.category_name, SUM(f.complaint_count) AS total_complaints</a:t>
            </a:r>
          </a:p>
          <a:p>
            <a:r>
              <a:t>FROM fact_complaint f JOIN dim_location l ON f.location_key = l.location_key</a:t>
            </a:r>
          </a:p>
          <a:p>
            <a:r>
              <a:t>JOIN dim_category c ON f.category_key = c.category_key JOIN dim_time t ON f.time_key = t.time_key</a:t>
            </a:r>
          </a:p>
          <a:p>
            <a:r>
              <a:t>WHERE c.category_name IN ('Pothole / Road Damage', 'Water Supply Disruption')</a:t>
            </a:r>
          </a:p>
          <a:p>
            <a:r>
              <a:t>  AND l.zone IN ('Western', 'Eastern') AND t.year = 2024</a:t>
            </a:r>
          </a:p>
          <a:p>
            <a:r>
              <a:t>GROUP BY l.zone, c.category_name;</a:t>
            </a:r>
          </a:p>
          <a:p/>
          <a:p>
            <a:r>
              <a:t>-- 5. Pivot: Ward x Category Matrix</a:t>
            </a:r>
          </a:p>
          <a:p>
            <a:r>
              <a:t>SELECT l.ward, l.ward_area,</a:t>
            </a:r>
          </a:p>
          <a:p>
            <a:r>
              <a:t>  SUM(CASE WHEN c.category_name = 'Pothole / Road Damage' THEN f.complaint_count ELSE 0 END) AS pothole_roads,</a:t>
            </a:r>
          </a:p>
          <a:p>
            <a:r>
              <a:t>  SUM(CASE WHEN c.category_name = 'Water Supply Disruption' THEN f.complaint_count ELSE 0 END) AS water_supply,</a:t>
            </a:r>
          </a:p>
          <a:p>
            <a:r>
              <a:t>  SUM(f.complaint_count) AS total_ward_complaints</a:t>
            </a:r>
          </a:p>
          <a:p>
            <a:r>
              <a:t>FROM fact_complaint f JOIN dim_location l ON f.location_key = l.location_key</a:t>
            </a:r>
          </a:p>
          <a:p>
            <a:r>
              <a:t>JOIN dim_category c ON f.category_key = c.category_key GROUP BY l.ward, l.ward_area;</a:t>
            </a:r>
          </a:p>
        </p:txBody>
      </p:sp>
      <p:sp>
        <p:nvSpPr>
          <p:cNvPr id="5" name="OLAP code right box"/>
          <p:cNvSpPr/>
          <p:nvPr/>
        </p:nvSpPr>
        <p:spPr>
          <a:xfrm>
            <a:off x="6172200" y="1508760"/>
            <a:ext cx="5440680" cy="45720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6" name="OLAP code right"/>
          <p:cNvSpPr txBox="1"/>
          <p:nvPr/>
        </p:nvSpPr>
        <p:spPr>
          <a:xfrm>
            <a:off x="6355080" y="1645920"/>
            <a:ext cx="50749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Dice: two or more dimensions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l.region, p.category, SUM(f.sales_amount) AS total_sales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fact_sales 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dim_location l ON f.location_key = l.location_key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dim_product p ON f.product_key = p.product_key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l.region IN ('South', 'West')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p.category IN ('Furniture', 'Technology')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l.region, p.category;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Pivot: regions as columns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p.category,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SUM(CASE WHEN l.region = 'South'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THEN f.sales_amount END) AS south,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SUM(CASE WHEN l.region = 'West'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THEN f.sales_amount END) AS west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fact_sales 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dim_location l ON f.location_key = l.location_key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dim_product p ON f.product_key = p.product_key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p.category;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WDM Lab BW">
  <a:themeElements>
    <a:clrScheme name="DWDM Lab BW">
      <a:dk1>
        <a:srgbClr val="000000"/>
      </a:dk1>
      <a:lt1>
        <a:srgbClr val="FFFFFF"/>
      </a:lt1>
      <a:dk2>
        <a:srgbClr val="111111"/>
      </a:dk2>
      <a:lt2>
        <a:srgbClr val="F2F2F2"/>
      </a:lt2>
      <a:accent1>
        <a:srgbClr val="1A1A1A"/>
      </a:accent1>
      <a:accent2>
        <a:srgbClr val="4D4D4D"/>
      </a:accent2>
      <a:accent3>
        <a:srgbClr val="333333"/>
      </a:accent3>
      <a:accent4>
        <a:srgbClr val="666666"/>
      </a:accent4>
      <a:accent5>
        <a:srgbClr val="737373"/>
      </a:accent5>
      <a:accent6>
        <a:srgbClr val="595959"/>
      </a:accent6>
      <a:hlink>
        <a:srgbClr val="000000"/>
      </a:hlink>
      <a:folHlink>
        <a:srgbClr val="595959"/>
      </a:folHlink>
    </a:clrScheme>
    <a:fontScheme name="DWDM Lab BW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1413</Words>
  <Application>Microsoft Office PowerPoint</Application>
  <PresentationFormat>Widescreen</PresentationFormat>
  <Paragraphs>218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DWDM Lab BW</vt:lpstr>
      <vt:lpstr>[Lab Project Title]</vt:lpstr>
      <vt:lpstr>Dataset Description</vt:lpstr>
      <vt:lpstr>Attribute Summary</vt:lpstr>
      <vt:lpstr>Data Warehouse to be Built — Star Schema</vt:lpstr>
      <vt:lpstr>Warehouse Design &amp; ETL</vt:lpstr>
      <vt:lpstr>Sample OLAP Operations</vt:lpstr>
      <vt:lpstr>Code: Creating the Warehouse (SQL)</vt:lpstr>
      <vt:lpstr>Code: ETL with Python (pandas)</vt:lpstr>
      <vt:lpstr>Code: Sample OLAP Queries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DWDM Lab Project Template</dc:title>
  <dc:subject>PptxGenJS Presentation</dc:subject>
  <dc:creator>PptxGenJS</dc:creator>
  <cp:lastModifiedBy>adrija bhattacharya</cp:lastModifiedBy>
  <cp:revision>2</cp:revision>
  <dcterms:created xsi:type="dcterms:W3CDTF">2026-10-05T17:32:32Z</dcterms:created>
  <dcterms:modified xsi:type="dcterms:W3CDTF">2026-10-05T17:33:34Z</dcterms:modified>
</cp:coreProperties>
</file>