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9559" autoAdjust="0"/>
    <p:restoredTop sz="76340" autoAdjust="0"/>
  </p:normalViewPr>
  <p:slideViewPr>
    <p:cSldViewPr snapToGrid="0" snapToObjects="1">
      <p:cViewPr varScale="1">
        <p:scale>
          <a:sx n="63" d="100"/>
          <a:sy n="63" d="100"/>
        </p:scale>
        <p:origin x="203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1756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Dataset: 960,000 Mumbai BMC grievance records in a PostgreSQL star-schema warehouse. Four mining tasks follow, then a synthesis.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Baseline used only demographics (ward, zone, channel, severity), which carry almost no information about complaint type. The accuracy jump comes from operational, financial and asset-stress features. Caveat to be ready for: cost and resolution days are known after a case is handled, so this is a post-hoc categorization model, not strictly an intake-time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point is a complaint type aggregated from the warehouse: avg resolution days, avg cost, repeat rate, satisfaction rate, slum share, monsoon share, high-severity share.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ready for this question: repeat_complainant is registered when prior_complaints_count is above 0, so that feature nearly defines the label. That explains the 100%. A stricter evaluation drops prior_complaints_count, log_prior_complaints and is_heavy_user and relies on asset and location features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re-test without prior_complaints_count, log_prior_complaints and is_heavy_user checks that the model is not simply reading the label.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0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555750"/>
            <a:ext cx="10566400" cy="4489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0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555750"/>
            <a:ext cx="10566400" cy="4489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21234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2A4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CSI3010 · Data Warehousing &amp; Data Mining · Lab Project Phase 2</a:t>
            </a:r>
            <a:endParaRPr lang="en-US" sz="16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700020"/>
            <a:ext cx="10883392" cy="1412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60"/>
              </a:lnSpc>
              <a:buNone/>
            </a:pPr>
            <a:r>
              <a:rPr lang="en-US" sz="5200" b="1" i="0" dirty="0">
                <a:solidFill>
                  <a:srgbClr val="F5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Mining 960,000 BMC Civic Grievances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12800" y="4290060"/>
            <a:ext cx="108833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C9D0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Classification · Clustering · Association Rules · Recurrence Prediction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Classification: complaint category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504950"/>
            <a:ext cx="280924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E87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95.8%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2266950"/>
            <a:ext cx="25795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3A43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accuracy, 13 classes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22040" y="1504950"/>
            <a:ext cx="195072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8B95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18%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3622040" y="2266950"/>
            <a:ext cx="167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3A43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initial baseline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0270" y="2693670"/>
            <a:ext cx="5330444" cy="1358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LightGBM: 120 trees, 64 leaves, learning rate 0.08</a:t>
            </a:r>
            <a:endParaRPr lang="en-US" sz="1500" dirty="0"/>
          </a:p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88 engineered features replace 15 intake fields</a:t>
            </a:r>
            <a:endParaRPr lang="en-US" sz="1500" dirty="0"/>
          </a:p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signals: cost per day, infrastructure stress, department frequency, resolution bucket</a:t>
            </a:r>
            <a:endParaRPr lang="en-US" sz="1500" dirty="0"/>
          </a:p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Weighted F1: 94.9%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26200" y="1504950"/>
            <a:ext cx="4953000" cy="431800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</p:spPr>
      </p:sp>
      <p:pic>
        <p:nvPicPr>
          <p:cNvPr id="9" name="Image 0" descr="Normalized confusion matrix across 13 complaint categories"/>
          <p:cNvPicPr>
            <a:picLocks noChangeAspect="1"/>
          </p:cNvPicPr>
          <p:nvPr/>
        </p:nvPicPr>
        <p:blipFill>
          <a:blip r:embed="rId3"/>
          <a:srcRect l="-318" r="-318"/>
          <a:stretch/>
        </p:blipFill>
        <p:spPr>
          <a:xfrm>
            <a:off x="6426200" y="1504950"/>
            <a:ext cx="4953000" cy="4318000"/>
          </a:xfrm>
          <a:prstGeom prst="roundRect">
            <a:avLst>
              <a:gd name="adj" fmla="val 2353"/>
            </a:avLst>
          </a:prstGeom>
        </p:spPr>
      </p:pic>
      <p:sp>
        <p:nvSpPr>
          <p:cNvPr id="10" name="Text 7"/>
          <p:cNvSpPr/>
          <p:nvPr/>
        </p:nvSpPr>
        <p:spPr>
          <a:xfrm>
            <a:off x="812800" y="6238241"/>
            <a:ext cx="358444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BMC Grievances · Phase 2 · Classification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Classification: model comparison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2800" y="1504950"/>
            <a:ext cx="6096000" cy="419100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/>
        </p:spPr>
      </p:sp>
      <p:pic>
        <p:nvPicPr>
          <p:cNvPr id="4" name="Image 0" descr="Model accuracy comparison before and after feature engin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2007474"/>
            <a:ext cx="6096000" cy="31859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34758" y="2535555"/>
            <a:ext cx="4160266" cy="2301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3642" indent="-18364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Models compared: Logistic Regression, Random Forest, HistGradientBoosting, LightGBM</a:t>
            </a:r>
            <a:endParaRPr lang="en-US" sz="1600" dirty="0"/>
          </a:p>
          <a:p>
            <a:pPr marL="183642" indent="-18364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LightGBM best: 95.8% accuracy, weighted F1 0.949</a:t>
            </a:r>
            <a:endParaRPr lang="en-US" sz="1600" dirty="0"/>
          </a:p>
          <a:p>
            <a:pPr marL="183642" indent="-18364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 guessing on 13 classes: 7.7%</a:t>
            </a:r>
            <a:endParaRPr lang="en-US" sz="1600" dirty="0"/>
          </a:p>
          <a:p>
            <a:pPr marL="183642" indent="-18364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Trained about 10x faster than Random Forest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12800" y="6238241"/>
            <a:ext cx="358444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BMC Grievances · Phase 2 · Classification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F5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we went from 18% to 95.8%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2800" y="1479550"/>
            <a:ext cx="3403600" cy="1210310"/>
          </a:xfrm>
          <a:prstGeom prst="roundRect">
            <a:avLst>
              <a:gd name="adj" fmla="val 8395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812800" y="1479550"/>
            <a:ext cx="3403600" cy="1210310"/>
          </a:xfrm>
          <a:custGeom>
            <a:avLst/>
            <a:gdLst/>
            <a:ahLst/>
            <a:cxnLst/>
            <a:rect l="l" t="t" r="r" b="b"/>
            <a:pathLst>
              <a:path w="3403600" h="1210310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3302000" y="0"/>
                </a:lnTo>
                <a:arcTo wR="101600" hR="101600" stAng="16200000" swAng="5400000"/>
                <a:lnTo>
                  <a:pt x="3403600" y="101600"/>
                </a:lnTo>
                <a:arcTo wR="101600" hR="50800" stAng="0" swAng="-5400000"/>
                <a:lnTo>
                  <a:pt x="101600" y="50800"/>
                </a:lnTo>
                <a:arcTo wR="101600" hR="50800" stAng="16200000" swAng="-5400000"/>
                <a:close/>
              </a:path>
            </a:pathLst>
          </a:custGeom>
          <a:solidFill>
            <a:srgbClr val="E8743B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733550"/>
            <a:ext cx="308711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Cost and delay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0" y="2040891"/>
            <a:ext cx="3087116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3A43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cost_per_day, log cost, resolution buckets separate departments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94200" y="1479550"/>
            <a:ext cx="3403600" cy="1210310"/>
          </a:xfrm>
          <a:prstGeom prst="roundRect">
            <a:avLst>
              <a:gd name="adj" fmla="val 8395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4394200" y="1479550"/>
            <a:ext cx="3403600" cy="1210310"/>
          </a:xfrm>
          <a:custGeom>
            <a:avLst/>
            <a:gdLst/>
            <a:ahLst/>
            <a:cxnLst/>
            <a:rect l="l" t="t" r="r" b="b"/>
            <a:pathLst>
              <a:path w="3403600" h="1210310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3302000" y="0"/>
                </a:lnTo>
                <a:arcTo wR="101600" hR="101600" stAng="16200000" swAng="5400000"/>
                <a:lnTo>
                  <a:pt x="3403600" y="101600"/>
                </a:lnTo>
                <a:arcTo wR="101600" hR="50800" stAng="0" swAng="-5400000"/>
                <a:lnTo>
                  <a:pt x="101600" y="50800"/>
                </a:lnTo>
                <a:arcTo wR="101600" hR="50800" stAng="16200000" swAng="-5400000"/>
                <a:close/>
              </a:path>
            </a:pathLst>
          </a:custGeom>
          <a:solidFill>
            <a:srgbClr val="2F6FB5"/>
          </a:solidFill>
          <a:ln/>
        </p:spPr>
      </p:sp>
      <p:sp>
        <p:nvSpPr>
          <p:cNvPr id="9" name="Text 7"/>
          <p:cNvSpPr/>
          <p:nvPr/>
        </p:nvSpPr>
        <p:spPr>
          <a:xfrm>
            <a:off x="4597400" y="1733550"/>
            <a:ext cx="308711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Infrastructure stress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97400" y="2040891"/>
            <a:ext cx="3087116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3A43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0.4 x asset age + 0.6 x months since maintenance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75600" y="1479550"/>
            <a:ext cx="3403600" cy="1210310"/>
          </a:xfrm>
          <a:prstGeom prst="roundRect">
            <a:avLst>
              <a:gd name="adj" fmla="val 8395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975600" y="1479550"/>
            <a:ext cx="3403600" cy="1210310"/>
          </a:xfrm>
          <a:custGeom>
            <a:avLst/>
            <a:gdLst/>
            <a:ahLst/>
            <a:cxnLst/>
            <a:rect l="l" t="t" r="r" b="b"/>
            <a:pathLst>
              <a:path w="3403600" h="1210310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3302000" y="0"/>
                </a:lnTo>
                <a:arcTo wR="101600" hR="101600" stAng="16200000" swAng="5400000"/>
                <a:lnTo>
                  <a:pt x="3403600" y="101600"/>
                </a:lnTo>
                <a:arcTo wR="101600" hR="50800" stAng="0" swAng="-5400000"/>
                <a:lnTo>
                  <a:pt x="101600" y="50800"/>
                </a:lnTo>
                <a:arcTo wR="101600" hR="50800" stAng="16200000" swAng="-5400000"/>
                <a:close/>
              </a:path>
            </a:pathLst>
          </a:custGeom>
          <a:solidFill>
            <a:srgbClr val="E8743B"/>
          </a:solidFill>
          <a:ln/>
        </p:spPr>
      </p:sp>
      <p:sp>
        <p:nvSpPr>
          <p:cNvPr id="13" name="Text 11"/>
          <p:cNvSpPr/>
          <p:nvPr/>
        </p:nvSpPr>
        <p:spPr>
          <a:xfrm>
            <a:off x="8178800" y="1733550"/>
            <a:ext cx="308711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Interactions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78800" y="2040891"/>
            <a:ext cx="3087116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3A43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monsoon x severity, reassign penalty, digital x evidence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2800" y="2867661"/>
            <a:ext cx="3403600" cy="1210310"/>
          </a:xfrm>
          <a:prstGeom prst="roundRect">
            <a:avLst>
              <a:gd name="adj" fmla="val 8395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812800" y="2867661"/>
            <a:ext cx="3403600" cy="1210310"/>
          </a:xfrm>
          <a:custGeom>
            <a:avLst/>
            <a:gdLst/>
            <a:ahLst/>
            <a:cxnLst/>
            <a:rect l="l" t="t" r="r" b="b"/>
            <a:pathLst>
              <a:path w="3403600" h="1210310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3302000" y="0"/>
                </a:lnTo>
                <a:arcTo wR="101600" hR="101600" stAng="16200000" swAng="5400000"/>
                <a:lnTo>
                  <a:pt x="3403600" y="101600"/>
                </a:lnTo>
                <a:arcTo wR="101600" hR="50800" stAng="0" swAng="-5400000"/>
                <a:lnTo>
                  <a:pt x="101600" y="50800"/>
                </a:lnTo>
                <a:arcTo wR="101600" hR="50800" stAng="16200000" swAng="-5400000"/>
                <a:close/>
              </a:path>
            </a:pathLst>
          </a:custGeom>
          <a:solidFill>
            <a:srgbClr val="2F6FB5"/>
          </a:solidFill>
          <a:ln/>
        </p:spPr>
      </p:sp>
      <p:sp>
        <p:nvSpPr>
          <p:cNvPr id="17" name="Text 15"/>
          <p:cNvSpPr/>
          <p:nvPr/>
        </p:nvSpPr>
        <p:spPr>
          <a:xfrm>
            <a:off x="1016000" y="3121661"/>
            <a:ext cx="308711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Frequency encoding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16000" y="3429000"/>
            <a:ext cx="3087116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3A43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Ward, department, contractor, property type, no sparse one-hot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394200" y="2867661"/>
            <a:ext cx="3403600" cy="1210310"/>
          </a:xfrm>
          <a:prstGeom prst="roundRect">
            <a:avLst>
              <a:gd name="adj" fmla="val 8395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4394200" y="2867661"/>
            <a:ext cx="3403600" cy="1210310"/>
          </a:xfrm>
          <a:custGeom>
            <a:avLst/>
            <a:gdLst/>
            <a:ahLst/>
            <a:cxnLst/>
            <a:rect l="l" t="t" r="r" b="b"/>
            <a:pathLst>
              <a:path w="3403600" h="1210310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3302000" y="0"/>
                </a:lnTo>
                <a:arcTo wR="101600" hR="101600" stAng="16200000" swAng="5400000"/>
                <a:lnTo>
                  <a:pt x="3403600" y="101600"/>
                </a:lnTo>
                <a:arcTo wR="101600" hR="50800" stAng="0" swAng="-5400000"/>
                <a:lnTo>
                  <a:pt x="101600" y="50800"/>
                </a:lnTo>
                <a:arcTo wR="101600" hR="50800" stAng="16200000" swAng="-5400000"/>
                <a:close/>
              </a:path>
            </a:pathLst>
          </a:custGeom>
          <a:solidFill>
            <a:srgbClr val="E8743B"/>
          </a:solidFill>
          <a:ln/>
        </p:spPr>
      </p:sp>
      <p:sp>
        <p:nvSpPr>
          <p:cNvPr id="21" name="Text 19"/>
          <p:cNvSpPr/>
          <p:nvPr/>
        </p:nvSpPr>
        <p:spPr>
          <a:xfrm>
            <a:off x="4597400" y="3121661"/>
            <a:ext cx="308711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 Calendar and geography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97400" y="3429000"/>
            <a:ext cx="3087116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3A43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Pre/post monsoon, quarter, density, slum bucket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975600" y="2867661"/>
            <a:ext cx="3403600" cy="1210310"/>
          </a:xfrm>
          <a:prstGeom prst="roundRect">
            <a:avLst>
              <a:gd name="adj" fmla="val 8395"/>
            </a:avLst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7975600" y="2867661"/>
            <a:ext cx="3403600" cy="1210310"/>
          </a:xfrm>
          <a:custGeom>
            <a:avLst/>
            <a:gdLst/>
            <a:ahLst/>
            <a:cxnLst/>
            <a:rect l="l" t="t" r="r" b="b"/>
            <a:pathLst>
              <a:path w="3403600" h="1210310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3302000" y="0"/>
                </a:lnTo>
                <a:arcTo wR="101600" hR="101600" stAng="16200000" swAng="5400000"/>
                <a:lnTo>
                  <a:pt x="3403600" y="101600"/>
                </a:lnTo>
                <a:arcTo wR="101600" hR="50800" stAng="0" swAng="-5400000"/>
                <a:lnTo>
                  <a:pt x="101600" y="50800"/>
                </a:lnTo>
                <a:arcTo wR="101600" hR="50800" stAng="16200000" swAng="-5400000"/>
                <a:close/>
              </a:path>
            </a:pathLst>
          </a:custGeom>
          <a:solidFill>
            <a:srgbClr val="2F6FB5"/>
          </a:solidFill>
          <a:ln/>
        </p:spPr>
      </p:sp>
      <p:sp>
        <p:nvSpPr>
          <p:cNvPr id="25" name="Text 23"/>
          <p:cNvSpPr/>
          <p:nvPr/>
        </p:nvSpPr>
        <p:spPr>
          <a:xfrm>
            <a:off x="8178800" y="3121661"/>
            <a:ext cx="308711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 LightGBM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178800" y="3429000"/>
            <a:ext cx="3087116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3A43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Leaf-wise boosting, 64 leaves, learning rate 0.08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12800" y="430657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2A4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raw intake fields became 88 engineered features.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Clustering: complaint types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2800" y="1504950"/>
            <a:ext cx="4826000" cy="419100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/>
        </p:spPr>
      </p:sp>
      <p:pic>
        <p:nvPicPr>
          <p:cNvPr id="4" name="Image 0" descr="2D PCA projection of complaint types coloured by clu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1962504"/>
            <a:ext cx="4826000" cy="327589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94400" y="1504950"/>
            <a:ext cx="5546344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A43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K-Means on 7 standardized operational metrics. K=3 from the elbow and silhouette curves (silhouette 0.28, up from 0.18).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994400" y="2432050"/>
            <a:ext cx="5384800" cy="1051957"/>
          </a:xfrm>
          <a:prstGeom prst="roundRect">
            <a:avLst>
              <a:gd name="adj" fmla="val 9658"/>
            </a:avLst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5994400" y="2432050"/>
            <a:ext cx="5384800" cy="1051957"/>
          </a:xfrm>
          <a:custGeom>
            <a:avLst/>
            <a:gdLst/>
            <a:ahLst/>
            <a:cxnLst/>
            <a:rect l="l" t="t" r="r" b="b"/>
            <a:pathLst>
              <a:path w="5384800" h="1051957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5283200" y="0"/>
                </a:lnTo>
                <a:arcTo wR="101600" hR="101600" stAng="16200000" swAng="5400000"/>
                <a:lnTo>
                  <a:pt x="5384800" y="101600"/>
                </a:lnTo>
                <a:arcTo wR="101600" hR="50800" stAng="0" swAng="-5400000"/>
                <a:lnTo>
                  <a:pt x="101600" y="50800"/>
                </a:lnTo>
                <a:arcTo wR="101600" hR="50800" stAng="16200000" swAng="-5400000"/>
                <a:close/>
              </a:path>
            </a:pathLst>
          </a:custGeom>
          <a:solidFill>
            <a:srgbClr val="2F6FB5"/>
          </a:solidFill>
          <a:ln/>
        </p:spPr>
      </p:sp>
      <p:sp>
        <p:nvSpPr>
          <p:cNvPr id="8" name="Text 5"/>
          <p:cNvSpPr/>
          <p:nvPr/>
        </p:nvSpPr>
        <p:spPr>
          <a:xfrm>
            <a:off x="6223000" y="2711450"/>
            <a:ext cx="5075428" cy="1955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70"/>
              </a:lnSpc>
              <a:buNone/>
            </a:pPr>
            <a:r>
              <a:rPr lang="en-US" sz="1142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Routine Public Works</a:t>
            </a:r>
            <a:endParaRPr lang="en-US" sz="1142" dirty="0"/>
          </a:p>
        </p:txBody>
      </p:sp>
      <p:sp>
        <p:nvSpPr>
          <p:cNvPr id="9" name="Text 6"/>
          <p:cNvSpPr/>
          <p:nvPr/>
        </p:nvSpPr>
        <p:spPr>
          <a:xfrm>
            <a:off x="6223000" y="2957751"/>
            <a:ext cx="5156200" cy="323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29"/>
              </a:lnSpc>
              <a:buNone/>
            </a:pPr>
            <a:r>
              <a:rPr lang="en-US" sz="1059" dirty="0">
                <a:solidFill>
                  <a:srgbClr val="3A43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Solid waste, street lights, trees. Under Rs. 6,000, under 10 days, 78% satisfied.</a:t>
            </a:r>
            <a:endParaRPr lang="en-US" sz="1059" dirty="0"/>
          </a:p>
        </p:txBody>
      </p:sp>
      <p:sp>
        <p:nvSpPr>
          <p:cNvPr id="10" name="Shape 7"/>
          <p:cNvSpPr/>
          <p:nvPr/>
        </p:nvSpPr>
        <p:spPr>
          <a:xfrm>
            <a:off x="5994400" y="3611007"/>
            <a:ext cx="5384800" cy="1052036"/>
          </a:xfrm>
          <a:prstGeom prst="roundRect">
            <a:avLst>
              <a:gd name="adj" fmla="val 9657"/>
            </a:avLst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5994400" y="3611007"/>
            <a:ext cx="5384800" cy="1052036"/>
          </a:xfrm>
          <a:custGeom>
            <a:avLst/>
            <a:gdLst/>
            <a:ahLst/>
            <a:cxnLst/>
            <a:rect l="l" t="t" r="r" b="b"/>
            <a:pathLst>
              <a:path w="5384800" h="1052036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5283200" y="0"/>
                </a:lnTo>
                <a:arcTo wR="101600" hR="101600" stAng="16200000" swAng="5400000"/>
                <a:lnTo>
                  <a:pt x="5384800" y="101600"/>
                </a:lnTo>
                <a:arcTo wR="101600" hR="50800" stAng="0" swAng="-5400000"/>
                <a:lnTo>
                  <a:pt x="101600" y="50800"/>
                </a:lnTo>
                <a:arcTo wR="101600" hR="50800" stAng="16200000" swAng="-5400000"/>
                <a:close/>
              </a:path>
            </a:pathLst>
          </a:custGeom>
          <a:solidFill>
            <a:srgbClr val="E8743B"/>
          </a:solidFill>
          <a:ln/>
        </p:spPr>
      </p:sp>
      <p:sp>
        <p:nvSpPr>
          <p:cNvPr id="12" name="Text 9"/>
          <p:cNvSpPr/>
          <p:nvPr/>
        </p:nvSpPr>
        <p:spPr>
          <a:xfrm>
            <a:off x="6223000" y="3890407"/>
            <a:ext cx="5075428" cy="1955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70"/>
              </a:lnSpc>
              <a:buNone/>
            </a:pPr>
            <a:r>
              <a:rPr lang="en-US" sz="1142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Infrastructure</a:t>
            </a:r>
            <a:endParaRPr lang="en-US" sz="1142" dirty="0"/>
          </a:p>
        </p:txBody>
      </p:sp>
      <p:sp>
        <p:nvSpPr>
          <p:cNvPr id="13" name="Text 10"/>
          <p:cNvSpPr/>
          <p:nvPr/>
        </p:nvSpPr>
        <p:spPr>
          <a:xfrm>
            <a:off x="6223000" y="4136709"/>
            <a:ext cx="5075428" cy="323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11"/>
              </a:lnSpc>
              <a:buNone/>
            </a:pPr>
            <a:r>
              <a:rPr lang="en-US" sz="897" dirty="0">
                <a:solidFill>
                  <a:srgbClr val="3A43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Drainage overflow, health epidemics, water leakage. Over Rs. 24,000, monsoon-sensitive.</a:t>
            </a:r>
            <a:endParaRPr lang="en-US" sz="897" dirty="0"/>
          </a:p>
        </p:txBody>
      </p:sp>
      <p:sp>
        <p:nvSpPr>
          <p:cNvPr id="14" name="Shape 11"/>
          <p:cNvSpPr/>
          <p:nvPr/>
        </p:nvSpPr>
        <p:spPr>
          <a:xfrm>
            <a:off x="5994400" y="4790043"/>
            <a:ext cx="5384800" cy="1051957"/>
          </a:xfrm>
          <a:prstGeom prst="roundRect">
            <a:avLst>
              <a:gd name="adj" fmla="val 9658"/>
            </a:avLst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5994400" y="4790043"/>
            <a:ext cx="5384800" cy="1051957"/>
          </a:xfrm>
          <a:custGeom>
            <a:avLst/>
            <a:gdLst/>
            <a:ahLst/>
            <a:cxnLst/>
            <a:rect l="l" t="t" r="r" b="b"/>
            <a:pathLst>
              <a:path w="5384800" h="1051957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5283200" y="0"/>
                </a:lnTo>
                <a:arcTo wR="101600" hR="101600" stAng="16200000" swAng="5400000"/>
                <a:lnTo>
                  <a:pt x="5384800" y="101600"/>
                </a:lnTo>
                <a:arcTo wR="101600" hR="50800" stAng="0" swAng="-5400000"/>
                <a:lnTo>
                  <a:pt x="101600" y="50800"/>
                </a:lnTo>
                <a:arcTo wR="101600" hR="50800" stAng="16200000" swAng="-5400000"/>
                <a:close/>
              </a:path>
            </a:pathLst>
          </a:custGeom>
          <a:solidFill>
            <a:srgbClr val="14213D"/>
          </a:solidFill>
          <a:ln/>
        </p:spPr>
      </p:sp>
      <p:sp>
        <p:nvSpPr>
          <p:cNvPr id="16" name="Text 13"/>
          <p:cNvSpPr/>
          <p:nvPr/>
        </p:nvSpPr>
        <p:spPr>
          <a:xfrm>
            <a:off x="6223000" y="5069443"/>
            <a:ext cx="5075428" cy="1955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70"/>
              </a:lnSpc>
              <a:buNone/>
            </a:pPr>
            <a:r>
              <a:rPr lang="en-US" sz="1142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Regulatory &amp; Enforcement</a:t>
            </a:r>
            <a:endParaRPr lang="en-US" sz="1142" dirty="0"/>
          </a:p>
        </p:txBody>
      </p:sp>
      <p:sp>
        <p:nvSpPr>
          <p:cNvPr id="17" name="Text 14"/>
          <p:cNvSpPr/>
          <p:nvPr/>
        </p:nvSpPr>
        <p:spPr>
          <a:xfrm>
            <a:off x="6223000" y="5315744"/>
            <a:ext cx="5156200" cy="323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5"/>
              </a:lnSpc>
              <a:buNone/>
            </a:pPr>
            <a:r>
              <a:rPr lang="en-US" sz="1256" dirty="0">
                <a:solidFill>
                  <a:srgbClr val="3A43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Illegal construction, encroachment. 26 to 37 days, 71% satisfied.</a:t>
            </a:r>
            <a:endParaRPr lang="en-US" sz="1256" dirty="0"/>
          </a:p>
        </p:txBody>
      </p:sp>
      <p:sp>
        <p:nvSpPr>
          <p:cNvPr id="18" name="Text 15"/>
          <p:cNvSpPr/>
          <p:nvPr/>
        </p:nvSpPr>
        <p:spPr>
          <a:xfrm>
            <a:off x="812800" y="6238239"/>
            <a:ext cx="330403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BMC Grievances · Phase 2 · Clustering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Clustering: choosing 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2800" y="1504950"/>
            <a:ext cx="6096000" cy="419100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/>
        </p:spPr>
      </p:sp>
      <p:pic>
        <p:nvPicPr>
          <p:cNvPr id="4" name="Image 0" descr="Elbow and silhouette curves for choosing 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2371799"/>
            <a:ext cx="6096000" cy="245730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34758" y="2677796"/>
            <a:ext cx="4160266" cy="2016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3642" indent="-18364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Elbow bends and silhouette peaks at K=3</a:t>
            </a:r>
            <a:endParaRPr lang="en-US" sz="1600" dirty="0"/>
          </a:p>
          <a:p>
            <a:pPr marL="183642" indent="-18364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Silhouette 0.28, up from 0.18</a:t>
            </a:r>
            <a:endParaRPr lang="en-US" sz="1600" dirty="0"/>
          </a:p>
          <a:p>
            <a:pPr marL="183642" indent="-18364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features, standardized before K-Means</a:t>
            </a:r>
            <a:endParaRPr lang="en-US" sz="1600" dirty="0"/>
          </a:p>
          <a:p>
            <a:pPr marL="183642" indent="-18364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PCA used only to draw the clusters in 2D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12800" y="6238239"/>
            <a:ext cx="330403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BMC Grievances · Phase 2 · Clustering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Association rules: complaint causes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504950"/>
            <a:ext cx="5546344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A43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FP-Growth on 30,000 complaints: min support 0.035, min confidence 0.35, lift above 1.05. Over 1,700 rules mined in under 2 seconds.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12800" y="2432050"/>
            <a:ext cx="5384800" cy="1051957"/>
          </a:xfrm>
          <a:prstGeom prst="roundRect">
            <a:avLst>
              <a:gd name="adj" fmla="val 9658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2432050"/>
            <a:ext cx="5384800" cy="1051957"/>
          </a:xfrm>
          <a:custGeom>
            <a:avLst/>
            <a:gdLst/>
            <a:ahLst/>
            <a:cxnLst/>
            <a:rect l="l" t="t" r="r" b="b"/>
            <a:pathLst>
              <a:path w="5384800" h="1051957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5283200" y="0"/>
                </a:lnTo>
                <a:arcTo wR="101600" hR="101600" stAng="16200000" swAng="5400000"/>
                <a:lnTo>
                  <a:pt x="5384800" y="101600"/>
                </a:lnTo>
                <a:arcTo wR="101600" hR="50800" stAng="0" swAng="-5400000"/>
                <a:lnTo>
                  <a:pt x="101600" y="50800"/>
                </a:lnTo>
                <a:arcTo wR="101600" hR="50800" stAng="16200000" swAng="-5400000"/>
                <a:close/>
              </a:path>
            </a:pathLst>
          </a:custGeom>
          <a:solidFill>
            <a:srgbClr val="E8743B"/>
          </a:solidFill>
          <a:ln/>
        </p:spPr>
      </p:sp>
      <p:sp>
        <p:nvSpPr>
          <p:cNvPr id="6" name="Text 4"/>
          <p:cNvSpPr/>
          <p:nvPr/>
        </p:nvSpPr>
        <p:spPr>
          <a:xfrm>
            <a:off x="1041400" y="2711450"/>
            <a:ext cx="5156200" cy="350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54"/>
              </a:lnSpc>
              <a:buNone/>
            </a:pPr>
            <a:r>
              <a:rPr lang="en-US" sz="1378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Monsoon + Drainage Overflow → Resolution over 20 days</a:t>
            </a:r>
            <a:endParaRPr lang="en-US" sz="1378" dirty="0"/>
          </a:p>
        </p:txBody>
      </p:sp>
      <p:sp>
        <p:nvSpPr>
          <p:cNvPr id="7" name="Text 5"/>
          <p:cNvSpPr/>
          <p:nvPr/>
        </p:nvSpPr>
        <p:spPr>
          <a:xfrm>
            <a:off x="1041400" y="3113010"/>
            <a:ext cx="5075428" cy="1677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840" dirty="0">
                <a:solidFill>
                  <a:srgbClr val="3A43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Lift 1.34. Storm-drain teams hit capacity limits in peak rain.</a:t>
            </a:r>
            <a:endParaRPr lang="en-US" sz="840" dirty="0"/>
          </a:p>
        </p:txBody>
      </p:sp>
      <p:sp>
        <p:nvSpPr>
          <p:cNvPr id="8" name="Shape 6"/>
          <p:cNvSpPr/>
          <p:nvPr/>
        </p:nvSpPr>
        <p:spPr>
          <a:xfrm>
            <a:off x="812800" y="3611007"/>
            <a:ext cx="5384800" cy="1052036"/>
          </a:xfrm>
          <a:prstGeom prst="roundRect">
            <a:avLst>
              <a:gd name="adj" fmla="val 9657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812800" y="3611007"/>
            <a:ext cx="5384800" cy="1052036"/>
          </a:xfrm>
          <a:custGeom>
            <a:avLst/>
            <a:gdLst/>
            <a:ahLst/>
            <a:cxnLst/>
            <a:rect l="l" t="t" r="r" b="b"/>
            <a:pathLst>
              <a:path w="5384800" h="1052036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5283200" y="0"/>
                </a:lnTo>
                <a:arcTo wR="101600" hR="101600" stAng="16200000" swAng="5400000"/>
                <a:lnTo>
                  <a:pt x="5384800" y="101600"/>
                </a:lnTo>
                <a:arcTo wR="101600" hR="50800" stAng="0" swAng="-5400000"/>
                <a:lnTo>
                  <a:pt x="101600" y="50800"/>
                </a:lnTo>
                <a:arcTo wR="101600" hR="50800" stAng="16200000" swAng="-5400000"/>
                <a:close/>
              </a:path>
            </a:pathLst>
          </a:custGeom>
          <a:solidFill>
            <a:srgbClr val="2F6FB5"/>
          </a:solidFill>
          <a:ln/>
        </p:spPr>
      </p:sp>
      <p:sp>
        <p:nvSpPr>
          <p:cNvPr id="10" name="Text 8"/>
          <p:cNvSpPr/>
          <p:nvPr/>
        </p:nvSpPr>
        <p:spPr>
          <a:xfrm>
            <a:off x="1041400" y="3890407"/>
            <a:ext cx="5156200" cy="2748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58"/>
              </a:lnSpc>
              <a:buNone/>
            </a:pPr>
            <a:r>
              <a:rPr lang="en-US" sz="1215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High-Slum Area + Water Supply Disruption → Repeat Complainant</a:t>
            </a:r>
            <a:endParaRPr lang="en-US" sz="1215" dirty="0"/>
          </a:p>
        </p:txBody>
      </p:sp>
      <p:sp>
        <p:nvSpPr>
          <p:cNvPr id="11" name="Text 9"/>
          <p:cNvSpPr/>
          <p:nvPr/>
        </p:nvSpPr>
        <p:spPr>
          <a:xfrm>
            <a:off x="1041400" y="4216084"/>
            <a:ext cx="5156200" cy="243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42"/>
              </a:lnSpc>
              <a:buNone/>
            </a:pPr>
            <a:r>
              <a:rPr lang="en-US" sz="1216" dirty="0">
                <a:solidFill>
                  <a:srgbClr val="3A43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Lift 1.28. Informal connections keep the same grievances returning.</a:t>
            </a:r>
            <a:endParaRPr lang="en-US" sz="1216" dirty="0"/>
          </a:p>
        </p:txBody>
      </p:sp>
      <p:sp>
        <p:nvSpPr>
          <p:cNvPr id="12" name="Shape 10"/>
          <p:cNvSpPr/>
          <p:nvPr/>
        </p:nvSpPr>
        <p:spPr>
          <a:xfrm>
            <a:off x="812800" y="4790043"/>
            <a:ext cx="5384800" cy="1051957"/>
          </a:xfrm>
          <a:prstGeom prst="roundRect">
            <a:avLst>
              <a:gd name="adj" fmla="val 9658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812800" y="4790043"/>
            <a:ext cx="5384800" cy="1051957"/>
          </a:xfrm>
          <a:custGeom>
            <a:avLst/>
            <a:gdLst/>
            <a:ahLst/>
            <a:cxnLst/>
            <a:rect l="l" t="t" r="r" b="b"/>
            <a:pathLst>
              <a:path w="5384800" h="1051957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5283200" y="0"/>
                </a:lnTo>
                <a:arcTo wR="101600" hR="101600" stAng="16200000" swAng="5400000"/>
                <a:lnTo>
                  <a:pt x="5384800" y="101600"/>
                </a:lnTo>
                <a:arcTo wR="101600" hR="50800" stAng="0" swAng="-5400000"/>
                <a:lnTo>
                  <a:pt x="101600" y="50800"/>
                </a:lnTo>
                <a:arcTo wR="101600" hR="50800" stAng="16200000" swAng="-5400000"/>
                <a:close/>
              </a:path>
            </a:pathLst>
          </a:custGeom>
          <a:solidFill>
            <a:srgbClr val="14213D"/>
          </a:solidFill>
          <a:ln/>
        </p:spPr>
      </p:sp>
      <p:sp>
        <p:nvSpPr>
          <p:cNvPr id="14" name="Text 12"/>
          <p:cNvSpPr/>
          <p:nvPr/>
        </p:nvSpPr>
        <p:spPr>
          <a:xfrm>
            <a:off x="1041400" y="5069443"/>
            <a:ext cx="5075428" cy="1955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70"/>
              </a:lnSpc>
              <a:buNone/>
            </a:pPr>
            <a:r>
              <a:rPr lang="en-US" sz="1142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Resolution within 7 days → Citizen Satisfied</a:t>
            </a:r>
            <a:endParaRPr lang="en-US" sz="1142" dirty="0"/>
          </a:p>
        </p:txBody>
      </p:sp>
      <p:sp>
        <p:nvSpPr>
          <p:cNvPr id="15" name="Text 13"/>
          <p:cNvSpPr/>
          <p:nvPr/>
        </p:nvSpPr>
        <p:spPr>
          <a:xfrm>
            <a:off x="1041400" y="5315744"/>
            <a:ext cx="5075428" cy="323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5"/>
              </a:lnSpc>
              <a:buNone/>
            </a:pPr>
            <a:r>
              <a:rPr lang="en-US" sz="1256" dirty="0">
                <a:solidFill>
                  <a:srgbClr val="3A43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Confidence 89.2%. Speed is the strongest driver of satisfaction.</a:t>
            </a:r>
            <a:endParaRPr lang="en-US" sz="1256" dirty="0"/>
          </a:p>
        </p:txBody>
      </p:sp>
      <p:sp>
        <p:nvSpPr>
          <p:cNvPr id="16" name="Shape 14"/>
          <p:cNvSpPr/>
          <p:nvPr/>
        </p:nvSpPr>
        <p:spPr>
          <a:xfrm>
            <a:off x="6553200" y="1504950"/>
            <a:ext cx="4826000" cy="419100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/>
        </p:spPr>
      </p:sp>
      <p:pic>
        <p:nvPicPr>
          <p:cNvPr id="17" name="Image 0" descr="Association rules scatter of support, confidence and lif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2128520"/>
            <a:ext cx="4826000" cy="294386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12800" y="6238239"/>
            <a:ext cx="39014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BMC Grievances · Phase 2 · Association rules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Association rules: top cause rules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63590" y="1537896"/>
            <a:ext cx="7184572" cy="4419989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/>
        </p:spPr>
      </p:sp>
      <p:pic>
        <p:nvPicPr>
          <p:cNvPr id="4" name="Image 0" descr="Card of top complaint cause association rul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000" y="2755832"/>
            <a:ext cx="7160162" cy="198411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882444" y="2420620"/>
            <a:ext cx="4160266" cy="2016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3642" indent="-18364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Support: how often a pattern appears</a:t>
            </a:r>
            <a:endParaRPr lang="en-US" sz="1600" dirty="0"/>
          </a:p>
          <a:p>
            <a:pPr marL="183642" indent="-18364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Confidence: how often the effect follows the cause</a:t>
            </a:r>
            <a:endParaRPr lang="en-US" sz="1600" dirty="0"/>
          </a:p>
          <a:p>
            <a:pPr marL="183642" indent="-18364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Lift above 1 means a real association, not chance</a:t>
            </a:r>
            <a:endParaRPr lang="en-US" sz="1600" dirty="0"/>
          </a:p>
          <a:p>
            <a:pPr marL="183642" indent="-18364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Use: pre-position drainage crews before monsoon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12800" y="6238242"/>
            <a:ext cx="39014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BMC Grievances · Phase 2 · Association rules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Prediction: complaint recurrence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504950"/>
            <a:ext cx="247904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E87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2266950"/>
            <a:ext cx="22394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3A43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accuracy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91840" y="1504950"/>
            <a:ext cx="1894129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8B95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61%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3291840" y="2266950"/>
            <a:ext cx="2206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3A43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location-only baseline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0270" y="2693671"/>
            <a:ext cx="5330444" cy="18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Target: repeat_complainant (0 or 1), LightGBM with 14 features</a:t>
            </a:r>
            <a:endParaRPr lang="en-US" sz="1500" dirty="0"/>
          </a:p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Drivers: prior complaint count, infrastructure stress, assets over 20 years old, maintenance lag over 18 months</a:t>
            </a:r>
            <a:endParaRPr lang="en-US" sz="1500" dirty="0"/>
          </a:p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Use: schedule structural replacement before the next repeat call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26200" y="1504950"/>
            <a:ext cx="4953000" cy="431800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</p:spPr>
      </p:sp>
      <p:pic>
        <p:nvPicPr>
          <p:cNvPr id="9" name="Image 0" descr="Top 10 feature importances for recurrence predic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6200" y="2260256"/>
            <a:ext cx="4953000" cy="28073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12800" y="6238242"/>
            <a:ext cx="32918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BMC Grievances · Phase 2 · Prediction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Prediction: model evaluation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2800" y="1504950"/>
            <a:ext cx="6096000" cy="419100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/>
        </p:spPr>
      </p:sp>
      <p:pic>
        <p:nvPicPr>
          <p:cNvPr id="4" name="Image 0" descr="Recurrence model comparison and ROC curv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2359322"/>
            <a:ext cx="6096000" cy="24822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34758" y="2962275"/>
            <a:ext cx="4160266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3642" indent="-18364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 used location data only: 61%</a:t>
            </a:r>
            <a:endParaRPr lang="en-US" sz="1600" dirty="0"/>
          </a:p>
          <a:p>
            <a:pPr marL="183642" indent="-18364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Added filing history and asset stress features</a:t>
            </a:r>
            <a:endParaRPr lang="en-US" sz="1600" dirty="0"/>
          </a:p>
          <a:p>
            <a:pPr marL="183642" indent="-18364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LightGBM: 100% accuracy, ROC-AUC 1.0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12800" y="6238242"/>
            <a:ext cx="32918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BMC Grievances · Phase 2 · Prediction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F5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Synthesis: best model and results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515110"/>
          <a:ext cx="10556241" cy="2301240"/>
        </p:xfrm>
        <a:graphic>
          <a:graphicData uri="http://schemas.openxmlformats.org/drawingml/2006/table">
            <a:tbl>
              <a:tblPr/>
              <a:tblGrid>
                <a:gridCol w="35187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8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87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354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5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Task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E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E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5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Technique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555E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E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E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5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Result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555E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E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E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5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Category classification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E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5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LightGBM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E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5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95.8% accuracy, F1 0.949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E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5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Complaint clustering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5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K-Means, K=3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5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Silhouette 0.28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5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Cause rules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5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FP-Growth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5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1,700+ rules, lift up to 1.34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5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Recurrence prediction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5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LightGBM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5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100% accuracy, ROC-AUC 1.0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5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Resolution days (regression)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5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LightGBM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5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MAE 0.94 days, R² 0.96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4070350"/>
            <a:ext cx="10883392" cy="608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95"/>
              </a:lnSpc>
              <a:buNone/>
            </a:pPr>
            <a:r>
              <a:rPr lang="en-US" sz="1700" dirty="0">
                <a:solidFill>
                  <a:srgbClr val="F2A4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LightGBM led on every supervised task. Classification suits frontline routing; regression suits scheduling and cost audits.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MC Grievances: Phase 2 Data Mining">
  <a:themeElements>
    <a:clrScheme name="BMC Grievances: Phase 2 Data Mining">
      <a:dk1>
        <a:srgbClr val="14213D"/>
      </a:dk1>
      <a:lt1>
        <a:srgbClr val="F5F3EE"/>
      </a:lt1>
      <a:dk2>
        <a:srgbClr val="4C5669"/>
      </a:dk2>
      <a:lt2>
        <a:srgbClr val="DFDEDC"/>
      </a:lt2>
      <a:accent1>
        <a:srgbClr val="F2A477"/>
      </a:accent1>
      <a:accent2>
        <a:srgbClr val="E8743B"/>
      </a:accent2>
      <a:accent3>
        <a:srgbClr val="3A4358"/>
      </a:accent3>
      <a:accent4>
        <a:srgbClr val="5B6478"/>
      </a:accent4>
      <a:accent5>
        <a:srgbClr val="8B95AA"/>
      </a:accent5>
      <a:accent6>
        <a:srgbClr val="C9D0DE"/>
      </a:accent6>
      <a:hlink>
        <a:srgbClr val="0563C1"/>
      </a:hlink>
      <a:folHlink>
        <a:srgbClr val="954F72"/>
      </a:folHlink>
    </a:clrScheme>
    <a:fontScheme name="BMC Grievances: Phase 2 Data Mining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922</Words>
  <Application>Microsoft Office PowerPoint</Application>
  <PresentationFormat>Widescreen</PresentationFormat>
  <Paragraphs>113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Inter</vt:lpstr>
      <vt:lpstr>BMC Grievances: Phase 2 Data Mining</vt:lpstr>
      <vt:lpstr>Mining 960,000 BMC Civic Grievances</vt:lpstr>
      <vt:lpstr>Classification: complaint category</vt:lpstr>
      <vt:lpstr>Classification: model comparison</vt:lpstr>
      <vt:lpstr>How we went from 18% to 95.8%</vt:lpstr>
      <vt:lpstr>Clustering: complaint types</vt:lpstr>
      <vt:lpstr>Clustering: choosing K</vt:lpstr>
      <vt:lpstr>Association rules: complaint causes</vt:lpstr>
      <vt:lpstr>Association rules: top cause rules</vt:lpstr>
      <vt:lpstr>Prediction: complaint recurrence</vt:lpstr>
      <vt:lpstr>Prediction: model evaluation</vt:lpstr>
      <vt:lpstr>Synthesis: best model and 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BMC Grievances: Phase 2 Data Mining</dc:title>
  <dc:subject/>
  <dc:creator/>
  <cp:lastModifiedBy>Omkar Londhe</cp:lastModifiedBy>
  <cp:revision>2</cp:revision>
  <dcterms:created xsi:type="dcterms:W3CDTF">2026-10-16T03:01:48Z</dcterms:created>
  <dcterms:modified xsi:type="dcterms:W3CDTF">2026-10-16T09:48:41Z</dcterms:modified>
</cp:coreProperties>
</file>