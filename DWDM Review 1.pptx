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61" r:id="rId4"/>
    <p:sldId id="262" r:id="rId5"/>
    <p:sldId id="263" r:id="rId6"/>
    <p:sldId id="273" r:id="rId7"/>
    <p:sldId id="268" r:id="rId8"/>
    <p:sldId id="271" r:id="rId9"/>
    <p:sldId id="272" r:id="rId10"/>
    <p:sldId id="274" r:id="rId11"/>
    <p:sldId id="258" r:id="rId12"/>
    <p:sldId id="259" r:id="rId13"/>
    <p:sldId id="260" r:id="rId14"/>
    <p:sldId id="264" r:id="rId15"/>
    <p:sldId id="269" r:id="rId16"/>
    <p:sldId id="265" r:id="rId17"/>
    <p:sldId id="266" r:id="rId18"/>
    <p:sldId id="267" r:id="rId19"/>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napToObjects="1">
      <p:cViewPr>
        <p:scale>
          <a:sx n="50" d="100"/>
          <a:sy n="50" d="100"/>
        </p:scale>
        <p:origin x="1906" y="7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complaint warehouse and its purpose: analysing civic complaint patterns across time, wards and categories.</a:t>
            </a:r>
          </a:p>
          <a:p>
            <a:r>
              <a:t>Source: README.md, project overview</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warehouse uses the training split. The test split withholds citizen_satisfied. Kaggle was unreadable, so size, period and provenance follow the README. Raw dataset and dictionary entries in the ZIP are Git LFS pointers.</a:t>
            </a:r>
          </a:p>
          <a:p>
            <a:r>
              <a:t>Source: README.md, dataset description and audit; notebook loading output; Kaggle: https://www.kaggle.com/competitions/mumbai-nagar-seva-bmc-civic-complaint-resolution-2018-2024/data</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Grouped attribute names share the same type and role. Raw training data has 35 columns. ETL adds complaint_count and calendar fields. Fact flags remain in fact_complaint.</a:t>
            </a:r>
          </a:p>
          <a:p>
            <a:r>
              <a:t>Source: README.md, attribute summary; sql/02_create_tables.sql; notebook ETL</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Grouped attribute names share the same type and role. Raw training data has 35 columns. ETL adds complaint_count and calendar fields. Fact flags remain in fact_complaint.</a:t>
            </a:r>
          </a:p>
          <a:p>
            <a:r>
              <a:t>Source: README.md, attribute summary; sql/02_create_tables.sql; notebook ETL</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fact row represents one unique complaint. Four foreign keys join time, location, category and status dimensions. The diagram shows selected fields, with full definitions in the SQL.</a:t>
            </a:r>
          </a:p>
          <a:p>
            <a:r>
              <a:t>Source: sql/02_create_tables.sql; README.md, star schema</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database creation and two complete dimension definitions from the SQL. The full script defines fact_complaint with its four foreign keys and adds indexes.</a:t>
            </a:r>
          </a:p>
          <a:p>
            <a:r>
              <a:t>Source: sql/01_create_database.sql; sql/02_create_tables.sql</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original repository graph to describe the distribution. Do not infer precise counts from unlabelled bars or causal effects from the time series.</a:t>
            </a:r>
          </a:p>
          <a:p>
            <a:r>
              <a:t>Source: outputs/figures/complaint_category_distribution.png; notebook EDA</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original repository graph to describe the distribution. Do not infer precise counts from unlabelled bars or causal effects from the time series.</a:t>
            </a:r>
          </a:p>
          <a:p>
            <a:r>
              <a:t>Source: outputs/figures/complaint_distribution_by_location.png; notebook EDA</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original repository graph to describe the distribution. Do not infer precise counts from unlabelled bars or causal effects from the time series.</a:t>
            </a:r>
          </a:p>
          <a:p>
            <a:r>
              <a:t>Source: outputs/figures/complaints_over_time.png; notebook EDA</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counts and checks are recorded in the executed notebook. They confirm warehouse loading and joins. No live ETL was rerun for this presentation. Time follows day, month, quarter, year. Location follows area, ward, zone. Category links to department.</a:t>
            </a:r>
          </a:p>
          <a:p>
            <a:r>
              <a:t>Source: notebook cells 8–10 and profiling; README.md; sql/03_validation.sql</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code snippets are excerpts from the executed notebook, with line wrapping and redundant context trimmed. time_lookup, dimensions, fact DataFrame and engine are defined in omitted cells. The table contains the first four rows of the recorded warehouse join, not invented samples.</a:t>
            </a:r>
          </a:p>
          <a:p>
            <a:r>
              <a:t>Source: notebooks/Week1_BMC_Complaint_Analysis.ipynb, ETL and warehouse validation outputs</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Roll-up aggregates wards into zones. Drill-down shows finer time detail within 2024. SQL excerpts trim selected measures; the result tables preserve columns from the full repository CSVs.</a:t>
            </a:r>
          </a:p>
          <a:p>
            <a:r>
              <a:t>Source: sql/04_olap_queries.sql; outputs/tables/rollup_result.csv; outputs/tables/drilldown_result.csv</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Slice fixes exactly one category. Dice restricts three dimensions. The table shows selected category results from the complete dice output, which also includes drainage. Code shows the actual filter clauses, not standalone executable queries.</a:t>
            </a:r>
          </a:p>
          <a:p>
            <a:r>
              <a:t>Source: sql/04_olap_queries.sql; outputs/tables/slice_result.csv; outputs/tables/dice_result.csv</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Ward rows with complaint categories as columns. K/E has the highest total ward complaints: 59,673. SQL retains the repository operation; selected output rows and columns are shown. Pivot displays two category columns in the query excerpt and additional water values from the full CSV. Numeric formatting adds separators without rounding.</a:t>
            </a:r>
          </a:p>
          <a:p>
            <a:r>
              <a:t>Source: sql/04_olap_queries.sql; outputs/tables/pivot_result.csv</a:t>
            </a:r>
          </a:p>
          <a:p>
            <a:r>
              <a:t>Repository: https://github.com/Omkar-D-Londhe/BMC-Civic-Complaint-DWDM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EF7098C-7558-4698-B6A5-89D7C96CD988}"/>
              </a:ext>
            </a:extLst>
          </p:cNvPr>
          <p:cNvSpPr>
            <a:spLocks noGrp="1"/>
          </p:cNvSpPr>
          <p:nvPr/>
        </p:nvSpPr>
        <p:spPr>
          <a:xfrm>
            <a:off x="731520" y="1828800"/>
            <a:ext cx="137160" cy="1463040"/>
          </a:xfrm>
          <a:prstGeom prst="rect">
            <a:avLst/>
          </a:prstGeom>
          <a:solidFill>
            <a:schemeClr val="bg1"/>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B5B026-211A-45DC-9DFA-5F87CB2671A0}"/>
              </a:ext>
            </a:extLst>
          </p:cNvPr>
          <p:cNvSpPr>
            <a:spLocks noGrp="1"/>
          </p:cNvSpPr>
          <p:nvPr/>
        </p:nvSpPr>
        <p:spPr>
          <a:xfrm>
            <a:off x="548640" y="457200"/>
            <a:ext cx="109728" cy="685800"/>
          </a:xfrm>
          <a:prstGeom prst="rect">
            <a:avLst/>
          </a:prstGeom>
          <a:solidFill>
            <a:schemeClr val="accent2"/>
          </a:solidFill>
        </p:spPr>
      </p:sp>
      <p:sp>
        <p:nvSpPr>
          <p:cNvPr id="3" name="Text 1">
            <a:extLst>
              <a:ext uri="{FF2B5EF4-FFF2-40B4-BE49-F238E27FC236}">
                <a16:creationId xmlns:a16="http://schemas.microsoft.com/office/drawing/2014/main" id="{6B4E23BF-EB92-4E95-A6B9-35B5C77D545A}"/>
              </a:ext>
            </a:extLst>
          </p:cNvPr>
          <p:cNvSpPr>
            <a:spLocks noGrp="1"/>
          </p:cNvSpPr>
          <p:nvPr/>
        </p:nvSpPr>
        <p:spPr>
          <a:xfrm>
            <a:off x="548640" y="6355080"/>
            <a:ext cx="7315200" cy="274320"/>
          </a:xfrm>
          <a:prstGeom prst="rect">
            <a:avLst/>
          </a:prstGeom>
          <a:noFill/>
        </p:spPr>
        <p:txBody>
          <a:bodyPr wrap="square" anchor="ctr"/>
          <a:lstStyle/>
          <a:p>
            <a:pPr marL="0" indent="0">
              <a:buNone/>
            </a:pPr>
            <a:r>
              <a:rPr sz="1000">
                <a:solidFill>
                  <a:schemeClr val="accent6"/>
                </a:solidFill>
              </a:rPr>
              <a:t>CSI3010 · Data Mining &amp; Warehousing · Lab Project</a:t>
            </a:r>
            <a:endParaRPr sz="1000"/>
          </a:p>
        </p:txBody>
      </p:sp>
      <p:sp>
        <p:nvSpPr>
          <p:cNvPr id="4" name="Text 2">
            <a:extLst>
              <a:ext uri="{FF2B5EF4-FFF2-40B4-BE49-F238E27FC236}">
                <a16:creationId xmlns:a16="http://schemas.microsoft.com/office/drawing/2014/main" id="{241F898E-F0D5-4B0C-9A96-967EEC423EFD}"/>
              </a:ext>
            </a:extLst>
          </p:cNvPr>
          <p:cNvSpPr>
            <a:spLocks noGrp="1"/>
          </p:cNvSpPr>
          <p:nvPr>
            <p:ph type="title" idx="102" hasCustomPrompt="1"/>
          </p:nvPr>
        </p:nvSpPr>
        <p:spPr>
          <a:xfrm>
            <a:off x="822960" y="411480"/>
            <a:ext cx="10789920" cy="777240"/>
          </a:xfrm>
          <a:prstGeom prst="rect">
            <a:avLst/>
          </a:prstGeom>
          <a:noFill/>
        </p:spPr>
        <p:txBody>
          <a:bodyPr wrap="square"/>
          <a:lstStyle>
            <a:lvl1pPr marL="0" indent="0">
              <a:buNone/>
              <a:defRPr sz="2800" b="1">
                <a:solidFill>
                  <a:schemeClr val="tx2"/>
                </a:solidFill>
              </a:defRPr>
            </a:lvl1pPr>
          </a:lstStyle>
          <a:p>
            <a:pPr marL="0" indent="0">
              <a:buNone/>
            </a:pPr>
            <a:endParaRPr sz="2800"/>
          </a:p>
        </p:txBody>
      </p:sp>
      <p:sp>
        <p:nvSpPr>
          <p:cNvPr id="25" name="Slide Number Placeholder 0">
            <a:extLst>
              <a:ext uri="{FF2B5EF4-FFF2-40B4-BE49-F238E27FC236}">
                <a16:creationId xmlns:a16="http://schemas.microsoft.com/office/drawing/2014/main" id="{51A27CE1-8EC7-46B0-BB2B-D7B6B2655132}"/>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pPr algn="l">
              <a:buNone/>
            </a:pPr>
            <a:fld id="{F7021451-1387-4CA6-816F-3879F97B5CBC}" type="slidenum">
              <a:rPr b="0"/>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2">
    <p:bg>
      <p:bgPr>
        <a:solidFill>
          <a:schemeClr val="tx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03127AF-4D7C-488D-A973-9C2298AB718E}"/>
              </a:ext>
            </a:extLst>
          </p:cNvPr>
          <p:cNvSpPr>
            <a:spLocks noGrp="1"/>
          </p:cNvSpPr>
          <p:nvPr/>
        </p:nvSpPr>
        <p:spPr>
          <a:xfrm>
            <a:off x="731520" y="1828800"/>
            <a:ext cx="137160" cy="1554480"/>
          </a:xfrm>
          <a:prstGeom prst="rect">
            <a:avLst/>
          </a:prstGeom>
          <a:solidFill>
            <a:schemeClr val="bg1"/>
          </a:solidFill>
        </p:spPr>
      </p:sp>
      <p:sp>
        <p:nvSpPr>
          <p:cNvPr id="3" name="Text 1">
            <a:extLst>
              <a:ext uri="{FF2B5EF4-FFF2-40B4-BE49-F238E27FC236}">
                <a16:creationId xmlns:a16="http://schemas.microsoft.com/office/drawing/2014/main" id="{554A70AF-B332-4215-8F86-0AD4A81537F5}"/>
              </a:ext>
            </a:extLst>
          </p:cNvPr>
          <p:cNvSpPr>
            <a:spLocks noGrp="1"/>
          </p:cNvSpPr>
          <p:nvPr>
            <p:ph type="title" idx="101" hasCustomPrompt="1"/>
          </p:nvPr>
        </p:nvSpPr>
        <p:spPr>
          <a:xfrm>
            <a:off x="1097280" y="1737360"/>
            <a:ext cx="9875520" cy="1097280"/>
          </a:xfrm>
          <a:prstGeom prst="rect">
            <a:avLst/>
          </a:prstGeom>
          <a:noFill/>
        </p:spPr>
        <p:txBody>
          <a:bodyPr wrap="square"/>
          <a:lstStyle>
            <a:lvl1pPr marL="0" indent="0">
              <a:buNone/>
              <a:defRPr sz="3800" b="1">
                <a:solidFill>
                  <a:schemeClr val="bg1"/>
                </a:solidFill>
              </a:defRPr>
            </a:lvl1pPr>
          </a:lstStyle>
          <a:p>
            <a:pPr marL="0" indent="0">
              <a:buNone/>
            </a:pPr>
            <a:endParaRPr sz="3800"/>
          </a:p>
        </p:txBody>
      </p:sp>
      <p:sp>
        <p:nvSpPr>
          <p:cNvPr id="4" name="Text 1">
            <a:extLst>
              <a:ext uri="{FF2B5EF4-FFF2-40B4-BE49-F238E27FC236}">
                <a16:creationId xmlns:a16="http://schemas.microsoft.com/office/drawing/2014/main" id="{CC6F1D40-B83C-480D-A59D-5561B21988EC}"/>
              </a:ext>
            </a:extLst>
          </p:cNvPr>
          <p:cNvSpPr>
            <a:spLocks noGrp="1"/>
          </p:cNvSpPr>
          <p:nvPr>
            <p:ph type="body" idx="102" hasCustomPrompt="1"/>
          </p:nvPr>
        </p:nvSpPr>
        <p:spPr>
          <a:xfrm>
            <a:off x="1097280" y="2880360"/>
            <a:ext cx="9875520" cy="548640"/>
          </a:xfrm>
          <a:prstGeom prst="rect">
            <a:avLst/>
          </a:prstGeom>
          <a:noFill/>
        </p:spPr>
        <p:txBody>
          <a:bodyPr wrap="square"/>
          <a:lstStyle>
            <a:lvl1pPr marL="0" indent="0">
              <a:buNone/>
              <a:defRPr sz="1800">
                <a:solidFill>
                  <a:schemeClr val="bg2"/>
                </a:solidFill>
              </a:defRPr>
            </a:lvl1pPr>
          </a:lstStyle>
          <a:p>
            <a:pPr marL="0" indent="0">
              <a:buNone/>
            </a:pPr>
            <a:endParaRPr sz="18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968633E-8175-4723-AAED-523B13265333}"/>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02F5035F-8035-48C2-9921-25FFC11CE77E}"/>
              </a:ext>
            </a:extLst>
          </p:cNvPr>
          <p:cNvSpPr>
            <a:spLocks noGrp="1"/>
          </p:cNvSpPr>
          <p:nvPr>
            <p:ph type="title" idx="101" hasCustomPrompt="1"/>
          </p:nvPr>
        </p:nvSpPr>
        <p:spPr>
          <a:xfrm>
            <a:off x="1097280" y="1607820"/>
            <a:ext cx="9875520" cy="1097280"/>
          </a:xfrm>
          <a:prstGeom prst="rect">
            <a:avLst/>
          </a:prstGeom>
          <a:noFill/>
        </p:spPr>
        <p:txBody>
          <a:bodyPr wrap="square" anchor="t"/>
          <a:lstStyle>
            <a:defPPr>
              <a:defRPr sz="3300"/>
            </a:defPPr>
          </a:lstStyle>
          <a:p>
            <a:pPr marL="0" indent="0">
              <a:buNone/>
              <a:defRPr sz="3300"/>
            </a:pPr>
            <a:r>
              <a:rPr sz="3300" b="1" dirty="0">
                <a:solidFill>
                  <a:schemeClr val="bg1"/>
                </a:solidFill>
              </a:rPr>
              <a:t>Complaint Pattern Analysis</a:t>
            </a:r>
            <a:endParaRPr sz="3800" dirty="0"/>
          </a:p>
          <a:p>
            <a:pPr marL="0" indent="0">
              <a:buNone/>
              <a:defRPr sz="3300"/>
            </a:pPr>
            <a:r>
              <a:rPr sz="3300" b="1" dirty="0">
                <a:solidFill>
                  <a:schemeClr val="bg1"/>
                </a:solidFill>
              </a:rPr>
              <a:t>of Mumbai BMC Civic Complaints</a:t>
            </a:r>
            <a:endParaRPr sz="3800" dirty="0"/>
          </a:p>
        </p:txBody>
      </p:sp>
      <p:sp>
        <p:nvSpPr>
          <p:cNvPr id="3" name="Text 1">
            <a:extLst>
              <a:ext uri="{FF2B5EF4-FFF2-40B4-BE49-F238E27FC236}">
                <a16:creationId xmlns:a16="http://schemas.microsoft.com/office/drawing/2014/main" id="{0CAF22F1-DA1E-401D-8590-E1149948C15E}"/>
              </a:ext>
            </a:extLst>
          </p:cNvPr>
          <p:cNvSpPr>
            <a:spLocks noGrp="1"/>
          </p:cNvSpPr>
          <p:nvPr>
            <p:ph type="body" idx="102" hasCustomPrompt="1"/>
          </p:nvPr>
        </p:nvSpPr>
        <p:spPr>
          <a:xfrm>
            <a:off x="1097280" y="2983230"/>
            <a:ext cx="9875520" cy="548640"/>
          </a:xfrm>
          <a:prstGeom prst="rect">
            <a:avLst/>
          </a:prstGeom>
          <a:noFill/>
        </p:spPr>
        <p:txBody>
          <a:bodyPr wrap="square"/>
          <a:lstStyle/>
          <a:p>
            <a:pPr marL="0" indent="0">
              <a:buNone/>
            </a:pPr>
            <a:r>
              <a:rPr sz="1800" dirty="0">
                <a:solidFill>
                  <a:schemeClr val="bg2"/>
                </a:solidFill>
              </a:rPr>
              <a:t>Data Warehousing &amp; Data Mining (CSI3010) — Lab Project Week 1</a:t>
            </a:r>
            <a:endParaRPr sz="1800" dirty="0"/>
          </a:p>
        </p:txBody>
      </p:sp>
      <p:sp>
        <p:nvSpPr>
          <p:cNvPr id="4" name="Team details">
            <a:extLst>
              <a:ext uri="{FF2B5EF4-FFF2-40B4-BE49-F238E27FC236}">
                <a16:creationId xmlns:a16="http://schemas.microsoft.com/office/drawing/2014/main" id="{7D665D22-941F-4044-AA7A-643F613AA6C6}"/>
              </a:ext>
            </a:extLst>
          </p:cNvPr>
          <p:cNvSpPr>
            <a:spLocks noGrp="1"/>
          </p:cNvSpPr>
          <p:nvPr/>
        </p:nvSpPr>
        <p:spPr>
          <a:xfrm>
            <a:off x="1097280" y="4937760"/>
            <a:ext cx="9875520" cy="822960"/>
          </a:xfrm>
          <a:prstGeom prst="rect">
            <a:avLst/>
          </a:prstGeom>
          <a:noFill/>
        </p:spPr>
        <p:txBody>
          <a:bodyPr wrap="square" lIns="0" tIns="0" rIns="0" bIns="0" anchor="ctr"/>
          <a:lstStyle/>
          <a:p>
            <a:pPr>
              <a:spcAft>
                <a:spcPts val="600"/>
              </a:spcAft>
            </a:pPr>
            <a:r>
              <a:rPr lang="en-IN" sz="1400" dirty="0">
                <a:solidFill>
                  <a:schemeClr val="bg2"/>
                </a:solidFill>
              </a:rPr>
              <a:t>Team: Anshul Singh (24MID0291), Aarav Jha (24MID0285), Omkar Londhe (24MIC0135)</a:t>
            </a:r>
            <a:endParaRPr lang="en-IN" sz="1400" dirty="0"/>
          </a:p>
          <a:p>
            <a:pPr>
              <a:spcAft>
                <a:spcPts val="600"/>
              </a:spcAft>
            </a:pPr>
            <a:r>
              <a:rPr lang="en-IN" sz="1400" dirty="0">
                <a:solidFill>
                  <a:schemeClr val="bg2"/>
                </a:solidFill>
              </a:rPr>
              <a:t>Faculty</a:t>
            </a:r>
            <a:r>
              <a:rPr lang="en-IN" sz="1400">
                <a:solidFill>
                  <a:schemeClr val="bg2"/>
                </a:solidFill>
              </a:rPr>
              <a:t>: Dr. Adrija </a:t>
            </a:r>
            <a:r>
              <a:rPr lang="en-IN" sz="1400" dirty="0">
                <a:solidFill>
                  <a:schemeClr val="bg2"/>
                </a:solidFill>
              </a:rPr>
              <a:t>Bhattacharya   |   Slot: L55+L56  |   Date: 09-10-2026</a:t>
            </a:r>
            <a:endParaRPr lang="en-IN" sz="1400" dirty="0"/>
          </a:p>
        </p:txBody>
      </p:sp>
    </p:spTree>
    <p:extLst>
      <p:ext uri="{BB962C8B-B14F-4D97-AF65-F5344CB8AC3E}">
        <p14:creationId xmlns:p14="http://schemas.microsoft.com/office/powerpoint/2010/main" val="837028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DBAC72C-B73E-4F6E-9B6C-CBA006341C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Dataset Description</a:t>
            </a:r>
            <a:endParaRPr sz="2800"/>
          </a:p>
        </p:txBody>
      </p:sp>
      <p:sp>
        <p:nvSpPr>
          <p:cNvPr id="4" name="Rationale card">
            <a:extLst>
              <a:ext uri="{FF2B5EF4-FFF2-40B4-BE49-F238E27FC236}">
                <a16:creationId xmlns:a16="http://schemas.microsoft.com/office/drawing/2014/main" id="{D7FB6D55-61D1-40D4-A933-A3226995ADFA}"/>
              </a:ext>
            </a:extLst>
          </p:cNvPr>
          <p:cNvSpPr>
            <a:spLocks noGrp="1"/>
          </p:cNvSpPr>
          <p:nvPr/>
        </p:nvSpPr>
        <p:spPr>
          <a:xfrm>
            <a:off x="6766560" y="1554480"/>
            <a:ext cx="4846320" cy="4480560"/>
          </a:xfrm>
          <a:prstGeom prst="rect">
            <a:avLst/>
          </a:prstGeom>
          <a:solidFill>
            <a:schemeClr val="bg2"/>
          </a:solidFill>
          <a:ln w="12700">
            <a:solidFill>
              <a:schemeClr val="bg2"/>
            </a:solidFill>
            <a:prstDash val="solid"/>
          </a:ln>
        </p:spPr>
      </p:sp>
      <p:sp>
        <p:nvSpPr>
          <p:cNvPr id="5" name="Rationale accent">
            <a:extLst>
              <a:ext uri="{FF2B5EF4-FFF2-40B4-BE49-F238E27FC236}">
                <a16:creationId xmlns:a16="http://schemas.microsoft.com/office/drawing/2014/main" id="{3C8C7988-17BB-46DC-8A69-2EE968558E63}"/>
              </a:ext>
            </a:extLst>
          </p:cNvPr>
          <p:cNvSpPr>
            <a:spLocks noGrp="1"/>
          </p:cNvSpPr>
          <p:nvPr/>
        </p:nvSpPr>
        <p:spPr>
          <a:xfrm>
            <a:off x="6766560" y="1554480"/>
            <a:ext cx="4846320" cy="73152"/>
          </a:xfrm>
          <a:prstGeom prst="rect">
            <a:avLst/>
          </a:prstGeom>
          <a:solidFill>
            <a:schemeClr val="accent1"/>
          </a:solidFill>
          <a:ln w="12700">
            <a:solidFill>
              <a:schemeClr val="accent1"/>
            </a:solidFill>
            <a:prstDash val="solid"/>
          </a:ln>
        </p:spPr>
      </p:sp>
      <p:sp>
        <p:nvSpPr>
          <p:cNvPr id="6" name="Rationale head">
            <a:extLst>
              <a:ext uri="{FF2B5EF4-FFF2-40B4-BE49-F238E27FC236}">
                <a16:creationId xmlns:a16="http://schemas.microsoft.com/office/drawing/2014/main" id="{8B3B7E87-A5EB-4E9A-AE20-345B61A79CD6}"/>
              </a:ext>
            </a:extLst>
          </p:cNvPr>
          <p:cNvSpPr>
            <a:spLocks noGrp="1"/>
          </p:cNvSpPr>
          <p:nvPr/>
        </p:nvSpPr>
        <p:spPr>
          <a:xfrm>
            <a:off x="6949440" y="1783080"/>
            <a:ext cx="4480560" cy="365760"/>
          </a:xfrm>
          <a:prstGeom prst="rect">
            <a:avLst/>
          </a:prstGeom>
          <a:noFill/>
        </p:spPr>
        <p:txBody>
          <a:bodyPr wrap="square" lIns="0" tIns="0" rIns="0" bIns="0" anchor="ctr"/>
          <a:lstStyle/>
          <a:p>
            <a:pPr marL="0" indent="0">
              <a:buNone/>
            </a:pPr>
            <a:r>
              <a:rPr sz="1600" b="1">
                <a:solidFill>
                  <a:schemeClr val="tx2"/>
                </a:solidFill>
              </a:rPr>
              <a:t>Why this dataset?</a:t>
            </a:r>
            <a:endParaRPr sz="1600"/>
          </a:p>
        </p:txBody>
      </p:sp>
      <p:sp>
        <p:nvSpPr>
          <p:cNvPr id="25" name="Slide Number Placeholder 0">
            <a:extLst>
              <a:ext uri="{FF2B5EF4-FFF2-40B4-BE49-F238E27FC236}">
                <a16:creationId xmlns:a16="http://schemas.microsoft.com/office/drawing/2014/main" id="{86380143-3077-4CCD-BD02-37A842780740}"/>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2</a:t>
            </a:r>
          </a:p>
        </p:txBody>
      </p:sp>
      <p:graphicFrame>
        <p:nvGraphicFramePr>
          <p:cNvPr id="26" name="Table 25">
            <a:extLst>
              <a:ext uri="{FF2B5EF4-FFF2-40B4-BE49-F238E27FC236}">
                <a16:creationId xmlns:a16="http://schemas.microsoft.com/office/drawing/2014/main" id="{EB29DC63-440D-4AC2-93C9-C138EF2AC82E}"/>
              </a:ext>
            </a:extLst>
          </p:cNvPr>
          <p:cNvGraphicFramePr/>
          <p:nvPr/>
        </p:nvGraphicFramePr>
        <p:xfrm>
          <a:off x="552450" y="1552575"/>
          <a:ext cx="5848350" cy="4000500"/>
        </p:xfrm>
        <a:graphic>
          <a:graphicData uri="http://schemas.openxmlformats.org/drawingml/2006/table">
            <a:tbl>
              <a:tblPr/>
              <a:tblGrid>
                <a:gridCol w="180975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571500">
                <a:tc>
                  <a:txBody>
                    <a:bodyPr/>
                    <a:lstStyle/>
                    <a:p>
                      <a:r>
                        <a:rPr sz="1575" b="1">
                          <a:solidFill>
                            <a:srgbClr val="FFFFFF"/>
                          </a:solidFill>
                          <a:latin typeface="Calibri"/>
                          <a:ea typeface="Calibri"/>
                          <a:cs typeface="Calibri"/>
                        </a:rPr>
                        <a:t>Property</a:t>
                      </a:r>
                    </a:p>
                  </a:txBody>
                  <a:tcPr anchor="ctr">
                    <a:solidFill>
                      <a:srgbClr val="000000"/>
                    </a:solidFill>
                  </a:tcPr>
                </a:tc>
                <a:tc>
                  <a:txBody>
                    <a:bodyPr/>
                    <a:lstStyle/>
                    <a:p>
                      <a:r>
                        <a:rPr sz="1575" b="1">
                          <a:solidFill>
                            <a:srgbClr val="FFFFFF"/>
                          </a:solidFill>
                          <a:latin typeface="Calibri"/>
                          <a:ea typeface="Calibri"/>
                          <a:cs typeface="Calibri"/>
                        </a:rPr>
                        <a:t>Details</a:t>
                      </a:r>
                    </a:p>
                  </a:txBody>
                  <a:tcPr anchor="ctr">
                    <a:solidFill>
                      <a:srgbClr val="000000"/>
                    </a:solidFill>
                  </a:tcPr>
                </a:tc>
                <a:extLst>
                  <a:ext uri="{0D108BD9-81ED-4DB2-BD59-A6C34878D82A}">
                    <a16:rowId xmlns:a16="http://schemas.microsoft.com/office/drawing/2014/main" val="10000"/>
                  </a:ext>
                </a:extLst>
              </a:tr>
              <a:tr h="571500">
                <a:tc>
                  <a:txBody>
                    <a:bodyPr/>
                    <a:lstStyle/>
                    <a:p>
                      <a:r>
                        <a:rPr sz="1575" b="0">
                          <a:solidFill>
                            <a:srgbClr val="111111"/>
                          </a:solidFill>
                          <a:latin typeface="Calibri"/>
                          <a:ea typeface="Calibri"/>
                          <a:cs typeface="Calibri"/>
                        </a:rPr>
                        <a:t>Dataset name</a:t>
                      </a:r>
                    </a:p>
                  </a:txBody>
                  <a:tcPr anchor="ctr">
                    <a:solidFill>
                      <a:srgbClr val="FFFFFF"/>
                    </a:solidFill>
                  </a:tcPr>
                </a:tc>
                <a:tc>
                  <a:txBody>
                    <a:bodyPr/>
                    <a:lstStyle/>
                    <a:p>
                      <a:r>
                        <a:rPr sz="1575" b="0">
                          <a:solidFill>
                            <a:srgbClr val="111111"/>
                          </a:solidFill>
                          <a:latin typeface="Calibri"/>
                          <a:ea typeface="Calibri"/>
                          <a:cs typeface="Calibri"/>
                        </a:rPr>
                        <a:t>Mumbai BMC Civic Complaints</a:t>
                      </a:r>
                    </a:p>
                  </a:txBody>
                  <a:tcPr anchor="ctr">
                    <a:solidFill>
                      <a:srgbClr val="FFFFFF"/>
                    </a:solidFill>
                  </a:tcPr>
                </a:tc>
                <a:extLst>
                  <a:ext uri="{0D108BD9-81ED-4DB2-BD59-A6C34878D82A}">
                    <a16:rowId xmlns:a16="http://schemas.microsoft.com/office/drawing/2014/main" val="10001"/>
                  </a:ext>
                </a:extLst>
              </a:tr>
              <a:tr h="571500">
                <a:tc>
                  <a:txBody>
                    <a:bodyPr/>
                    <a:lstStyle/>
                    <a:p>
                      <a:r>
                        <a:rPr sz="1575" b="0">
                          <a:solidFill>
                            <a:srgbClr val="111111"/>
                          </a:solidFill>
                          <a:latin typeface="Calibri"/>
                          <a:ea typeface="Calibri"/>
                          <a:cs typeface="Calibri"/>
                        </a:rPr>
                        <a:t>Source</a:t>
                      </a:r>
                    </a:p>
                  </a:txBody>
                  <a:tcPr anchor="ctr">
                    <a:solidFill>
                      <a:srgbClr val="FFFFFF"/>
                    </a:solidFill>
                  </a:tcPr>
                </a:tc>
                <a:tc>
                  <a:txBody>
                    <a:bodyPr/>
                    <a:lstStyle/>
                    <a:p>
                      <a:r>
                        <a:rPr sz="1575" b="0">
                          <a:solidFill>
                            <a:srgbClr val="111111"/>
                          </a:solidFill>
                          <a:latin typeface="Calibri"/>
                          <a:ea typeface="Calibri"/>
                          <a:cs typeface="Calibri"/>
                        </a:rPr>
                        <a:t>Kaggle competition</a:t>
                      </a:r>
                    </a:p>
                    <a:p>
                      <a:r>
                        <a:rPr sz="1575" b="0">
                          <a:solidFill>
                            <a:srgbClr val="111111"/>
                          </a:solidFill>
                          <a:latin typeface="Calibri"/>
                          <a:ea typeface="Calibri"/>
                          <a:cs typeface="Calibri"/>
                        </a:rPr>
                        <a:t>MCGM / BMC grievance system</a:t>
                      </a:r>
                    </a:p>
                  </a:txBody>
                  <a:tcPr anchor="ctr">
                    <a:solidFill>
                      <a:srgbClr val="FFFFFF"/>
                    </a:solidFill>
                  </a:tcPr>
                </a:tc>
                <a:extLst>
                  <a:ext uri="{0D108BD9-81ED-4DB2-BD59-A6C34878D82A}">
                    <a16:rowId xmlns:a16="http://schemas.microsoft.com/office/drawing/2014/main" val="10002"/>
                  </a:ext>
                </a:extLst>
              </a:tr>
              <a:tr h="571500">
                <a:tc>
                  <a:txBody>
                    <a:bodyPr/>
                    <a:lstStyle/>
                    <a:p>
                      <a:r>
                        <a:rPr sz="1575" b="0">
                          <a:solidFill>
                            <a:srgbClr val="111111"/>
                          </a:solidFill>
                          <a:latin typeface="Calibri"/>
                          <a:ea typeface="Calibri"/>
                          <a:cs typeface="Calibri"/>
                        </a:rPr>
                        <a:t>Size</a:t>
                      </a:r>
                    </a:p>
                  </a:txBody>
                  <a:tcPr anchor="ctr">
                    <a:solidFill>
                      <a:srgbClr val="FFFFFF"/>
                    </a:solidFill>
                  </a:tcPr>
                </a:tc>
                <a:tc>
                  <a:txBody>
                    <a:bodyPr/>
                    <a:lstStyle/>
                    <a:p>
                      <a:r>
                        <a:rPr sz="1575" b="0">
                          <a:solidFill>
                            <a:srgbClr val="111111"/>
                          </a:solidFill>
                          <a:latin typeface="Calibri"/>
                          <a:ea typeface="Calibri"/>
                          <a:cs typeface="Calibri"/>
                        </a:rPr>
                        <a:t>Train: 960,000 × 35 columns</a:t>
                      </a:r>
                    </a:p>
                    <a:p>
                      <a:r>
                        <a:rPr sz="1575" b="0">
                          <a:solidFill>
                            <a:srgbClr val="111111"/>
                          </a:solidFill>
                          <a:latin typeface="Calibri"/>
                          <a:ea typeface="Calibri"/>
                          <a:cs typeface="Calibri"/>
                        </a:rPr>
                        <a:t>Test: 240,000 × 34 columns</a:t>
                      </a:r>
                    </a:p>
                  </a:txBody>
                  <a:tcPr anchor="ctr">
                    <a:solidFill>
                      <a:srgbClr val="FFFFFF"/>
                    </a:solidFill>
                  </a:tcPr>
                </a:tc>
                <a:extLst>
                  <a:ext uri="{0D108BD9-81ED-4DB2-BD59-A6C34878D82A}">
                    <a16:rowId xmlns:a16="http://schemas.microsoft.com/office/drawing/2014/main" val="10003"/>
                  </a:ext>
                </a:extLst>
              </a:tr>
              <a:tr h="571500">
                <a:tc>
                  <a:txBody>
                    <a:bodyPr/>
                    <a:lstStyle/>
                    <a:p>
                      <a:r>
                        <a:rPr sz="1575" b="0">
                          <a:solidFill>
                            <a:srgbClr val="111111"/>
                          </a:solidFill>
                          <a:latin typeface="Calibri"/>
                          <a:ea typeface="Calibri"/>
                          <a:cs typeface="Calibri"/>
                        </a:rPr>
                        <a:t>Time period</a:t>
                      </a:r>
                    </a:p>
                  </a:txBody>
                  <a:tcPr anchor="ctr">
                    <a:solidFill>
                      <a:srgbClr val="FFFFFF"/>
                    </a:solidFill>
                  </a:tcPr>
                </a:tc>
                <a:tc>
                  <a:txBody>
                    <a:bodyPr/>
                    <a:lstStyle/>
                    <a:p>
                      <a:r>
                        <a:rPr sz="1575" b="0">
                          <a:solidFill>
                            <a:srgbClr val="111111"/>
                          </a:solidFill>
                          <a:latin typeface="Calibri"/>
                          <a:ea typeface="Calibri"/>
                          <a:cs typeface="Calibri"/>
                        </a:rPr>
                        <a:t>2018-01-01 to 2024-12-30</a:t>
                      </a:r>
                    </a:p>
                  </a:txBody>
                  <a:tcPr anchor="ctr">
                    <a:solidFill>
                      <a:srgbClr val="FFFFFF"/>
                    </a:solidFill>
                  </a:tcPr>
                </a:tc>
                <a:extLst>
                  <a:ext uri="{0D108BD9-81ED-4DB2-BD59-A6C34878D82A}">
                    <a16:rowId xmlns:a16="http://schemas.microsoft.com/office/drawing/2014/main" val="10004"/>
                  </a:ext>
                </a:extLst>
              </a:tr>
              <a:tr h="571500">
                <a:tc>
                  <a:txBody>
                    <a:bodyPr/>
                    <a:lstStyle/>
                    <a:p>
                      <a:r>
                        <a:rPr sz="1575" b="0">
                          <a:solidFill>
                            <a:srgbClr val="111111"/>
                          </a:solidFill>
                          <a:latin typeface="Calibri"/>
                          <a:ea typeface="Calibri"/>
                          <a:cs typeface="Calibri"/>
                        </a:rPr>
                        <a:t>Format</a:t>
                      </a:r>
                    </a:p>
                  </a:txBody>
                  <a:tcPr anchor="ctr">
                    <a:solidFill>
                      <a:srgbClr val="FFFFFF"/>
                    </a:solidFill>
                  </a:tcPr>
                </a:tc>
                <a:tc>
                  <a:txBody>
                    <a:bodyPr/>
                    <a:lstStyle/>
                    <a:p>
                      <a:r>
                        <a:rPr sz="1575" b="0">
                          <a:solidFill>
                            <a:srgbClr val="111111"/>
                          </a:solidFill>
                          <a:latin typeface="Calibri"/>
                          <a:ea typeface="Calibri"/>
                          <a:cs typeface="Calibri"/>
                        </a:rPr>
                        <a:t>CSV files</a:t>
                      </a:r>
                    </a:p>
                  </a:txBody>
                  <a:tcPr anchor="ctr">
                    <a:solidFill>
                      <a:srgbClr val="FFFFFF"/>
                    </a:solidFill>
                  </a:tcPr>
                </a:tc>
                <a:extLst>
                  <a:ext uri="{0D108BD9-81ED-4DB2-BD59-A6C34878D82A}">
                    <a16:rowId xmlns:a16="http://schemas.microsoft.com/office/drawing/2014/main" val="10005"/>
                  </a:ext>
                </a:extLst>
              </a:tr>
              <a:tr h="571500">
                <a:tc>
                  <a:txBody>
                    <a:bodyPr/>
                    <a:lstStyle/>
                    <a:p>
                      <a:r>
                        <a:rPr sz="1575" b="0">
                          <a:solidFill>
                            <a:srgbClr val="111111"/>
                          </a:solidFill>
                          <a:latin typeface="Calibri"/>
                          <a:ea typeface="Calibri"/>
                          <a:cs typeface="Calibri"/>
                        </a:rPr>
                        <a:t>Domain</a:t>
                      </a:r>
                    </a:p>
                  </a:txBody>
                  <a:tcPr anchor="ctr">
                    <a:solidFill>
                      <a:srgbClr val="FFFFFF"/>
                    </a:solidFill>
                  </a:tcPr>
                </a:tc>
                <a:tc>
                  <a:txBody>
                    <a:bodyPr/>
                    <a:lstStyle/>
                    <a:p>
                      <a:r>
                        <a:rPr sz="1575" b="0">
                          <a:solidFill>
                            <a:srgbClr val="111111"/>
                          </a:solidFill>
                          <a:latin typeface="Calibri"/>
                          <a:ea typeface="Calibri"/>
                          <a:cs typeface="Calibri"/>
                        </a:rPr>
                        <a:t>Municipal governance / Smart Cities</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27" name="Rectangle 26">
            <a:extLst>
              <a:ext uri="{FF2B5EF4-FFF2-40B4-BE49-F238E27FC236}">
                <a16:creationId xmlns:a16="http://schemas.microsoft.com/office/drawing/2014/main" id="{8C46BF77-F761-41D4-9340-44D3E1678025}"/>
              </a:ext>
            </a:extLst>
          </p:cNvPr>
          <p:cNvSpPr>
            <a:spLocks noGrp="1"/>
          </p:cNvSpPr>
          <p:nvPr/>
        </p:nvSpPr>
        <p:spPr>
          <a:xfrm>
            <a:off x="6949440" y="2286000"/>
            <a:ext cx="4480560" cy="3566160"/>
          </a:xfrm>
          <a:prstGeom prst="rect">
            <a:avLst/>
          </a:prstGeom>
          <a:noFill/>
          <a:ln w="0">
            <a:noFill/>
          </a:ln>
        </p:spPr>
        <p:txBody>
          <a:bodyPr lIns="0" tIns="0" rIns="0" bIns="0" anchor="t">
            <a:noAutofit/>
          </a:bodyPr>
          <a:lstStyle>
            <a:defPPr algn="l">
              <a:defRPr sz="1650" b="0">
                <a:solidFill>
                  <a:srgbClr val="111111"/>
                </a:solidFill>
                <a:latin typeface="Calibri"/>
                <a:ea typeface="Calibri"/>
                <a:cs typeface="Calibri"/>
              </a:defRPr>
            </a:defPPr>
          </a:lstStyle>
          <a:p>
            <a:pPr algn="l">
              <a:buNone/>
              <a:defRPr sz="1650" b="0">
                <a:solidFill>
                  <a:srgbClr val="111111"/>
                </a:solidFill>
                <a:latin typeface="Calibri"/>
                <a:ea typeface="Calibri"/>
                <a:cs typeface="Calibri"/>
              </a:defRPr>
            </a:pPr>
            <a:r>
              <a:rPr sz="1650" b="0" dirty="0">
                <a:solidFill>
                  <a:srgbClr val="111111"/>
                </a:solidFill>
                <a:latin typeface="Calibri"/>
                <a:ea typeface="Calibri"/>
                <a:cs typeface="Calibri"/>
              </a:rPr>
              <a:t>Compare complaint categories and ward hotspots.</a:t>
            </a:r>
          </a:p>
          <a:p>
            <a:endParaRPr sz="1650" b="0" dirty="0">
              <a:solidFill>
                <a:srgbClr val="111111"/>
              </a:solidFill>
              <a:latin typeface="Calibri"/>
              <a:ea typeface="Calibri"/>
              <a:cs typeface="Calibri"/>
            </a:endParaRPr>
          </a:p>
          <a:p>
            <a:pPr algn="l">
              <a:buNone/>
              <a:defRPr sz="1650" b="0">
                <a:solidFill>
                  <a:srgbClr val="111111"/>
                </a:solidFill>
                <a:latin typeface="Calibri"/>
                <a:ea typeface="Calibri"/>
                <a:cs typeface="Calibri"/>
              </a:defRPr>
            </a:pPr>
            <a:r>
              <a:rPr sz="1650" b="0" dirty="0">
                <a:solidFill>
                  <a:srgbClr val="111111"/>
                </a:solidFill>
                <a:latin typeface="Calibri"/>
                <a:ea typeface="Calibri"/>
                <a:cs typeface="Calibri"/>
              </a:rPr>
              <a:t>Look at seasonal resolution delays and contractor outcomes.</a:t>
            </a:r>
          </a:p>
          <a:p>
            <a:endParaRPr sz="1650" b="0" dirty="0">
              <a:solidFill>
                <a:srgbClr val="111111"/>
              </a:solidFill>
              <a:latin typeface="Calibri"/>
              <a:ea typeface="Calibri"/>
              <a:cs typeface="Calibri"/>
            </a:endParaRPr>
          </a:p>
          <a:p>
            <a:pPr algn="l">
              <a:buNone/>
              <a:defRPr sz="1650" b="0">
                <a:solidFill>
                  <a:srgbClr val="111111"/>
                </a:solidFill>
                <a:latin typeface="Calibri"/>
                <a:ea typeface="Calibri"/>
                <a:cs typeface="Calibri"/>
              </a:defRPr>
            </a:pPr>
            <a:r>
              <a:rPr sz="1650" b="0" dirty="0">
                <a:solidFill>
                  <a:srgbClr val="111111"/>
                </a:solidFill>
                <a:latin typeface="Calibri"/>
                <a:ea typeface="Calibri"/>
                <a:cs typeface="Calibri"/>
              </a:rPr>
              <a:t>Audit result: zero missing values, zero duplicate complaint IDs.</a:t>
            </a:r>
          </a:p>
          <a:p>
            <a:endParaRPr sz="1650" b="0" dirty="0">
              <a:solidFill>
                <a:srgbClr val="111111"/>
              </a:solidFill>
              <a:latin typeface="Calibri"/>
              <a:ea typeface="Calibri"/>
              <a:cs typeface="Calibri"/>
            </a:endParaRPr>
          </a:p>
          <a:p>
            <a:pPr algn="l">
              <a:buNone/>
              <a:defRPr sz="1650" b="0">
                <a:solidFill>
                  <a:srgbClr val="111111"/>
                </a:solidFill>
                <a:latin typeface="Calibri"/>
                <a:ea typeface="Calibri"/>
                <a:cs typeface="Calibri"/>
              </a:defRPr>
            </a:pPr>
            <a:r>
              <a:rPr sz="1650" b="0" dirty="0">
                <a:solidFill>
                  <a:srgbClr val="111111"/>
                </a:solidFill>
                <a:latin typeface="Calibri"/>
                <a:ea typeface="Calibri"/>
                <a:cs typeface="Calibri"/>
              </a:rPr>
              <a:t>Planned mining: classification, ward clustering, association rules, satisfaction prediction.</a:t>
            </a:r>
          </a:p>
        </p:txBody>
      </p:sp>
      <p:sp>
        <p:nvSpPr>
          <p:cNvPr id="28" name="Rectangle 27">
            <a:extLst>
              <a:ext uri="{FF2B5EF4-FFF2-40B4-BE49-F238E27FC236}">
                <a16:creationId xmlns:a16="http://schemas.microsoft.com/office/drawing/2014/main" id="{D8825AF0-D0EB-411A-93FD-413ADF19225D}"/>
              </a:ext>
            </a:extLst>
          </p:cNvPr>
          <p:cNvSpPr>
            <a:spLocks noGrp="1"/>
          </p:cNvSpPr>
          <p:nvPr/>
        </p:nvSpPr>
        <p:spPr>
          <a:xfrm>
            <a:off x="552450" y="5686425"/>
            <a:ext cx="5905500" cy="361950"/>
          </a:xfrm>
          <a:prstGeom prst="rect">
            <a:avLst/>
          </a:prstGeom>
          <a:noFill/>
          <a:ln w="0">
            <a:noFill/>
          </a:ln>
        </p:spPr>
        <p:txBody>
          <a:bodyPr lIns="0" tIns="0" rIns="0" bIns="0" anchor="t">
            <a:noAutofit/>
          </a:bodyPr>
          <a:lstStyle>
            <a:defPPr algn="l">
              <a:defRPr sz="1275" b="0">
                <a:solidFill>
                  <a:srgbClr val="111111"/>
                </a:solidFill>
                <a:latin typeface="Calibri"/>
                <a:ea typeface="Calibri"/>
                <a:cs typeface="Calibri"/>
              </a:defRPr>
            </a:defPPr>
          </a:lstStyle>
          <a:p>
            <a:pPr algn="l">
              <a:buNone/>
              <a:defRPr sz="1275" b="0">
                <a:solidFill>
                  <a:srgbClr val="111111"/>
                </a:solidFill>
                <a:latin typeface="Calibri"/>
                <a:ea typeface="Calibri"/>
                <a:cs typeface="Calibri"/>
              </a:defRPr>
            </a:pPr>
            <a:endParaRPr sz="1275" b="0" dirty="0">
              <a:solidFill>
                <a:srgbClr val="111111"/>
              </a:solidFill>
              <a:latin typeface="Calibri"/>
              <a:ea typeface="Calibri"/>
              <a:cs typeface="Calibri"/>
            </a:endParaRPr>
          </a:p>
        </p:txBody>
      </p:sp>
    </p:spTree>
    <p:extLst>
      <p:ext uri="{BB962C8B-B14F-4D97-AF65-F5344CB8AC3E}">
        <p14:creationId xmlns:p14="http://schemas.microsoft.com/office/powerpoint/2010/main" val="20800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7245F383-F51B-4A98-A4CF-9EDF29267CC2}"/>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Attribute Summary: Keys &amp; Dimensions</a:t>
            </a:r>
            <a:endParaRPr sz="2800"/>
          </a:p>
        </p:txBody>
      </p:sp>
      <p:sp>
        <p:nvSpPr>
          <p:cNvPr id="25" name="Slide Number Placeholder 0">
            <a:extLst>
              <a:ext uri="{FF2B5EF4-FFF2-40B4-BE49-F238E27FC236}">
                <a16:creationId xmlns:a16="http://schemas.microsoft.com/office/drawing/2014/main" id="{8AC1D8F4-740E-405F-A801-A853EA313474}"/>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6</a:t>
            </a:r>
          </a:p>
        </p:txBody>
      </p:sp>
      <p:graphicFrame>
        <p:nvGraphicFramePr>
          <p:cNvPr id="26" name="Table 25">
            <a:extLst>
              <a:ext uri="{FF2B5EF4-FFF2-40B4-BE49-F238E27FC236}">
                <a16:creationId xmlns:a16="http://schemas.microsoft.com/office/drawing/2014/main" id="{0B940EFC-9A8E-4ECD-AE5E-4EBA7F337057}"/>
              </a:ext>
            </a:extLst>
          </p:cNvPr>
          <p:cNvGraphicFramePr/>
          <p:nvPr/>
        </p:nvGraphicFramePr>
        <p:xfrm>
          <a:off x="552450" y="1495425"/>
          <a:ext cx="11068050" cy="4754880"/>
        </p:xfrm>
        <a:graphic>
          <a:graphicData uri="http://schemas.openxmlformats.org/drawingml/2006/table">
            <a:tbl>
              <a:tblPr/>
              <a:tblGrid>
                <a:gridCol w="40957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279797">
                <a:tc>
                  <a:txBody>
                    <a:bodyPr/>
                    <a:lstStyle/>
                    <a:p>
                      <a:r>
                        <a:rPr sz="1350" b="1">
                          <a:solidFill>
                            <a:srgbClr val="FFFFFF"/>
                          </a:solidFill>
                          <a:latin typeface="Calibri"/>
                          <a:ea typeface="Calibri"/>
                          <a:cs typeface="Calibri"/>
                        </a:rPr>
                        <a:t>Attribute</a:t>
                      </a:r>
                    </a:p>
                  </a:txBody>
                  <a:tcPr anchor="ctr">
                    <a:solidFill>
                      <a:srgbClr val="000000"/>
                    </a:solidFill>
                  </a:tcPr>
                </a:tc>
                <a:tc>
                  <a:txBody>
                    <a:bodyPr/>
                    <a:lstStyle/>
                    <a:p>
                      <a:r>
                        <a:rPr sz="1350" b="1">
                          <a:solidFill>
                            <a:srgbClr val="FFFFFF"/>
                          </a:solidFill>
                          <a:latin typeface="Calibri"/>
                          <a:ea typeface="Calibri"/>
                          <a:cs typeface="Calibri"/>
                        </a:rPr>
                        <a:t>Type</a:t>
                      </a:r>
                    </a:p>
                  </a:txBody>
                  <a:tcPr anchor="ctr">
                    <a:solidFill>
                      <a:srgbClr val="000000"/>
                    </a:solidFill>
                  </a:tcPr>
                </a:tc>
                <a:tc>
                  <a:txBody>
                    <a:bodyPr/>
                    <a:lstStyle/>
                    <a:p>
                      <a:r>
                        <a:rPr sz="1350" b="1">
                          <a:solidFill>
                            <a:srgbClr val="FFFFFF"/>
                          </a:solidFill>
                          <a:latin typeface="Calibri"/>
                          <a:ea typeface="Calibri"/>
                          <a:cs typeface="Calibri"/>
                        </a:rPr>
                        <a:t>Description</a:t>
                      </a:r>
                    </a:p>
                  </a:txBody>
                  <a:tcPr anchor="ctr">
                    <a:solidFill>
                      <a:srgbClr val="000000"/>
                    </a:solidFill>
                  </a:tcPr>
                </a:tc>
                <a:tc>
                  <a:txBody>
                    <a:bodyPr/>
                    <a:lstStyle/>
                    <a:p>
                      <a:r>
                        <a:rPr sz="1350" b="1">
                          <a:solidFill>
                            <a:srgbClr val="FFFFFF"/>
                          </a:solidFill>
                          <a:latin typeface="Calibri"/>
                          <a:ea typeface="Calibri"/>
                          <a:cs typeface="Calibri"/>
                        </a:rPr>
                        <a:t>Role in DW</a:t>
                      </a:r>
                    </a:p>
                  </a:txBody>
                  <a:tcPr anchor="ctr">
                    <a:solidFill>
                      <a:srgbClr val="000000"/>
                    </a:solidFill>
                  </a:tcPr>
                </a:tc>
                <a:extLst>
                  <a:ext uri="{0D108BD9-81ED-4DB2-BD59-A6C34878D82A}">
                    <a16:rowId xmlns:a16="http://schemas.microsoft.com/office/drawing/2014/main" val="10000"/>
                  </a:ext>
                </a:extLst>
              </a:tr>
              <a:tr h="279797">
                <a:tc>
                  <a:txBody>
                    <a:bodyPr/>
                    <a:lstStyle/>
                    <a:p>
                      <a:r>
                        <a:rPr sz="1350" b="0">
                          <a:solidFill>
                            <a:srgbClr val="111111"/>
                          </a:solidFill>
                          <a:latin typeface="Calibri"/>
                          <a:ea typeface="Calibri"/>
                          <a:cs typeface="Calibri"/>
                        </a:rPr>
                        <a:t>complaint_id</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Unique complaint identifier</a:t>
                      </a:r>
                    </a:p>
                  </a:txBody>
                  <a:tcPr anchor="ctr">
                    <a:solidFill>
                      <a:srgbClr val="FFFFFF"/>
                    </a:solidFill>
                  </a:tcPr>
                </a:tc>
                <a:tc>
                  <a:txBody>
                    <a:bodyPr/>
                    <a:lstStyle/>
                    <a:p>
                      <a:r>
                        <a:rPr sz="1350" b="0">
                          <a:solidFill>
                            <a:srgbClr val="111111"/>
                          </a:solidFill>
                          <a:latin typeface="Calibri"/>
                          <a:ea typeface="Calibri"/>
                          <a:cs typeface="Calibri"/>
                        </a:rPr>
                        <a:t>Key</a:t>
                      </a:r>
                    </a:p>
                  </a:txBody>
                  <a:tcPr anchor="ctr">
                    <a:solidFill>
                      <a:srgbClr val="FFFFFF"/>
                    </a:solidFill>
                  </a:tcPr>
                </a:tc>
                <a:extLst>
                  <a:ext uri="{0D108BD9-81ED-4DB2-BD59-A6C34878D82A}">
                    <a16:rowId xmlns:a16="http://schemas.microsoft.com/office/drawing/2014/main" val="10001"/>
                  </a:ext>
                </a:extLst>
              </a:tr>
              <a:tr h="279797">
                <a:tc>
                  <a:txBody>
                    <a:bodyPr/>
                    <a:lstStyle/>
                    <a:p>
                      <a:r>
                        <a:rPr sz="1350" b="0">
                          <a:solidFill>
                            <a:srgbClr val="111111"/>
                          </a:solidFill>
                          <a:latin typeface="Calibri"/>
                          <a:ea typeface="Calibri"/>
                          <a:cs typeface="Calibri"/>
                        </a:rPr>
                        <a:t>complaint_date</a:t>
                      </a:r>
                    </a:p>
                  </a:txBody>
                  <a:tcPr anchor="ctr">
                    <a:solidFill>
                      <a:srgbClr val="FFFFFF"/>
                    </a:solidFill>
                  </a:tcPr>
                </a:tc>
                <a:tc>
                  <a:txBody>
                    <a:bodyPr/>
                    <a:lstStyle/>
                    <a:p>
                      <a:r>
                        <a:rPr sz="1350" b="0">
                          <a:solidFill>
                            <a:srgbClr val="111111"/>
                          </a:solidFill>
                          <a:latin typeface="Calibri"/>
                          <a:ea typeface="Calibri"/>
                          <a:cs typeface="Calibri"/>
                        </a:rPr>
                        <a:t>Date</a:t>
                      </a:r>
                    </a:p>
                  </a:txBody>
                  <a:tcPr anchor="ctr">
                    <a:solidFill>
                      <a:srgbClr val="FFFFFF"/>
                    </a:solidFill>
                  </a:tcPr>
                </a:tc>
                <a:tc>
                  <a:txBody>
                    <a:bodyPr/>
                    <a:lstStyle/>
                    <a:p>
                      <a:r>
                        <a:rPr sz="1350" b="0">
                          <a:solidFill>
                            <a:srgbClr val="111111"/>
                          </a:solidFill>
                          <a:latin typeface="Calibri"/>
                          <a:ea typeface="Calibri"/>
                          <a:cs typeface="Calibri"/>
                        </a:rPr>
                        <a:t>Filing date</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2"/>
                  </a:ext>
                </a:extLst>
              </a:tr>
              <a:tr h="279797">
                <a:tc>
                  <a:txBody>
                    <a:bodyPr/>
                    <a:lstStyle/>
                    <a:p>
                      <a:r>
                        <a:rPr sz="1350" b="0">
                          <a:solidFill>
                            <a:srgbClr val="111111"/>
                          </a:solidFill>
                          <a:latin typeface="Calibri"/>
                          <a:ea typeface="Calibri"/>
                          <a:cs typeface="Calibri"/>
                        </a:rPr>
                        <a:t>year, month</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Filing year and month</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3"/>
                  </a:ext>
                </a:extLst>
              </a:tr>
              <a:tr h="279797">
                <a:tc>
                  <a:txBody>
                    <a:bodyPr/>
                    <a:lstStyle/>
                    <a:p>
                      <a:r>
                        <a:rPr sz="1350" b="0">
                          <a:solidFill>
                            <a:srgbClr val="111111"/>
                          </a:solidFill>
                          <a:latin typeface="Calibri"/>
                          <a:ea typeface="Calibri"/>
                          <a:cs typeface="Calibri"/>
                        </a:rPr>
                        <a:t>is_monsoon_season</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1 for June–September</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4"/>
                  </a:ext>
                </a:extLst>
              </a:tr>
              <a:tr h="279797">
                <a:tc>
                  <a:txBody>
                    <a:bodyPr/>
                    <a:lstStyle/>
                    <a:p>
                      <a:r>
                        <a:rPr sz="1350" b="0">
                          <a:solidFill>
                            <a:srgbClr val="111111"/>
                          </a:solidFill>
                          <a:latin typeface="Calibri"/>
                          <a:ea typeface="Calibri"/>
                          <a:cs typeface="Calibri"/>
                        </a:rPr>
                        <a:t>complaint_time_of_day</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Time band of filing</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5"/>
                  </a:ext>
                </a:extLst>
              </a:tr>
              <a:tr h="279797">
                <a:tc>
                  <a:txBody>
                    <a:bodyPr/>
                    <a:lstStyle/>
                    <a:p>
                      <a:r>
                        <a:rPr sz="1350" b="0">
                          <a:solidFill>
                            <a:srgbClr val="111111"/>
                          </a:solidFill>
                          <a:latin typeface="Calibri"/>
                          <a:ea typeface="Calibri"/>
                          <a:cs typeface="Calibri"/>
                        </a:rPr>
                        <a:t>ward_code, ward_area</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Ward code and locality</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6"/>
                  </a:ext>
                </a:extLst>
              </a:tr>
              <a:tr h="279797">
                <a:tc>
                  <a:txBody>
                    <a:bodyPr/>
                    <a:lstStyle/>
                    <a:p>
                      <a:r>
                        <a:rPr sz="1350" b="0">
                          <a:solidFill>
                            <a:srgbClr val="111111"/>
                          </a:solidFill>
                          <a:latin typeface="Calibri"/>
                          <a:ea typeface="Calibri"/>
                          <a:cs typeface="Calibri"/>
                        </a:rPr>
                        <a:t>zone, ward_type</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Administrative zone and sector</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7"/>
                  </a:ext>
                </a:extLst>
              </a:tr>
              <a:tr h="279797">
                <a:tc>
                  <a:txBody>
                    <a:bodyPr/>
                    <a:lstStyle/>
                    <a:p>
                      <a:r>
                        <a:rPr sz="1350" b="0">
                          <a:solidFill>
                            <a:srgbClr val="111111"/>
                          </a:solidFill>
                          <a:latin typeface="Calibri"/>
                          <a:ea typeface="Calibri"/>
                          <a:cs typeface="Calibri"/>
                        </a:rPr>
                        <a:t>population_density</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Population density class</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8"/>
                  </a:ext>
                </a:extLst>
              </a:tr>
              <a:tr h="279797">
                <a:tc>
                  <a:txBody>
                    <a:bodyPr/>
                    <a:lstStyle/>
                    <a:p>
                      <a:r>
                        <a:rPr sz="1350" b="0">
                          <a:solidFill>
                            <a:srgbClr val="111111"/>
                          </a:solidFill>
                          <a:latin typeface="Calibri"/>
                          <a:ea typeface="Calibri"/>
                          <a:cs typeface="Calibri"/>
                        </a:rPr>
                        <a:t>ward_slum_percentage</a:t>
                      </a:r>
                    </a:p>
                  </a:txBody>
                  <a:tcPr anchor="ctr">
                    <a:solidFill>
                      <a:srgbClr val="FFFFFF"/>
                    </a:solidFill>
                  </a:tcPr>
                </a:tc>
                <a:tc>
                  <a:txBody>
                    <a:bodyPr/>
                    <a:lstStyle/>
                    <a:p>
                      <a:r>
                        <a:rPr sz="1350" b="0">
                          <a:solidFill>
                            <a:srgbClr val="111111"/>
                          </a:solidFill>
                          <a:latin typeface="Calibri"/>
                          <a:ea typeface="Calibri"/>
                          <a:cs typeface="Calibri"/>
                        </a:rPr>
                        <a:t>Decimal</a:t>
                      </a:r>
                    </a:p>
                  </a:txBody>
                  <a:tcPr anchor="ctr">
                    <a:solidFill>
                      <a:srgbClr val="FFFFFF"/>
                    </a:solidFill>
                  </a:tcPr>
                </a:tc>
                <a:tc>
                  <a:txBody>
                    <a:bodyPr/>
                    <a:lstStyle/>
                    <a:p>
                      <a:r>
                        <a:rPr sz="1350" b="0">
                          <a:solidFill>
                            <a:srgbClr val="111111"/>
                          </a:solidFill>
                          <a:latin typeface="Calibri"/>
                          <a:ea typeface="Calibri"/>
                          <a:cs typeface="Calibri"/>
                        </a:rPr>
                        <a:t>Ward slum / chawl percentage</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09"/>
                  </a:ext>
                </a:extLst>
              </a:tr>
              <a:tr h="279797">
                <a:tc>
                  <a:txBody>
                    <a:bodyPr/>
                    <a:lstStyle/>
                    <a:p>
                      <a:r>
                        <a:rPr sz="1350" b="0">
                          <a:solidFill>
                            <a:srgbClr val="111111"/>
                          </a:solidFill>
                          <a:latin typeface="Calibri"/>
                          <a:ea typeface="Calibri"/>
                          <a:cs typeface="Calibri"/>
                        </a:rPr>
                        <a:t>complaint_category</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Civic complaint category</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10"/>
                  </a:ext>
                </a:extLst>
              </a:tr>
              <a:tr h="279797">
                <a:tc>
                  <a:txBody>
                    <a:bodyPr/>
                    <a:lstStyle/>
                    <a:p>
                      <a:r>
                        <a:rPr sz="1350" b="0">
                          <a:solidFill>
                            <a:srgbClr val="111111"/>
                          </a:solidFill>
                          <a:latin typeface="Calibri"/>
                          <a:ea typeface="Calibri"/>
                          <a:cs typeface="Calibri"/>
                        </a:rPr>
                        <a:t>department_assigned</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Responsible BMC department</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11"/>
                  </a:ext>
                </a:extLst>
              </a:tr>
              <a:tr h="279797">
                <a:tc>
                  <a:txBody>
                    <a:bodyPr/>
                    <a:lstStyle/>
                    <a:p>
                      <a:r>
                        <a:rPr sz="1350" b="0">
                          <a:solidFill>
                            <a:srgbClr val="111111"/>
                          </a:solidFill>
                          <a:latin typeface="Calibri"/>
                          <a:ea typeface="Calibri"/>
                          <a:cs typeface="Calibri"/>
                        </a:rPr>
                        <a:t>complaint_channel, severity</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Filing channel and severity</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12"/>
                  </a:ext>
                </a:extLst>
              </a:tr>
              <a:tr h="279797">
                <a:tc>
                  <a:txBody>
                    <a:bodyPr/>
                    <a:lstStyle/>
                    <a:p>
                      <a:r>
                        <a:rPr sz="1350" b="0">
                          <a:solidFill>
                            <a:srgbClr val="111111"/>
                          </a:solidFill>
                          <a:latin typeface="Calibri"/>
                          <a:ea typeface="Calibri"/>
                          <a:cs typeface="Calibri"/>
                        </a:rPr>
                        <a:t>complaint_status</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Final resolution status</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13"/>
                  </a:ext>
                </a:extLst>
              </a:tr>
              <a:tr h="279797">
                <a:tc>
                  <a:txBody>
                    <a:bodyPr/>
                    <a:lstStyle/>
                    <a:p>
                      <a:r>
                        <a:rPr sz="1350" b="0">
                          <a:solidFill>
                            <a:srgbClr val="111111"/>
                          </a:solidFill>
                          <a:latin typeface="Calibri"/>
                          <a:ea typeface="Calibri"/>
                          <a:cs typeface="Calibri"/>
                        </a:rPr>
                        <a:t>contractor_category, work_quality_rating</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Contractor class and repair quality</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14"/>
                  </a:ext>
                </a:extLst>
              </a:tr>
              <a:tr h="279797">
                <a:tc>
                  <a:txBody>
                    <a:bodyPr/>
                    <a:lstStyle/>
                    <a:p>
                      <a:r>
                        <a:rPr sz="1350" b="0">
                          <a:solidFill>
                            <a:srgbClr val="111111"/>
                          </a:solidFill>
                          <a:latin typeface="Calibri"/>
                          <a:ea typeface="Calibri"/>
                          <a:cs typeface="Calibri"/>
                        </a:rPr>
                        <a:t>complainant_type, property_type</a:t>
                      </a:r>
                    </a:p>
                  </a:txBody>
                  <a:tcPr anchor="ctr">
                    <a:solidFill>
                      <a:srgbClr val="FFFFFF"/>
                    </a:solidFill>
                  </a:tcPr>
                </a:tc>
                <a:tc>
                  <a:txBody>
                    <a:bodyPr/>
                    <a:lstStyle/>
                    <a:p>
                      <a:r>
                        <a:rPr sz="1350" b="0">
                          <a:solidFill>
                            <a:srgbClr val="111111"/>
                          </a:solidFill>
                          <a:latin typeface="Calibri"/>
                          <a:ea typeface="Calibri"/>
                          <a:cs typeface="Calibri"/>
                        </a:rPr>
                        <a:t>String</a:t>
                      </a:r>
                    </a:p>
                  </a:txBody>
                  <a:tcPr anchor="ctr">
                    <a:solidFill>
                      <a:srgbClr val="FFFFFF"/>
                    </a:solidFill>
                  </a:tcPr>
                </a:tc>
                <a:tc>
                  <a:txBody>
                    <a:bodyPr/>
                    <a:lstStyle/>
                    <a:p>
                      <a:r>
                        <a:rPr sz="1350" b="0">
                          <a:solidFill>
                            <a:srgbClr val="111111"/>
                          </a:solidFill>
                          <a:latin typeface="Calibri"/>
                          <a:ea typeface="Calibri"/>
                          <a:cs typeface="Calibri"/>
                        </a:rPr>
                        <a:t>Submitter and property categories</a:t>
                      </a:r>
                    </a:p>
                  </a:txBody>
                  <a:tcPr anchor="ctr">
                    <a:solidFill>
                      <a:srgbClr val="FFFFFF"/>
                    </a:solidFill>
                  </a:tcPr>
                </a:tc>
                <a:tc>
                  <a:txBody>
                    <a:bodyPr/>
                    <a:lstStyle/>
                    <a:p>
                      <a:r>
                        <a:rPr sz="1350" b="0">
                          <a:solidFill>
                            <a:srgbClr val="111111"/>
                          </a:solidFill>
                          <a:latin typeface="Calibri"/>
                          <a:ea typeface="Calibri"/>
                          <a:cs typeface="Calibri"/>
                        </a:rPr>
                        <a:t>Dimension</a:t>
                      </a:r>
                    </a:p>
                  </a:txBody>
                  <a:tcPr anchor="ctr">
                    <a:solidFill>
                      <a:srgbClr val="FFFFFF"/>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714117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7245F383-F51B-4A98-A4CF-9EDF29267CC2}"/>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Attribute Summary: Measures &amp; Flags</a:t>
            </a:r>
            <a:endParaRPr sz="2800"/>
          </a:p>
        </p:txBody>
      </p:sp>
      <p:sp>
        <p:nvSpPr>
          <p:cNvPr id="25" name="Slide Number Placeholder 0">
            <a:extLst>
              <a:ext uri="{FF2B5EF4-FFF2-40B4-BE49-F238E27FC236}">
                <a16:creationId xmlns:a16="http://schemas.microsoft.com/office/drawing/2014/main" id="{8AC1D8F4-740E-405F-A801-A853EA313474}"/>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7</a:t>
            </a:r>
          </a:p>
        </p:txBody>
      </p:sp>
      <p:graphicFrame>
        <p:nvGraphicFramePr>
          <p:cNvPr id="26" name="Table 25">
            <a:extLst>
              <a:ext uri="{FF2B5EF4-FFF2-40B4-BE49-F238E27FC236}">
                <a16:creationId xmlns:a16="http://schemas.microsoft.com/office/drawing/2014/main" id="{A08D4BC2-7637-49F2-9AC0-6B23BD30A45E}"/>
              </a:ext>
            </a:extLst>
          </p:cNvPr>
          <p:cNvGraphicFramePr/>
          <p:nvPr/>
        </p:nvGraphicFramePr>
        <p:xfrm>
          <a:off x="552450" y="1495425"/>
          <a:ext cx="11068050" cy="4476745"/>
        </p:xfrm>
        <a:graphic>
          <a:graphicData uri="http://schemas.openxmlformats.org/drawingml/2006/table">
            <a:tbl>
              <a:tblPr/>
              <a:tblGrid>
                <a:gridCol w="40957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44365">
                <a:tc>
                  <a:txBody>
                    <a:bodyPr/>
                    <a:lstStyle/>
                    <a:p>
                      <a:r>
                        <a:rPr sz="1350" b="1">
                          <a:solidFill>
                            <a:srgbClr val="FFFFFF"/>
                          </a:solidFill>
                          <a:latin typeface="Calibri"/>
                          <a:ea typeface="Calibri"/>
                          <a:cs typeface="Calibri"/>
                        </a:rPr>
                        <a:t>Attribute</a:t>
                      </a:r>
                    </a:p>
                  </a:txBody>
                  <a:tcPr anchor="ctr">
                    <a:solidFill>
                      <a:srgbClr val="000000"/>
                    </a:solidFill>
                  </a:tcPr>
                </a:tc>
                <a:tc>
                  <a:txBody>
                    <a:bodyPr/>
                    <a:lstStyle/>
                    <a:p>
                      <a:r>
                        <a:rPr sz="1350" b="1">
                          <a:solidFill>
                            <a:srgbClr val="FFFFFF"/>
                          </a:solidFill>
                          <a:latin typeface="Calibri"/>
                          <a:ea typeface="Calibri"/>
                          <a:cs typeface="Calibri"/>
                        </a:rPr>
                        <a:t>Type</a:t>
                      </a:r>
                    </a:p>
                  </a:txBody>
                  <a:tcPr anchor="ctr">
                    <a:solidFill>
                      <a:srgbClr val="000000"/>
                    </a:solidFill>
                  </a:tcPr>
                </a:tc>
                <a:tc>
                  <a:txBody>
                    <a:bodyPr/>
                    <a:lstStyle/>
                    <a:p>
                      <a:r>
                        <a:rPr sz="1350" b="1">
                          <a:solidFill>
                            <a:srgbClr val="FFFFFF"/>
                          </a:solidFill>
                          <a:latin typeface="Calibri"/>
                          <a:ea typeface="Calibri"/>
                          <a:cs typeface="Calibri"/>
                        </a:rPr>
                        <a:t>Description</a:t>
                      </a:r>
                    </a:p>
                  </a:txBody>
                  <a:tcPr anchor="ctr">
                    <a:solidFill>
                      <a:srgbClr val="000000"/>
                    </a:solidFill>
                  </a:tcPr>
                </a:tc>
                <a:tc>
                  <a:txBody>
                    <a:bodyPr/>
                    <a:lstStyle/>
                    <a:p>
                      <a:r>
                        <a:rPr sz="1350" b="1">
                          <a:solidFill>
                            <a:srgbClr val="FFFFFF"/>
                          </a:solidFill>
                          <a:latin typeface="Calibri"/>
                          <a:ea typeface="Calibri"/>
                          <a:cs typeface="Calibri"/>
                        </a:rPr>
                        <a:t>Role in DW</a:t>
                      </a:r>
                    </a:p>
                  </a:txBody>
                  <a:tcPr anchor="ctr">
                    <a:solidFill>
                      <a:srgbClr val="000000"/>
                    </a:solidFill>
                  </a:tcPr>
                </a:tc>
                <a:extLst>
                  <a:ext uri="{0D108BD9-81ED-4DB2-BD59-A6C34878D82A}">
                    <a16:rowId xmlns:a16="http://schemas.microsoft.com/office/drawing/2014/main" val="10000"/>
                  </a:ext>
                </a:extLst>
              </a:tr>
              <a:tr h="344365">
                <a:tc>
                  <a:txBody>
                    <a:bodyPr/>
                    <a:lstStyle/>
                    <a:p>
                      <a:r>
                        <a:rPr sz="1350" b="0">
                          <a:solidFill>
                            <a:srgbClr val="111111"/>
                          </a:solidFill>
                          <a:latin typeface="Calibri"/>
                          <a:ea typeface="Calibri"/>
                          <a:cs typeface="Calibri"/>
                        </a:rPr>
                        <a:t>resolution_days</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Days taken to resolve</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1"/>
                  </a:ext>
                </a:extLst>
              </a:tr>
              <a:tr h="344365">
                <a:tc>
                  <a:txBody>
                    <a:bodyPr/>
                    <a:lstStyle/>
                    <a:p>
                      <a:r>
                        <a:rPr sz="1350" b="0">
                          <a:solidFill>
                            <a:srgbClr val="111111"/>
                          </a:solidFill>
                          <a:latin typeface="Calibri"/>
                          <a:ea typeface="Calibri"/>
                          <a:cs typeface="Calibri"/>
                        </a:rPr>
                        <a:t>estimated_cost_inr</a:t>
                      </a:r>
                    </a:p>
                  </a:txBody>
                  <a:tcPr anchor="ctr">
                    <a:solidFill>
                      <a:srgbClr val="FFFFFF"/>
                    </a:solidFill>
                  </a:tcPr>
                </a:tc>
                <a:tc>
                  <a:txBody>
                    <a:bodyPr/>
                    <a:lstStyle/>
                    <a:p>
                      <a:r>
                        <a:rPr sz="1350" b="0">
                          <a:solidFill>
                            <a:srgbClr val="111111"/>
                          </a:solidFill>
                          <a:latin typeface="Calibri"/>
                          <a:ea typeface="Calibri"/>
                          <a:cs typeface="Calibri"/>
                        </a:rPr>
                        <a:t>Decimal</a:t>
                      </a:r>
                    </a:p>
                  </a:txBody>
                  <a:tcPr anchor="ctr">
                    <a:solidFill>
                      <a:srgbClr val="FFFFFF"/>
                    </a:solidFill>
                  </a:tcPr>
                </a:tc>
                <a:tc>
                  <a:txBody>
                    <a:bodyPr/>
                    <a:lstStyle/>
                    <a:p>
                      <a:r>
                        <a:rPr sz="1350" b="0">
                          <a:solidFill>
                            <a:srgbClr val="111111"/>
                          </a:solidFill>
                          <a:latin typeface="Calibri"/>
                          <a:ea typeface="Calibri"/>
                          <a:cs typeface="Calibri"/>
                        </a:rPr>
                        <a:t>Estimated cost in INR</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2"/>
                  </a:ext>
                </a:extLst>
              </a:tr>
              <a:tr h="344365">
                <a:tc>
                  <a:txBody>
                    <a:bodyPr/>
                    <a:lstStyle/>
                    <a:p>
                      <a:r>
                        <a:rPr sz="1350" b="0">
                          <a:solidFill>
                            <a:srgbClr val="111111"/>
                          </a:solidFill>
                          <a:latin typeface="Calibri"/>
                          <a:ea typeface="Calibri"/>
                          <a:cs typeface="Calibri"/>
                        </a:rPr>
                        <a:t>num_reassignments</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Times reassigned between departments</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3"/>
                  </a:ext>
                </a:extLst>
              </a:tr>
              <a:tr h="344365">
                <a:tc>
                  <a:txBody>
                    <a:bodyPr/>
                    <a:lstStyle/>
                    <a:p>
                      <a:r>
                        <a:rPr sz="1350" b="0">
                          <a:solidFill>
                            <a:srgbClr val="111111"/>
                          </a:solidFill>
                          <a:latin typeface="Calibri"/>
                          <a:ea typeface="Calibri"/>
                          <a:cs typeface="Calibri"/>
                        </a:rPr>
                        <a:t>prior_complaints_count</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Complainant's prior complaints</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4"/>
                  </a:ext>
                </a:extLst>
              </a:tr>
              <a:tr h="344365">
                <a:tc>
                  <a:txBody>
                    <a:bodyPr/>
                    <a:lstStyle/>
                    <a:p>
                      <a:r>
                        <a:rPr sz="1350" b="0">
                          <a:solidFill>
                            <a:srgbClr val="111111"/>
                          </a:solidFill>
                          <a:latin typeface="Calibri"/>
                          <a:ea typeface="Calibri"/>
                          <a:cs typeface="Calibri"/>
                        </a:rPr>
                        <a:t>infrastructure_age_years</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Age of affected infrastructure</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5"/>
                  </a:ext>
                </a:extLst>
              </a:tr>
              <a:tr h="344365">
                <a:tc>
                  <a:txBody>
                    <a:bodyPr/>
                    <a:lstStyle/>
                    <a:p>
                      <a:r>
                        <a:rPr sz="1350" b="0">
                          <a:solidFill>
                            <a:srgbClr val="111111"/>
                          </a:solidFill>
                          <a:latin typeface="Calibri"/>
                          <a:ea typeface="Calibri"/>
                          <a:cs typeface="Calibri"/>
                        </a:rPr>
                        <a:t>months_since_last_maintained</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Months since maintenance</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6"/>
                  </a:ext>
                </a:extLst>
              </a:tr>
              <a:tr h="344365">
                <a:tc>
                  <a:txBody>
                    <a:bodyPr/>
                    <a:lstStyle/>
                    <a:p>
                      <a:r>
                        <a:rPr sz="1350" b="0">
                          <a:solidFill>
                            <a:srgbClr val="111111"/>
                          </a:solidFill>
                          <a:latin typeface="Calibri"/>
                          <a:ea typeface="Calibri"/>
                          <a:cs typeface="Calibri"/>
                        </a:rPr>
                        <a:t>citizen_satisfied</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Satisfaction outcome (1 / 0)</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07"/>
                  </a:ext>
                </a:extLst>
              </a:tr>
              <a:tr h="344365">
                <a:tc>
                  <a:txBody>
                    <a:bodyPr/>
                    <a:lstStyle/>
                    <a:p>
                      <a:r>
                        <a:rPr sz="1350" b="0">
                          <a:solidFill>
                            <a:srgbClr val="111111"/>
                          </a:solidFill>
                          <a:latin typeface="Calibri"/>
                          <a:ea typeface="Calibri"/>
                          <a:cs typeface="Calibri"/>
                        </a:rPr>
                        <a:t>has_photo_evidence, has_gps_location</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Evidence and location flags</a:t>
                      </a:r>
                    </a:p>
                  </a:txBody>
                  <a:tcPr anchor="ctr">
                    <a:solidFill>
                      <a:srgbClr val="FFFFFF"/>
                    </a:solidFill>
                  </a:tcPr>
                </a:tc>
                <a:tc>
                  <a:txBody>
                    <a:bodyPr/>
                    <a:lstStyle/>
                    <a:p>
                      <a:r>
                        <a:rPr sz="1350" b="0">
                          <a:solidFill>
                            <a:srgbClr val="111111"/>
                          </a:solidFill>
                          <a:latin typeface="Calibri"/>
                          <a:ea typeface="Calibri"/>
                          <a:cs typeface="Calibri"/>
                        </a:rPr>
                        <a:t>Fact flags</a:t>
                      </a:r>
                    </a:p>
                  </a:txBody>
                  <a:tcPr anchor="ctr">
                    <a:solidFill>
                      <a:srgbClr val="FFFFFF"/>
                    </a:solidFill>
                  </a:tcPr>
                </a:tc>
                <a:extLst>
                  <a:ext uri="{0D108BD9-81ED-4DB2-BD59-A6C34878D82A}">
                    <a16:rowId xmlns:a16="http://schemas.microsoft.com/office/drawing/2014/main" val="10008"/>
                  </a:ext>
                </a:extLst>
              </a:tr>
              <a:tr h="344365">
                <a:tc>
                  <a:txBody>
                    <a:bodyPr/>
                    <a:lstStyle/>
                    <a:p>
                      <a:r>
                        <a:rPr sz="1350" b="0">
                          <a:solidFill>
                            <a:srgbClr val="111111"/>
                          </a:solidFill>
                          <a:latin typeface="Calibri"/>
                          <a:ea typeface="Calibri"/>
                          <a:cs typeface="Calibri"/>
                        </a:rPr>
                        <a:t>media_attention, politically_sensitive</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Attention and sensitivity flags</a:t>
                      </a:r>
                    </a:p>
                  </a:txBody>
                  <a:tcPr anchor="ctr">
                    <a:solidFill>
                      <a:srgbClr val="FFFFFF"/>
                    </a:solidFill>
                  </a:tcPr>
                </a:tc>
                <a:tc>
                  <a:txBody>
                    <a:bodyPr/>
                    <a:lstStyle/>
                    <a:p>
                      <a:r>
                        <a:rPr sz="1350" b="0">
                          <a:solidFill>
                            <a:srgbClr val="111111"/>
                          </a:solidFill>
                          <a:latin typeface="Calibri"/>
                          <a:ea typeface="Calibri"/>
                          <a:cs typeface="Calibri"/>
                        </a:rPr>
                        <a:t>Fact flags</a:t>
                      </a:r>
                    </a:p>
                  </a:txBody>
                  <a:tcPr anchor="ctr">
                    <a:solidFill>
                      <a:srgbClr val="FFFFFF"/>
                    </a:solidFill>
                  </a:tcPr>
                </a:tc>
                <a:extLst>
                  <a:ext uri="{0D108BD9-81ED-4DB2-BD59-A6C34878D82A}">
                    <a16:rowId xmlns:a16="http://schemas.microsoft.com/office/drawing/2014/main" val="10009"/>
                  </a:ext>
                </a:extLst>
              </a:tr>
              <a:tr h="344365">
                <a:tc>
                  <a:txBody>
                    <a:bodyPr/>
                    <a:lstStyle/>
                    <a:p>
                      <a:r>
                        <a:rPr sz="1350" b="0">
                          <a:solidFill>
                            <a:srgbClr val="111111"/>
                          </a:solidFill>
                          <a:latin typeface="Calibri"/>
                          <a:ea typeface="Calibri"/>
                          <a:cs typeface="Calibri"/>
                        </a:rPr>
                        <a:t>repeat_complainant</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Repeat complainant flag</a:t>
                      </a:r>
                    </a:p>
                  </a:txBody>
                  <a:tcPr anchor="ctr">
                    <a:solidFill>
                      <a:srgbClr val="FFFFFF"/>
                    </a:solidFill>
                  </a:tcPr>
                </a:tc>
                <a:tc>
                  <a:txBody>
                    <a:bodyPr/>
                    <a:lstStyle/>
                    <a:p>
                      <a:r>
                        <a:rPr sz="1350" b="0">
                          <a:solidFill>
                            <a:srgbClr val="111111"/>
                          </a:solidFill>
                          <a:latin typeface="Calibri"/>
                          <a:ea typeface="Calibri"/>
                          <a:cs typeface="Calibri"/>
                        </a:rPr>
                        <a:t>Fact flag</a:t>
                      </a:r>
                    </a:p>
                  </a:txBody>
                  <a:tcPr anchor="ctr">
                    <a:solidFill>
                      <a:srgbClr val="FFFFFF"/>
                    </a:solidFill>
                  </a:tcPr>
                </a:tc>
                <a:extLst>
                  <a:ext uri="{0D108BD9-81ED-4DB2-BD59-A6C34878D82A}">
                    <a16:rowId xmlns:a16="http://schemas.microsoft.com/office/drawing/2014/main" val="10010"/>
                  </a:ext>
                </a:extLst>
              </a:tr>
              <a:tr h="344365">
                <a:tc>
                  <a:txBody>
                    <a:bodyPr/>
                    <a:lstStyle/>
                    <a:p>
                      <a:r>
                        <a:rPr sz="1350" b="0">
                          <a:solidFill>
                            <a:srgbClr val="111111"/>
                          </a:solidFill>
                          <a:latin typeface="Calibri"/>
                          <a:ea typeface="Calibri"/>
                          <a:cs typeface="Calibri"/>
                        </a:rPr>
                        <a:t>site_inspected, defect_liability_claim</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Inspection and liability flags</a:t>
                      </a:r>
                    </a:p>
                  </a:txBody>
                  <a:tcPr anchor="ctr">
                    <a:solidFill>
                      <a:srgbClr val="FFFFFF"/>
                    </a:solidFill>
                  </a:tcPr>
                </a:tc>
                <a:tc>
                  <a:txBody>
                    <a:bodyPr/>
                    <a:lstStyle/>
                    <a:p>
                      <a:r>
                        <a:rPr sz="1350" b="0">
                          <a:solidFill>
                            <a:srgbClr val="111111"/>
                          </a:solidFill>
                          <a:latin typeface="Calibri"/>
                          <a:ea typeface="Calibri"/>
                          <a:cs typeface="Calibri"/>
                        </a:rPr>
                        <a:t>Fact flags</a:t>
                      </a:r>
                    </a:p>
                  </a:txBody>
                  <a:tcPr anchor="ctr">
                    <a:solidFill>
                      <a:srgbClr val="FFFFFF"/>
                    </a:solidFill>
                  </a:tcPr>
                </a:tc>
                <a:extLst>
                  <a:ext uri="{0D108BD9-81ED-4DB2-BD59-A6C34878D82A}">
                    <a16:rowId xmlns:a16="http://schemas.microsoft.com/office/drawing/2014/main" val="10011"/>
                  </a:ext>
                </a:extLst>
              </a:tr>
              <a:tr h="344365">
                <a:tc>
                  <a:txBody>
                    <a:bodyPr/>
                    <a:lstStyle/>
                    <a:p>
                      <a:r>
                        <a:rPr sz="1350" b="0">
                          <a:solidFill>
                            <a:srgbClr val="111111"/>
                          </a:solidFill>
                          <a:latin typeface="Calibri"/>
                          <a:ea typeface="Calibri"/>
                          <a:cs typeface="Calibri"/>
                        </a:rPr>
                        <a:t>complaint_count (derived)</a:t>
                      </a:r>
                    </a:p>
                  </a:txBody>
                  <a:tcPr anchor="ctr">
                    <a:solidFill>
                      <a:srgbClr val="FFFFFF"/>
                    </a:solidFill>
                  </a:tcPr>
                </a:tc>
                <a:tc>
                  <a:txBody>
                    <a:bodyPr/>
                    <a:lstStyle/>
                    <a:p>
                      <a:r>
                        <a:rPr sz="1350" b="0">
                          <a:solidFill>
                            <a:srgbClr val="111111"/>
                          </a:solidFill>
                          <a:latin typeface="Calibri"/>
                          <a:ea typeface="Calibri"/>
                          <a:cs typeface="Calibri"/>
                        </a:rPr>
                        <a:t>Integer</a:t>
                      </a:r>
                    </a:p>
                  </a:txBody>
                  <a:tcPr anchor="ctr">
                    <a:solidFill>
                      <a:srgbClr val="FFFFFF"/>
                    </a:solidFill>
                  </a:tcPr>
                </a:tc>
                <a:tc>
                  <a:txBody>
                    <a:bodyPr/>
                    <a:lstStyle/>
                    <a:p>
                      <a:r>
                        <a:rPr sz="1350" b="0">
                          <a:solidFill>
                            <a:srgbClr val="111111"/>
                          </a:solidFill>
                          <a:latin typeface="Calibri"/>
                          <a:ea typeface="Calibri"/>
                          <a:cs typeface="Calibri"/>
                        </a:rPr>
                        <a:t>Constant 1 per complaint</a:t>
                      </a:r>
                    </a:p>
                  </a:txBody>
                  <a:tcPr anchor="ctr">
                    <a:solidFill>
                      <a:srgbClr val="FFFFFF"/>
                    </a:solidFill>
                  </a:tcPr>
                </a:tc>
                <a:tc>
                  <a:txBody>
                    <a:bodyPr/>
                    <a:lstStyle/>
                    <a:p>
                      <a:r>
                        <a:rPr sz="1350" b="0">
                          <a:solidFill>
                            <a:srgbClr val="111111"/>
                          </a:solidFill>
                          <a:latin typeface="Calibri"/>
                          <a:ea typeface="Calibri"/>
                          <a:cs typeface="Calibri"/>
                        </a:rPr>
                        <a:t>Measure</a:t>
                      </a:r>
                    </a:p>
                  </a:txBody>
                  <a:tcPr anchor="ctr">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714117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F8259907-5D9E-4C93-925F-3ECC5AEB53D2}"/>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Data Warehouse — Star Schema</a:t>
            </a:r>
            <a:endParaRPr sz="2800"/>
          </a:p>
        </p:txBody>
      </p:sp>
      <p:sp>
        <p:nvSpPr>
          <p:cNvPr id="3" name="Link 1">
            <a:extLst>
              <a:ext uri="{FF2B5EF4-FFF2-40B4-BE49-F238E27FC236}">
                <a16:creationId xmlns:a16="http://schemas.microsoft.com/office/drawing/2014/main" id="{93FACD4B-5ABB-4E9A-A89C-F06D7CCFD01C}"/>
              </a:ext>
            </a:extLst>
          </p:cNvPr>
          <p:cNvSpPr>
            <a:spLocks noGrp="1"/>
          </p:cNvSpPr>
          <p:nvPr/>
        </p:nvSpPr>
        <p:spPr>
          <a:xfrm>
            <a:off x="2468880" y="2148840"/>
            <a:ext cx="3630168" cy="1737360"/>
          </a:xfrm>
          <a:prstGeom prst="line">
            <a:avLst/>
          </a:prstGeom>
          <a:noFill/>
          <a:ln w="19050">
            <a:solidFill>
              <a:schemeClr val="accent6"/>
            </a:solidFill>
            <a:prstDash val="solid"/>
          </a:ln>
        </p:spPr>
      </p:sp>
      <p:sp>
        <p:nvSpPr>
          <p:cNvPr id="4" name="Link 2">
            <a:extLst>
              <a:ext uri="{FF2B5EF4-FFF2-40B4-BE49-F238E27FC236}">
                <a16:creationId xmlns:a16="http://schemas.microsoft.com/office/drawing/2014/main" id="{C28F6219-48B4-40D6-9523-B5E0E4FB46B1}"/>
              </a:ext>
            </a:extLst>
          </p:cNvPr>
          <p:cNvSpPr>
            <a:spLocks noGrp="1"/>
          </p:cNvSpPr>
          <p:nvPr/>
        </p:nvSpPr>
        <p:spPr>
          <a:xfrm flipV="1">
            <a:off x="6099048" y="2148840"/>
            <a:ext cx="3621024" cy="1737360"/>
          </a:xfrm>
          <a:prstGeom prst="line">
            <a:avLst/>
          </a:prstGeom>
          <a:noFill/>
          <a:ln w="19050">
            <a:solidFill>
              <a:schemeClr val="accent6"/>
            </a:solidFill>
            <a:prstDash val="solid"/>
          </a:ln>
        </p:spPr>
      </p:sp>
      <p:sp>
        <p:nvSpPr>
          <p:cNvPr id="5" name="Link 3">
            <a:extLst>
              <a:ext uri="{FF2B5EF4-FFF2-40B4-BE49-F238E27FC236}">
                <a16:creationId xmlns:a16="http://schemas.microsoft.com/office/drawing/2014/main" id="{73BBB702-1FE9-47C3-86B2-C99CAF556BE9}"/>
              </a:ext>
            </a:extLst>
          </p:cNvPr>
          <p:cNvSpPr>
            <a:spLocks noGrp="1"/>
          </p:cNvSpPr>
          <p:nvPr/>
        </p:nvSpPr>
        <p:spPr>
          <a:xfrm flipV="1">
            <a:off x="2468880" y="3886200"/>
            <a:ext cx="3630168" cy="1463040"/>
          </a:xfrm>
          <a:prstGeom prst="line">
            <a:avLst/>
          </a:prstGeom>
          <a:noFill/>
          <a:ln w="19050">
            <a:solidFill>
              <a:schemeClr val="accent6"/>
            </a:solidFill>
            <a:prstDash val="solid"/>
          </a:ln>
        </p:spPr>
      </p:sp>
      <p:sp>
        <p:nvSpPr>
          <p:cNvPr id="6" name="Link 4">
            <a:extLst>
              <a:ext uri="{FF2B5EF4-FFF2-40B4-BE49-F238E27FC236}">
                <a16:creationId xmlns:a16="http://schemas.microsoft.com/office/drawing/2014/main" id="{C33EE2B2-2AFE-4B47-8A68-92C4578607D2}"/>
              </a:ext>
            </a:extLst>
          </p:cNvPr>
          <p:cNvSpPr>
            <a:spLocks noGrp="1"/>
          </p:cNvSpPr>
          <p:nvPr/>
        </p:nvSpPr>
        <p:spPr>
          <a:xfrm>
            <a:off x="6099048" y="3886200"/>
            <a:ext cx="3621024" cy="1463040"/>
          </a:xfrm>
          <a:prstGeom prst="line">
            <a:avLst/>
          </a:prstGeom>
          <a:noFill/>
          <a:ln w="19050">
            <a:solidFill>
              <a:schemeClr val="accent6"/>
            </a:solidFill>
            <a:prstDash val="solid"/>
          </a:ln>
        </p:spPr>
      </p:sp>
      <p:sp>
        <p:nvSpPr>
          <p:cNvPr id="7" name="Fact table">
            <a:extLst>
              <a:ext uri="{FF2B5EF4-FFF2-40B4-BE49-F238E27FC236}">
                <a16:creationId xmlns:a16="http://schemas.microsoft.com/office/drawing/2014/main" id="{F1DEBDD6-14B3-4664-B7D1-5E8536DEFA2A}"/>
              </a:ext>
            </a:extLst>
          </p:cNvPr>
          <p:cNvSpPr>
            <a:spLocks noGrp="1"/>
          </p:cNvSpPr>
          <p:nvPr/>
        </p:nvSpPr>
        <p:spPr>
          <a:xfrm>
            <a:off x="4727448" y="3017520"/>
            <a:ext cx="2743200" cy="1737360"/>
          </a:xfrm>
          <a:prstGeom prst="roundRect">
            <a:avLst>
              <a:gd name="adj" fmla="val 4211"/>
            </a:avLst>
          </a:prstGeom>
          <a:solidFill>
            <a:schemeClr val="tx2"/>
          </a:solidFill>
          <a:ln w="12700">
            <a:solidFill>
              <a:schemeClr val="tx2"/>
            </a:solidFill>
            <a:prstDash val="solid"/>
          </a:ln>
        </p:spPr>
      </p:sp>
      <p:sp>
        <p:nvSpPr>
          <p:cNvPr id="8" name="Fact table text">
            <a:extLst>
              <a:ext uri="{FF2B5EF4-FFF2-40B4-BE49-F238E27FC236}">
                <a16:creationId xmlns:a16="http://schemas.microsoft.com/office/drawing/2014/main" id="{B2291303-F0FE-4998-A21C-2ED257694D5A}"/>
              </a:ext>
            </a:extLst>
          </p:cNvPr>
          <p:cNvSpPr>
            <a:spLocks noGrp="1"/>
          </p:cNvSpPr>
          <p:nvPr/>
        </p:nvSpPr>
        <p:spPr>
          <a:xfrm>
            <a:off x="4864608" y="3017520"/>
            <a:ext cx="2468880" cy="1737360"/>
          </a:xfrm>
          <a:prstGeom prst="rect">
            <a:avLst/>
          </a:prstGeom>
          <a:noFill/>
        </p:spPr>
        <p:txBody>
          <a:bodyPr wrap="square" lIns="0" tIns="0" rIns="0" bIns="0" anchor="ctr"/>
          <a:lstStyle>
            <a:defPPr>
              <a:defRPr sz="1425"/>
            </a:defPPr>
          </a:lstStyle>
          <a:p>
            <a:pPr marL="0" indent="0" algn="ctr">
              <a:buNone/>
              <a:defRPr sz="1425"/>
            </a:pPr>
            <a:r>
              <a:rPr sz="1425" b="1">
                <a:solidFill>
                  <a:schemeClr val="bg1"/>
                </a:solidFill>
              </a:rPr>
              <a:t>FACT_COMPLAINT</a:t>
            </a:r>
            <a:endParaRPr sz="1400"/>
          </a:p>
          <a:p>
            <a:pPr marL="0" indent="0" algn="ctr">
              <a:buNone/>
              <a:defRPr sz="1425"/>
            </a:pPr>
            <a:r>
              <a:rPr sz="1425">
                <a:solidFill>
                  <a:schemeClr val="bg1"/>
                </a:solidFill>
              </a:rPr>
              <a:t>complaint_key (PK)</a:t>
            </a:r>
            <a:endParaRPr sz="1400"/>
          </a:p>
          <a:p>
            <a:pPr marL="0" indent="0" algn="ctr">
              <a:buNone/>
              <a:defRPr sz="1425"/>
            </a:pPr>
            <a:r>
              <a:rPr sz="1425">
                <a:solidFill>
                  <a:schemeClr val="bg1"/>
                </a:solidFill>
              </a:rPr>
              <a:t>4 dimension keys (FK)</a:t>
            </a:r>
            <a:endParaRPr sz="1400"/>
          </a:p>
          <a:p>
            <a:pPr marL="0" indent="0" algn="ctr">
              <a:buNone/>
              <a:defRPr sz="1425"/>
            </a:pPr>
            <a:r>
              <a:rPr sz="1425">
                <a:solidFill>
                  <a:schemeClr val="bg1"/>
                </a:solidFill>
              </a:rPr>
              <a:t>count, days, cost, satisfaction</a:t>
            </a:r>
            <a:endParaRPr sz="1400"/>
          </a:p>
        </p:txBody>
      </p:sp>
      <p:sp>
        <p:nvSpPr>
          <p:cNvPr id="9" name="Dim time">
            <a:extLst>
              <a:ext uri="{FF2B5EF4-FFF2-40B4-BE49-F238E27FC236}">
                <a16:creationId xmlns:a16="http://schemas.microsoft.com/office/drawing/2014/main" id="{61C5F8B6-4F2A-4F86-8A1E-B5DEB5193E43}"/>
              </a:ext>
            </a:extLst>
          </p:cNvPr>
          <p:cNvSpPr>
            <a:spLocks noGrp="1"/>
          </p:cNvSpPr>
          <p:nvPr/>
        </p:nvSpPr>
        <p:spPr>
          <a:xfrm>
            <a:off x="1097280" y="1554480"/>
            <a:ext cx="2743200" cy="1188720"/>
          </a:xfrm>
          <a:prstGeom prst="roundRect">
            <a:avLst>
              <a:gd name="adj" fmla="val 6154"/>
            </a:avLst>
          </a:prstGeom>
          <a:solidFill>
            <a:schemeClr val="accent1"/>
          </a:solidFill>
          <a:ln w="12700">
            <a:solidFill>
              <a:schemeClr val="accent1"/>
            </a:solidFill>
            <a:prstDash val="solid"/>
          </a:ln>
        </p:spPr>
      </p:sp>
      <p:sp>
        <p:nvSpPr>
          <p:cNvPr id="10" name="Dim time text">
            <a:extLst>
              <a:ext uri="{FF2B5EF4-FFF2-40B4-BE49-F238E27FC236}">
                <a16:creationId xmlns:a16="http://schemas.microsoft.com/office/drawing/2014/main" id="{2C3DBFF8-73FE-4C1D-91D9-62C7A793747C}"/>
              </a:ext>
            </a:extLst>
          </p:cNvPr>
          <p:cNvSpPr>
            <a:spLocks noGrp="1"/>
          </p:cNvSpPr>
          <p:nvPr/>
        </p:nvSpPr>
        <p:spPr>
          <a:xfrm>
            <a:off x="1234440" y="1554480"/>
            <a:ext cx="2468880" cy="1188720"/>
          </a:xfrm>
          <a:prstGeom prst="rect">
            <a:avLst/>
          </a:prstGeom>
          <a:noFill/>
        </p:spPr>
        <p:txBody>
          <a:bodyPr wrap="square" lIns="0" tIns="0" rIns="0" bIns="0" anchor="ctr"/>
          <a:lstStyle>
            <a:defPPr>
              <a:defRPr sz="1425"/>
            </a:defPPr>
          </a:lstStyle>
          <a:p>
            <a:pPr marL="0" indent="0" algn="ctr">
              <a:buNone/>
              <a:defRPr sz="1425"/>
            </a:pPr>
            <a:r>
              <a:rPr sz="1425" b="1">
                <a:solidFill>
                  <a:schemeClr val="bg1"/>
                </a:solidFill>
              </a:rPr>
              <a:t>DIM_TIME</a:t>
            </a:r>
            <a:endParaRPr sz="1400"/>
          </a:p>
          <a:p>
            <a:pPr marL="0" indent="0" algn="ctr">
              <a:buNone/>
              <a:defRPr sz="1425"/>
            </a:pPr>
            <a:r>
              <a:rPr sz="1425">
                <a:solidFill>
                  <a:schemeClr val="bg1"/>
                </a:solidFill>
              </a:rPr>
              <a:t>time_key (PK), full_date</a:t>
            </a:r>
            <a:endParaRPr sz="1400"/>
          </a:p>
          <a:p>
            <a:pPr marL="0" indent="0" algn="ctr">
              <a:buNone/>
              <a:defRPr sz="1425"/>
            </a:pPr>
            <a:r>
              <a:rPr sz="1425">
                <a:solidFill>
                  <a:schemeClr val="bg1"/>
                </a:solidFill>
              </a:rPr>
              <a:t>day, month, quarter, year</a:t>
            </a:r>
            <a:endParaRPr sz="1400"/>
          </a:p>
        </p:txBody>
      </p:sp>
      <p:sp>
        <p:nvSpPr>
          <p:cNvPr id="11" name="Dim 2">
            <a:extLst>
              <a:ext uri="{FF2B5EF4-FFF2-40B4-BE49-F238E27FC236}">
                <a16:creationId xmlns:a16="http://schemas.microsoft.com/office/drawing/2014/main" id="{580ADFB9-B166-40DA-A692-EA4BDF352497}"/>
              </a:ext>
            </a:extLst>
          </p:cNvPr>
          <p:cNvSpPr>
            <a:spLocks noGrp="1"/>
          </p:cNvSpPr>
          <p:nvPr/>
        </p:nvSpPr>
        <p:spPr>
          <a:xfrm>
            <a:off x="8348472" y="1554480"/>
            <a:ext cx="2743200" cy="1188720"/>
          </a:xfrm>
          <a:prstGeom prst="roundRect">
            <a:avLst>
              <a:gd name="adj" fmla="val 6154"/>
            </a:avLst>
          </a:prstGeom>
          <a:solidFill>
            <a:schemeClr val="accent3"/>
          </a:solidFill>
          <a:ln w="12700">
            <a:solidFill>
              <a:schemeClr val="accent3"/>
            </a:solidFill>
            <a:prstDash val="solid"/>
          </a:ln>
        </p:spPr>
      </p:sp>
      <p:sp>
        <p:nvSpPr>
          <p:cNvPr id="12" name="Dim 2 text">
            <a:extLst>
              <a:ext uri="{FF2B5EF4-FFF2-40B4-BE49-F238E27FC236}">
                <a16:creationId xmlns:a16="http://schemas.microsoft.com/office/drawing/2014/main" id="{14103B80-9672-4FE6-BBF7-A22B1B28185B}"/>
              </a:ext>
            </a:extLst>
          </p:cNvPr>
          <p:cNvSpPr>
            <a:spLocks noGrp="1"/>
          </p:cNvSpPr>
          <p:nvPr/>
        </p:nvSpPr>
        <p:spPr>
          <a:xfrm>
            <a:off x="8485632" y="1554480"/>
            <a:ext cx="2468880" cy="1188720"/>
          </a:xfrm>
          <a:prstGeom prst="rect">
            <a:avLst/>
          </a:prstGeom>
          <a:noFill/>
        </p:spPr>
        <p:txBody>
          <a:bodyPr wrap="square" lIns="0" tIns="0" rIns="0" bIns="0" anchor="ctr"/>
          <a:lstStyle>
            <a:defPPr>
              <a:defRPr sz="1350"/>
            </a:defPPr>
          </a:lstStyle>
          <a:p>
            <a:pPr marL="0" indent="0" algn="ctr">
              <a:buNone/>
              <a:defRPr sz="1350"/>
            </a:pPr>
            <a:r>
              <a:rPr sz="1350" b="1">
                <a:solidFill>
                  <a:schemeClr val="bg1"/>
                </a:solidFill>
              </a:rPr>
              <a:t>DIM_CATEGORY</a:t>
            </a:r>
            <a:endParaRPr sz="1400"/>
          </a:p>
          <a:p>
            <a:pPr marL="0" indent="0" algn="ctr">
              <a:buNone/>
              <a:defRPr sz="1350"/>
            </a:pPr>
            <a:r>
              <a:rPr sz="1350">
                <a:solidFill>
                  <a:schemeClr val="bg1"/>
                </a:solidFill>
              </a:rPr>
              <a:t>category_key (PK)</a:t>
            </a:r>
            <a:endParaRPr sz="1400"/>
          </a:p>
          <a:p>
            <a:pPr marL="0" indent="0" algn="ctr">
              <a:buNone/>
              <a:defRPr sz="1350"/>
            </a:pPr>
            <a:r>
              <a:rPr sz="1350">
                <a:solidFill>
                  <a:schemeClr val="bg1"/>
                </a:solidFill>
              </a:rPr>
              <a:t>category_name, department_assigned</a:t>
            </a:r>
            <a:endParaRPr sz="1400"/>
          </a:p>
        </p:txBody>
      </p:sp>
      <p:sp>
        <p:nvSpPr>
          <p:cNvPr id="13" name="Dim 3">
            <a:extLst>
              <a:ext uri="{FF2B5EF4-FFF2-40B4-BE49-F238E27FC236}">
                <a16:creationId xmlns:a16="http://schemas.microsoft.com/office/drawing/2014/main" id="{30C2F79B-346B-401B-BDCB-BFA935DCBFCB}"/>
              </a:ext>
            </a:extLst>
          </p:cNvPr>
          <p:cNvSpPr>
            <a:spLocks noGrp="1"/>
          </p:cNvSpPr>
          <p:nvPr/>
        </p:nvSpPr>
        <p:spPr>
          <a:xfrm>
            <a:off x="1097280" y="4754880"/>
            <a:ext cx="2743200" cy="1188720"/>
          </a:xfrm>
          <a:prstGeom prst="roundRect">
            <a:avLst>
              <a:gd name="adj" fmla="val 6154"/>
            </a:avLst>
          </a:prstGeom>
          <a:solidFill>
            <a:schemeClr val="accent4"/>
          </a:solidFill>
          <a:ln w="12700">
            <a:solidFill>
              <a:schemeClr val="accent4"/>
            </a:solidFill>
            <a:prstDash val="solid"/>
          </a:ln>
        </p:spPr>
      </p:sp>
      <p:sp>
        <p:nvSpPr>
          <p:cNvPr id="14" name="Dim 3 text">
            <a:extLst>
              <a:ext uri="{FF2B5EF4-FFF2-40B4-BE49-F238E27FC236}">
                <a16:creationId xmlns:a16="http://schemas.microsoft.com/office/drawing/2014/main" id="{06892A4D-0F6A-42BA-A463-52C492A81D69}"/>
              </a:ext>
            </a:extLst>
          </p:cNvPr>
          <p:cNvSpPr>
            <a:spLocks noGrp="1"/>
          </p:cNvSpPr>
          <p:nvPr/>
        </p:nvSpPr>
        <p:spPr>
          <a:xfrm>
            <a:off x="1234440" y="4754880"/>
            <a:ext cx="2468880" cy="1188720"/>
          </a:xfrm>
          <a:prstGeom prst="rect">
            <a:avLst/>
          </a:prstGeom>
          <a:noFill/>
        </p:spPr>
        <p:txBody>
          <a:bodyPr wrap="square" lIns="0" tIns="0" rIns="0" bIns="0" anchor="ctr"/>
          <a:lstStyle>
            <a:defPPr>
              <a:defRPr sz="1275"/>
            </a:defPPr>
          </a:lstStyle>
          <a:p>
            <a:pPr marL="0" indent="0" algn="ctr">
              <a:buNone/>
              <a:defRPr sz="1275"/>
            </a:pPr>
            <a:r>
              <a:rPr sz="1275" b="1">
                <a:solidFill>
                  <a:schemeClr val="bg1"/>
                </a:solidFill>
              </a:rPr>
              <a:t>DIM_STATUS</a:t>
            </a:r>
            <a:endParaRPr sz="1400"/>
          </a:p>
          <a:p>
            <a:pPr marL="0" indent="0" algn="ctr">
              <a:buNone/>
              <a:defRPr sz="1275"/>
            </a:pPr>
            <a:r>
              <a:rPr sz="1275">
                <a:solidFill>
                  <a:schemeClr val="bg1"/>
                </a:solidFill>
              </a:rPr>
              <a:t>status_key (PK), status_name</a:t>
            </a:r>
            <a:endParaRPr sz="1400"/>
          </a:p>
          <a:p>
            <a:pPr marL="0" indent="0" algn="ctr">
              <a:buNone/>
              <a:defRPr sz="1275"/>
            </a:pPr>
            <a:r>
              <a:rPr sz="1275">
                <a:solidFill>
                  <a:schemeClr val="bg1"/>
                </a:solidFill>
              </a:rPr>
              <a:t>work_quality_rating, contractor_category</a:t>
            </a:r>
            <a:endParaRPr sz="1400"/>
          </a:p>
        </p:txBody>
      </p:sp>
      <p:sp>
        <p:nvSpPr>
          <p:cNvPr id="15" name="Dim 4">
            <a:extLst>
              <a:ext uri="{FF2B5EF4-FFF2-40B4-BE49-F238E27FC236}">
                <a16:creationId xmlns:a16="http://schemas.microsoft.com/office/drawing/2014/main" id="{9307BF8B-04E4-4852-BCB0-AC9F39E94D8D}"/>
              </a:ext>
            </a:extLst>
          </p:cNvPr>
          <p:cNvSpPr>
            <a:spLocks noGrp="1"/>
          </p:cNvSpPr>
          <p:nvPr/>
        </p:nvSpPr>
        <p:spPr>
          <a:xfrm>
            <a:off x="8348472" y="4754880"/>
            <a:ext cx="2743200" cy="1188720"/>
          </a:xfrm>
          <a:prstGeom prst="roundRect">
            <a:avLst>
              <a:gd name="adj" fmla="val 6154"/>
            </a:avLst>
          </a:prstGeom>
          <a:solidFill>
            <a:schemeClr val="accent5"/>
          </a:solidFill>
          <a:ln w="12700">
            <a:solidFill>
              <a:schemeClr val="accent5"/>
            </a:solidFill>
            <a:prstDash val="solid"/>
          </a:ln>
        </p:spPr>
      </p:sp>
      <p:sp>
        <p:nvSpPr>
          <p:cNvPr id="16" name="Dim 4 text">
            <a:extLst>
              <a:ext uri="{FF2B5EF4-FFF2-40B4-BE49-F238E27FC236}">
                <a16:creationId xmlns:a16="http://schemas.microsoft.com/office/drawing/2014/main" id="{8AE3AE8D-41B0-43AA-81A1-08B2E783927C}"/>
              </a:ext>
            </a:extLst>
          </p:cNvPr>
          <p:cNvSpPr>
            <a:spLocks noGrp="1"/>
          </p:cNvSpPr>
          <p:nvPr/>
        </p:nvSpPr>
        <p:spPr>
          <a:xfrm>
            <a:off x="8485632" y="4754880"/>
            <a:ext cx="2468880" cy="1188720"/>
          </a:xfrm>
          <a:prstGeom prst="rect">
            <a:avLst/>
          </a:prstGeom>
          <a:noFill/>
        </p:spPr>
        <p:txBody>
          <a:bodyPr wrap="square" lIns="0" tIns="0" rIns="0" bIns="0" anchor="ctr"/>
          <a:lstStyle>
            <a:defPPr>
              <a:defRPr sz="1425"/>
            </a:defPPr>
          </a:lstStyle>
          <a:p>
            <a:pPr marL="0" indent="0" algn="ctr">
              <a:buNone/>
              <a:defRPr sz="1425"/>
            </a:pPr>
            <a:r>
              <a:rPr sz="1425" b="1">
                <a:solidFill>
                  <a:schemeClr val="bg1"/>
                </a:solidFill>
              </a:rPr>
              <a:t>DIM_LOCATION</a:t>
            </a:r>
            <a:endParaRPr sz="1400"/>
          </a:p>
          <a:p>
            <a:pPr marL="0" indent="0" algn="ctr">
              <a:buNone/>
              <a:defRPr sz="1425"/>
            </a:pPr>
            <a:r>
              <a:rPr sz="1425">
                <a:solidFill>
                  <a:schemeClr val="bg1"/>
                </a:solidFill>
              </a:rPr>
              <a:t>location_key (PK), ward</a:t>
            </a:r>
            <a:endParaRPr sz="1400"/>
          </a:p>
          <a:p>
            <a:pPr marL="0" indent="0" algn="ctr">
              <a:buNone/>
              <a:defRPr sz="1425"/>
            </a:pPr>
            <a:r>
              <a:rPr sz="1425">
                <a:solidFill>
                  <a:schemeClr val="bg1"/>
                </a:solidFill>
              </a:rPr>
              <a:t>ward_area, zone, ward_type</a:t>
            </a:r>
            <a:endParaRPr sz="1400"/>
          </a:p>
        </p:txBody>
      </p:sp>
      <p:sp>
        <p:nvSpPr>
          <p:cNvPr id="25" name="Slide Number Placeholder 0">
            <a:extLst>
              <a:ext uri="{FF2B5EF4-FFF2-40B4-BE49-F238E27FC236}">
                <a16:creationId xmlns:a16="http://schemas.microsoft.com/office/drawing/2014/main" id="{745A2918-5217-498B-B4E9-949D64D02686}"/>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8</a:t>
            </a:r>
          </a:p>
        </p:txBody>
      </p:sp>
    </p:spTree>
    <p:extLst>
      <p:ext uri="{BB962C8B-B14F-4D97-AF65-F5344CB8AC3E}">
        <p14:creationId xmlns:p14="http://schemas.microsoft.com/office/powerpoint/2010/main" val="798745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2"/>
          </p:nvPr>
        </p:nvSpPr>
        <p:spPr/>
        <p:txBody>
          <a:bodyPr/>
          <a:lstStyle/>
          <a:p>
            <a:r>
              <a:rPr sz="2600"/>
              <a:t>Warehouse Inventory: All Dimensions &amp; Fact Attributes</a:t>
            </a:r>
          </a:p>
        </p:txBody>
      </p:sp>
      <p:sp>
        <p:nvSpPr>
          <p:cNvPr id="4" name="DIM_TIME card"/>
          <p:cNvSpPr/>
          <p:nvPr/>
        </p:nvSpPr>
        <p:spPr>
          <a:xfrm>
            <a:off x="502920" y="1188720"/>
            <a:ext cx="2658618" cy="2926080"/>
          </a:xfrm>
          <a:prstGeom prst="roundRect">
            <a:avLst>
              <a:gd name="adj" fmla="val 412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IM_TIME header"/>
          <p:cNvSpPr/>
          <p:nvPr/>
        </p:nvSpPr>
        <p:spPr>
          <a:xfrm>
            <a:off x="502920" y="1188720"/>
            <a:ext cx="2658618" cy="365760"/>
          </a:xfrm>
          <a:prstGeom prst="round2SameRect">
            <a:avLst>
              <a:gd name="adj1" fmla="val 30000"/>
              <a:gd name="adj2" fmla="val 0"/>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188720"/>
            <a:ext cx="2292858" cy="365760"/>
          </a:xfrm>
          <a:prstGeom prst="rect">
            <a:avLst/>
          </a:prstGeom>
          <a:noFill/>
        </p:spPr>
        <p:txBody>
          <a:bodyPr wrap="square" lIns="0" tIns="0" rIns="0" bIns="0" anchor="ctr">
            <a:noAutofit/>
          </a:bodyPr>
          <a:lstStyle/>
          <a:p>
            <a:pPr algn="l">
              <a:spcBef>
                <a:spcPts val="0"/>
              </a:spcBef>
              <a:spcAft>
                <a:spcPts val="0"/>
              </a:spcAft>
            </a:pPr>
            <a:r>
              <a:rPr sz="1200" b="1">
                <a:solidFill>
                  <a:srgbClr val="FFFFFF"/>
                </a:solidFill>
                <a:latin typeface="Arial"/>
              </a:rPr>
              <a:t>DIM_TIME</a:t>
            </a:r>
          </a:p>
        </p:txBody>
      </p:sp>
      <p:sp>
        <p:nvSpPr>
          <p:cNvPr id="7" name="TextBox 6"/>
          <p:cNvSpPr txBox="1"/>
          <p:nvPr/>
        </p:nvSpPr>
        <p:spPr>
          <a:xfrm>
            <a:off x="685800" y="1645920"/>
            <a:ext cx="2292858" cy="365760"/>
          </a:xfrm>
          <a:prstGeom prst="rect">
            <a:avLst/>
          </a:prstGeom>
          <a:noFill/>
        </p:spPr>
        <p:txBody>
          <a:bodyPr wrap="square" lIns="0" tIns="0" rIns="0" bIns="0" anchor="ctr">
            <a:noAutofit/>
          </a:bodyPr>
          <a:lstStyle/>
          <a:p>
            <a:pPr algn="l">
              <a:spcBef>
                <a:spcPts val="0"/>
              </a:spcBef>
              <a:spcAft>
                <a:spcPts val="0"/>
              </a:spcAft>
            </a:pPr>
            <a:r>
              <a:rPr sz="2200" b="1">
                <a:solidFill>
                  <a:srgbClr val="181818"/>
                </a:solidFill>
                <a:latin typeface="Arial"/>
              </a:rPr>
              <a:t>2,556</a:t>
            </a:r>
            <a:r>
              <a:rPr sz="1100" b="0">
                <a:solidFill>
                  <a:srgbClr val="6B6B6B"/>
                </a:solidFill>
                <a:latin typeface="Arial"/>
              </a:rPr>
              <a:t>  rows</a:t>
            </a:r>
          </a:p>
        </p:txBody>
      </p:sp>
      <p:sp>
        <p:nvSpPr>
          <p:cNvPr id="8" name="TextBox 7"/>
          <p:cNvSpPr txBox="1"/>
          <p:nvPr/>
        </p:nvSpPr>
        <p:spPr>
          <a:xfrm>
            <a:off x="685800" y="2103120"/>
            <a:ext cx="2292858" cy="566928"/>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KEYS</a:t>
            </a:r>
          </a:p>
          <a:p>
            <a:pPr algn="l">
              <a:spcBef>
                <a:spcPts val="0"/>
              </a:spcBef>
              <a:spcAft>
                <a:spcPts val="0"/>
              </a:spcAft>
            </a:pPr>
            <a:r>
              <a:rPr sz="1050" b="0">
                <a:solidFill>
                  <a:srgbClr val="232323"/>
                </a:solidFill>
                <a:latin typeface="Arial"/>
              </a:rPr>
              <a:t>time_key (PK)</a:t>
            </a:r>
          </a:p>
          <a:p>
            <a:pPr algn="l">
              <a:spcBef>
                <a:spcPts val="0"/>
              </a:spcBef>
              <a:spcAft>
                <a:spcPts val="0"/>
              </a:spcAft>
            </a:pPr>
            <a:r>
              <a:rPr sz="1050" b="0">
                <a:solidFill>
                  <a:srgbClr val="232323"/>
                </a:solidFill>
                <a:latin typeface="Arial"/>
              </a:rPr>
              <a:t>full_date (unique)</a:t>
            </a:r>
          </a:p>
        </p:txBody>
      </p:sp>
      <p:sp>
        <p:nvSpPr>
          <p:cNvPr id="9" name="TextBox 8"/>
          <p:cNvSpPr txBox="1"/>
          <p:nvPr/>
        </p:nvSpPr>
        <p:spPr>
          <a:xfrm>
            <a:off x="685800" y="2761488"/>
            <a:ext cx="2292858" cy="73152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COLUMNS</a:t>
            </a:r>
          </a:p>
          <a:p>
            <a:pPr algn="l">
              <a:spcBef>
                <a:spcPts val="0"/>
              </a:spcBef>
              <a:spcAft>
                <a:spcPts val="0"/>
              </a:spcAft>
            </a:pPr>
            <a:r>
              <a:rPr sz="1050" b="0">
                <a:solidFill>
                  <a:srgbClr val="232323"/>
                </a:solidFill>
                <a:latin typeface="Arial"/>
              </a:rPr>
              <a:t>day, month, month_name, quarter, year, day_of_week, is_monsoon_season</a:t>
            </a:r>
          </a:p>
        </p:txBody>
      </p:sp>
      <p:sp>
        <p:nvSpPr>
          <p:cNvPr id="10" name="TextBox 9"/>
          <p:cNvSpPr txBox="1"/>
          <p:nvPr/>
        </p:nvSpPr>
        <p:spPr>
          <a:xfrm>
            <a:off x="685800" y="3584448"/>
            <a:ext cx="2292858" cy="54864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HIERARCHY</a:t>
            </a:r>
          </a:p>
          <a:p>
            <a:pPr algn="l">
              <a:spcBef>
                <a:spcPts val="0"/>
              </a:spcBef>
              <a:spcAft>
                <a:spcPts val="0"/>
              </a:spcAft>
            </a:pPr>
            <a:r>
              <a:rPr sz="1050" b="0">
                <a:solidFill>
                  <a:srgbClr val="232323"/>
                </a:solidFill>
                <a:latin typeface="Arial"/>
              </a:rPr>
              <a:t>Day → Month → Quarter → Year</a:t>
            </a:r>
          </a:p>
        </p:txBody>
      </p:sp>
      <p:sp>
        <p:nvSpPr>
          <p:cNvPr id="11" name="DIM_LOCATION card"/>
          <p:cNvSpPr/>
          <p:nvPr/>
        </p:nvSpPr>
        <p:spPr>
          <a:xfrm>
            <a:off x="3344418" y="1188720"/>
            <a:ext cx="2658618" cy="2926080"/>
          </a:xfrm>
          <a:prstGeom prst="roundRect">
            <a:avLst>
              <a:gd name="adj" fmla="val 412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IM_LOCATION header"/>
          <p:cNvSpPr/>
          <p:nvPr/>
        </p:nvSpPr>
        <p:spPr>
          <a:xfrm>
            <a:off x="3344418" y="1188720"/>
            <a:ext cx="2658618" cy="365760"/>
          </a:xfrm>
          <a:prstGeom prst="round2SameRect">
            <a:avLst>
              <a:gd name="adj1" fmla="val 30000"/>
              <a:gd name="adj2" fmla="val 0"/>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27298" y="1188720"/>
            <a:ext cx="2292858" cy="365760"/>
          </a:xfrm>
          <a:prstGeom prst="rect">
            <a:avLst/>
          </a:prstGeom>
          <a:noFill/>
        </p:spPr>
        <p:txBody>
          <a:bodyPr wrap="square" lIns="0" tIns="0" rIns="0" bIns="0" anchor="ctr">
            <a:noAutofit/>
          </a:bodyPr>
          <a:lstStyle/>
          <a:p>
            <a:pPr algn="l">
              <a:spcBef>
                <a:spcPts val="0"/>
              </a:spcBef>
              <a:spcAft>
                <a:spcPts val="0"/>
              </a:spcAft>
            </a:pPr>
            <a:r>
              <a:rPr sz="1200" b="1">
                <a:solidFill>
                  <a:srgbClr val="FFFFFF"/>
                </a:solidFill>
                <a:latin typeface="Arial"/>
              </a:rPr>
              <a:t>DIM_LOCATION</a:t>
            </a:r>
          </a:p>
        </p:txBody>
      </p:sp>
      <p:sp>
        <p:nvSpPr>
          <p:cNvPr id="14" name="TextBox 13"/>
          <p:cNvSpPr txBox="1"/>
          <p:nvPr/>
        </p:nvSpPr>
        <p:spPr>
          <a:xfrm>
            <a:off x="3527298" y="1645920"/>
            <a:ext cx="2292858" cy="365760"/>
          </a:xfrm>
          <a:prstGeom prst="rect">
            <a:avLst/>
          </a:prstGeom>
          <a:noFill/>
        </p:spPr>
        <p:txBody>
          <a:bodyPr wrap="square" lIns="0" tIns="0" rIns="0" bIns="0" anchor="ctr">
            <a:noAutofit/>
          </a:bodyPr>
          <a:lstStyle/>
          <a:p>
            <a:pPr algn="l">
              <a:spcBef>
                <a:spcPts val="0"/>
              </a:spcBef>
              <a:spcAft>
                <a:spcPts val="0"/>
              </a:spcAft>
            </a:pPr>
            <a:r>
              <a:rPr sz="2200" b="1">
                <a:solidFill>
                  <a:srgbClr val="181818"/>
                </a:solidFill>
                <a:latin typeface="Arial"/>
              </a:rPr>
              <a:t>24</a:t>
            </a:r>
            <a:r>
              <a:rPr sz="1100" b="0">
                <a:solidFill>
                  <a:srgbClr val="6B6B6B"/>
                </a:solidFill>
                <a:latin typeface="Arial"/>
              </a:rPr>
              <a:t>  rows</a:t>
            </a:r>
          </a:p>
        </p:txBody>
      </p:sp>
      <p:sp>
        <p:nvSpPr>
          <p:cNvPr id="15" name="TextBox 14"/>
          <p:cNvSpPr txBox="1"/>
          <p:nvPr/>
        </p:nvSpPr>
        <p:spPr>
          <a:xfrm>
            <a:off x="3527298" y="2103120"/>
            <a:ext cx="2292858" cy="566928"/>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KEYS</a:t>
            </a:r>
          </a:p>
          <a:p>
            <a:pPr algn="l">
              <a:spcBef>
                <a:spcPts val="0"/>
              </a:spcBef>
              <a:spcAft>
                <a:spcPts val="0"/>
              </a:spcAft>
            </a:pPr>
            <a:r>
              <a:rPr sz="1050" b="0">
                <a:solidFill>
                  <a:srgbClr val="232323"/>
                </a:solidFill>
                <a:latin typeface="Arial"/>
              </a:rPr>
              <a:t>location_key (PK)</a:t>
            </a:r>
          </a:p>
          <a:p>
            <a:pPr algn="l">
              <a:spcBef>
                <a:spcPts val="0"/>
              </a:spcBef>
              <a:spcAft>
                <a:spcPts val="0"/>
              </a:spcAft>
            </a:pPr>
            <a:r>
              <a:rPr sz="1050" b="0">
                <a:solidFill>
                  <a:srgbClr val="232323"/>
                </a:solidFill>
                <a:latin typeface="Arial"/>
              </a:rPr>
              <a:t>ward (unique)</a:t>
            </a:r>
          </a:p>
        </p:txBody>
      </p:sp>
      <p:sp>
        <p:nvSpPr>
          <p:cNvPr id="16" name="TextBox 15"/>
          <p:cNvSpPr txBox="1"/>
          <p:nvPr/>
        </p:nvSpPr>
        <p:spPr>
          <a:xfrm>
            <a:off x="3527298" y="2761488"/>
            <a:ext cx="2292858" cy="73152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COLUMNS</a:t>
            </a:r>
          </a:p>
          <a:p>
            <a:pPr algn="l">
              <a:spcBef>
                <a:spcPts val="0"/>
              </a:spcBef>
              <a:spcAft>
                <a:spcPts val="0"/>
              </a:spcAft>
            </a:pPr>
            <a:r>
              <a:rPr sz="1050" b="0">
                <a:solidFill>
                  <a:srgbClr val="232323"/>
                </a:solidFill>
                <a:latin typeface="Arial"/>
              </a:rPr>
              <a:t>ward_area, zone, ward_type, population_density, ward_slum_percentage</a:t>
            </a:r>
          </a:p>
        </p:txBody>
      </p:sp>
      <p:sp>
        <p:nvSpPr>
          <p:cNvPr id="17" name="TextBox 16"/>
          <p:cNvSpPr txBox="1"/>
          <p:nvPr/>
        </p:nvSpPr>
        <p:spPr>
          <a:xfrm>
            <a:off x="3527298" y="3584448"/>
            <a:ext cx="2292858" cy="54864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HIERARCHY</a:t>
            </a:r>
          </a:p>
          <a:p>
            <a:pPr algn="l">
              <a:spcBef>
                <a:spcPts val="0"/>
              </a:spcBef>
              <a:spcAft>
                <a:spcPts val="0"/>
              </a:spcAft>
            </a:pPr>
            <a:r>
              <a:rPr sz="1050" b="0">
                <a:solidFill>
                  <a:srgbClr val="232323"/>
                </a:solidFill>
                <a:latin typeface="Arial"/>
              </a:rPr>
              <a:t>Area → Ward → Zone</a:t>
            </a:r>
          </a:p>
        </p:txBody>
      </p:sp>
      <p:sp>
        <p:nvSpPr>
          <p:cNvPr id="18" name="DIM_CATEGORY card"/>
          <p:cNvSpPr/>
          <p:nvPr/>
        </p:nvSpPr>
        <p:spPr>
          <a:xfrm>
            <a:off x="6185916" y="1188720"/>
            <a:ext cx="2658618" cy="2926080"/>
          </a:xfrm>
          <a:prstGeom prst="roundRect">
            <a:avLst>
              <a:gd name="adj" fmla="val 412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IM_CATEGORY header"/>
          <p:cNvSpPr/>
          <p:nvPr/>
        </p:nvSpPr>
        <p:spPr>
          <a:xfrm>
            <a:off x="6185916" y="1188720"/>
            <a:ext cx="2658618" cy="365760"/>
          </a:xfrm>
          <a:prstGeom prst="round2SameRect">
            <a:avLst>
              <a:gd name="adj1" fmla="val 30000"/>
              <a:gd name="adj2" fmla="val 0"/>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68796" y="1188720"/>
            <a:ext cx="2292858" cy="365760"/>
          </a:xfrm>
          <a:prstGeom prst="rect">
            <a:avLst/>
          </a:prstGeom>
          <a:noFill/>
        </p:spPr>
        <p:txBody>
          <a:bodyPr wrap="square" lIns="0" tIns="0" rIns="0" bIns="0" anchor="ctr">
            <a:noAutofit/>
          </a:bodyPr>
          <a:lstStyle/>
          <a:p>
            <a:pPr algn="l">
              <a:spcBef>
                <a:spcPts val="0"/>
              </a:spcBef>
              <a:spcAft>
                <a:spcPts val="0"/>
              </a:spcAft>
            </a:pPr>
            <a:r>
              <a:rPr sz="1200" b="1">
                <a:solidFill>
                  <a:srgbClr val="FFFFFF"/>
                </a:solidFill>
                <a:latin typeface="Arial"/>
              </a:rPr>
              <a:t>DIM_CATEGORY</a:t>
            </a:r>
          </a:p>
        </p:txBody>
      </p:sp>
      <p:sp>
        <p:nvSpPr>
          <p:cNvPr id="21" name="TextBox 20"/>
          <p:cNvSpPr txBox="1"/>
          <p:nvPr/>
        </p:nvSpPr>
        <p:spPr>
          <a:xfrm>
            <a:off x="6368796" y="1645920"/>
            <a:ext cx="2292858" cy="365760"/>
          </a:xfrm>
          <a:prstGeom prst="rect">
            <a:avLst/>
          </a:prstGeom>
          <a:noFill/>
        </p:spPr>
        <p:txBody>
          <a:bodyPr wrap="square" lIns="0" tIns="0" rIns="0" bIns="0" anchor="ctr">
            <a:noAutofit/>
          </a:bodyPr>
          <a:lstStyle/>
          <a:p>
            <a:pPr algn="l">
              <a:spcBef>
                <a:spcPts val="0"/>
              </a:spcBef>
              <a:spcAft>
                <a:spcPts val="0"/>
              </a:spcAft>
            </a:pPr>
            <a:r>
              <a:rPr sz="2200" b="1">
                <a:solidFill>
                  <a:srgbClr val="181818"/>
                </a:solidFill>
                <a:latin typeface="Arial"/>
              </a:rPr>
              <a:t>13</a:t>
            </a:r>
            <a:r>
              <a:rPr sz="1100" b="0">
                <a:solidFill>
                  <a:srgbClr val="6B6B6B"/>
                </a:solidFill>
                <a:latin typeface="Arial"/>
              </a:rPr>
              <a:t>  rows</a:t>
            </a:r>
          </a:p>
        </p:txBody>
      </p:sp>
      <p:sp>
        <p:nvSpPr>
          <p:cNvPr id="22" name="TextBox 21"/>
          <p:cNvSpPr txBox="1"/>
          <p:nvPr/>
        </p:nvSpPr>
        <p:spPr>
          <a:xfrm>
            <a:off x="6368796" y="2103120"/>
            <a:ext cx="2292858" cy="566928"/>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KEYS</a:t>
            </a:r>
          </a:p>
          <a:p>
            <a:pPr algn="l">
              <a:spcBef>
                <a:spcPts val="0"/>
              </a:spcBef>
              <a:spcAft>
                <a:spcPts val="0"/>
              </a:spcAft>
            </a:pPr>
            <a:r>
              <a:rPr sz="1050" b="0">
                <a:solidFill>
                  <a:srgbClr val="232323"/>
                </a:solidFill>
                <a:latin typeface="Arial"/>
              </a:rPr>
              <a:t>category_key (PK)</a:t>
            </a:r>
          </a:p>
          <a:p>
            <a:pPr algn="l">
              <a:spcBef>
                <a:spcPts val="0"/>
              </a:spcBef>
              <a:spcAft>
                <a:spcPts val="0"/>
              </a:spcAft>
            </a:pPr>
            <a:r>
              <a:rPr sz="1050" b="0">
                <a:solidFill>
                  <a:srgbClr val="232323"/>
                </a:solidFill>
                <a:latin typeface="Arial"/>
              </a:rPr>
              <a:t>category_name (unique)</a:t>
            </a:r>
          </a:p>
        </p:txBody>
      </p:sp>
      <p:sp>
        <p:nvSpPr>
          <p:cNvPr id="23" name="TextBox 22"/>
          <p:cNvSpPr txBox="1"/>
          <p:nvPr/>
        </p:nvSpPr>
        <p:spPr>
          <a:xfrm>
            <a:off x="6368796" y="2761488"/>
            <a:ext cx="2292858" cy="73152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COLUMNS</a:t>
            </a:r>
          </a:p>
          <a:p>
            <a:pPr algn="l">
              <a:spcBef>
                <a:spcPts val="0"/>
              </a:spcBef>
              <a:spcAft>
                <a:spcPts val="0"/>
              </a:spcAft>
            </a:pPr>
            <a:r>
              <a:rPr sz="1050" b="0">
                <a:solidFill>
                  <a:srgbClr val="232323"/>
                </a:solidFill>
                <a:latin typeface="Arial"/>
              </a:rPr>
              <a:t>department_assigned</a:t>
            </a:r>
          </a:p>
        </p:txBody>
      </p:sp>
      <p:sp>
        <p:nvSpPr>
          <p:cNvPr id="24" name="TextBox 23"/>
          <p:cNvSpPr txBox="1"/>
          <p:nvPr/>
        </p:nvSpPr>
        <p:spPr>
          <a:xfrm>
            <a:off x="6368796" y="3584448"/>
            <a:ext cx="2292858" cy="54864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HIERARCHY</a:t>
            </a:r>
          </a:p>
          <a:p>
            <a:pPr algn="l">
              <a:spcBef>
                <a:spcPts val="0"/>
              </a:spcBef>
              <a:spcAft>
                <a:spcPts val="0"/>
              </a:spcAft>
            </a:pPr>
            <a:r>
              <a:rPr sz="1050" b="0">
                <a:solidFill>
                  <a:srgbClr val="232323"/>
                </a:solidFill>
                <a:latin typeface="Arial"/>
              </a:rPr>
              <a:t>Complaint Category → Department</a:t>
            </a:r>
          </a:p>
        </p:txBody>
      </p:sp>
      <p:sp>
        <p:nvSpPr>
          <p:cNvPr id="25" name="DIM_STATUS card"/>
          <p:cNvSpPr/>
          <p:nvPr/>
        </p:nvSpPr>
        <p:spPr>
          <a:xfrm>
            <a:off x="9027414" y="1188720"/>
            <a:ext cx="2658618" cy="2926080"/>
          </a:xfrm>
          <a:prstGeom prst="roundRect">
            <a:avLst>
              <a:gd name="adj" fmla="val 412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IM_STATUS header"/>
          <p:cNvSpPr/>
          <p:nvPr/>
        </p:nvSpPr>
        <p:spPr>
          <a:xfrm>
            <a:off x="9027414" y="1188720"/>
            <a:ext cx="2658618" cy="365760"/>
          </a:xfrm>
          <a:prstGeom prst="round2SameRect">
            <a:avLst>
              <a:gd name="adj1" fmla="val 30000"/>
              <a:gd name="adj2" fmla="val 0"/>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10294" y="1188720"/>
            <a:ext cx="2292858" cy="365760"/>
          </a:xfrm>
          <a:prstGeom prst="rect">
            <a:avLst/>
          </a:prstGeom>
          <a:noFill/>
        </p:spPr>
        <p:txBody>
          <a:bodyPr wrap="square" lIns="0" tIns="0" rIns="0" bIns="0" anchor="ctr">
            <a:noAutofit/>
          </a:bodyPr>
          <a:lstStyle/>
          <a:p>
            <a:pPr algn="l">
              <a:spcBef>
                <a:spcPts val="0"/>
              </a:spcBef>
              <a:spcAft>
                <a:spcPts val="0"/>
              </a:spcAft>
            </a:pPr>
            <a:r>
              <a:rPr sz="1200" b="1">
                <a:solidFill>
                  <a:srgbClr val="FFFFFF"/>
                </a:solidFill>
                <a:latin typeface="Arial"/>
              </a:rPr>
              <a:t>DIM_STATUS</a:t>
            </a:r>
          </a:p>
        </p:txBody>
      </p:sp>
      <p:sp>
        <p:nvSpPr>
          <p:cNvPr id="28" name="TextBox 27"/>
          <p:cNvSpPr txBox="1"/>
          <p:nvPr/>
        </p:nvSpPr>
        <p:spPr>
          <a:xfrm>
            <a:off x="9210294" y="1645920"/>
            <a:ext cx="2292858" cy="365760"/>
          </a:xfrm>
          <a:prstGeom prst="rect">
            <a:avLst/>
          </a:prstGeom>
          <a:noFill/>
        </p:spPr>
        <p:txBody>
          <a:bodyPr wrap="square" lIns="0" tIns="0" rIns="0" bIns="0" anchor="ctr">
            <a:noAutofit/>
          </a:bodyPr>
          <a:lstStyle/>
          <a:p>
            <a:pPr algn="l">
              <a:spcBef>
                <a:spcPts val="0"/>
              </a:spcBef>
              <a:spcAft>
                <a:spcPts val="0"/>
              </a:spcAft>
            </a:pPr>
            <a:r>
              <a:rPr sz="2200" b="1">
                <a:solidFill>
                  <a:srgbClr val="181818"/>
                </a:solidFill>
                <a:latin typeface="Arial"/>
              </a:rPr>
              <a:t>100</a:t>
            </a:r>
            <a:r>
              <a:rPr sz="1100" b="0">
                <a:solidFill>
                  <a:srgbClr val="6B6B6B"/>
                </a:solidFill>
                <a:latin typeface="Arial"/>
              </a:rPr>
              <a:t>  rows</a:t>
            </a:r>
          </a:p>
        </p:txBody>
      </p:sp>
      <p:sp>
        <p:nvSpPr>
          <p:cNvPr id="29" name="TextBox 28"/>
          <p:cNvSpPr txBox="1"/>
          <p:nvPr/>
        </p:nvSpPr>
        <p:spPr>
          <a:xfrm>
            <a:off x="9210294" y="2103120"/>
            <a:ext cx="2292858" cy="566928"/>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KEYS</a:t>
            </a:r>
          </a:p>
          <a:p>
            <a:pPr algn="l">
              <a:spcBef>
                <a:spcPts val="0"/>
              </a:spcBef>
              <a:spcAft>
                <a:spcPts val="0"/>
              </a:spcAft>
            </a:pPr>
            <a:r>
              <a:rPr sz="1050" b="0">
                <a:solidFill>
                  <a:srgbClr val="232323"/>
                </a:solidFill>
                <a:latin typeface="Arial"/>
              </a:rPr>
              <a:t>status_key (PK)</a:t>
            </a:r>
          </a:p>
          <a:p>
            <a:pPr algn="l">
              <a:spcBef>
                <a:spcPts val="0"/>
              </a:spcBef>
              <a:spcAft>
                <a:spcPts val="0"/>
              </a:spcAft>
            </a:pPr>
            <a:r>
              <a:rPr sz="1050" b="0">
                <a:solidFill>
                  <a:srgbClr val="232323"/>
                </a:solidFill>
                <a:latin typeface="Arial"/>
              </a:rPr>
              <a:t>status_name</a:t>
            </a:r>
          </a:p>
        </p:txBody>
      </p:sp>
      <p:sp>
        <p:nvSpPr>
          <p:cNvPr id="30" name="TextBox 29"/>
          <p:cNvSpPr txBox="1"/>
          <p:nvPr/>
        </p:nvSpPr>
        <p:spPr>
          <a:xfrm>
            <a:off x="9210294" y="2761488"/>
            <a:ext cx="2292858" cy="731520"/>
          </a:xfrm>
          <a:prstGeom prst="rect">
            <a:avLst/>
          </a:prstGeom>
          <a:noFill/>
        </p:spPr>
        <p:txBody>
          <a:bodyPr wrap="square" lIns="0" tIns="0" rIns="0" bIns="0" anchor="t">
            <a:noAutofit/>
          </a:bodyPr>
          <a:lstStyle/>
          <a:p>
            <a:pPr algn="l">
              <a:spcBef>
                <a:spcPts val="0"/>
              </a:spcBef>
              <a:spcAft>
                <a:spcPts val="200"/>
              </a:spcAft>
            </a:pPr>
            <a:r>
              <a:rPr sz="850" b="1" spc="100">
                <a:solidFill>
                  <a:srgbClr val="6B6B6B"/>
                </a:solidFill>
                <a:latin typeface="Arial"/>
              </a:rPr>
              <a:t>COLUMNS</a:t>
            </a:r>
          </a:p>
          <a:p>
            <a:pPr algn="l">
              <a:spcBef>
                <a:spcPts val="0"/>
              </a:spcBef>
              <a:spcAft>
                <a:spcPts val="0"/>
              </a:spcAft>
            </a:pPr>
            <a:r>
              <a:rPr sz="1050" b="0">
                <a:solidFill>
                  <a:srgbClr val="232323"/>
                </a:solidFill>
                <a:latin typeface="Arial"/>
              </a:rPr>
              <a:t>work_quality_rating, contractor_category</a:t>
            </a:r>
          </a:p>
        </p:txBody>
      </p:sp>
      <p:sp>
        <p:nvSpPr>
          <p:cNvPr id="31" name="FACT_COMPLAINT card"/>
          <p:cNvSpPr/>
          <p:nvPr/>
        </p:nvSpPr>
        <p:spPr>
          <a:xfrm>
            <a:off x="502920" y="4279392"/>
            <a:ext cx="11183112" cy="1481328"/>
          </a:xfrm>
          <a:prstGeom prst="roundRect">
            <a:avLst>
              <a:gd name="adj" fmla="val 7407"/>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4462272"/>
            <a:ext cx="2286000" cy="1188720"/>
          </a:xfrm>
          <a:prstGeom prst="rect">
            <a:avLst/>
          </a:prstGeom>
          <a:noFill/>
        </p:spPr>
        <p:txBody>
          <a:bodyPr wrap="square" lIns="0" tIns="0" rIns="0" bIns="0" anchor="t">
            <a:noAutofit/>
          </a:bodyPr>
          <a:lstStyle/>
          <a:p>
            <a:pPr algn="l">
              <a:spcBef>
                <a:spcPts val="0"/>
              </a:spcBef>
              <a:spcAft>
                <a:spcPts val="400"/>
              </a:spcAft>
            </a:pPr>
            <a:r>
              <a:rPr sz="1200" b="1">
                <a:solidFill>
                  <a:srgbClr val="FFFFFF"/>
                </a:solidFill>
                <a:latin typeface="Arial"/>
              </a:rPr>
              <a:t>FACT_COMPLAINT</a:t>
            </a:r>
          </a:p>
          <a:p>
            <a:pPr algn="l">
              <a:spcBef>
                <a:spcPts val="0"/>
              </a:spcBef>
              <a:spcAft>
                <a:spcPts val="400"/>
              </a:spcAft>
            </a:pPr>
            <a:r>
              <a:rPr sz="2200" b="1">
                <a:solidFill>
                  <a:srgbClr val="FFFFFF"/>
                </a:solidFill>
                <a:latin typeface="Arial"/>
              </a:rPr>
              <a:t>960,000</a:t>
            </a:r>
            <a:r>
              <a:rPr sz="1100" b="0">
                <a:solidFill>
                  <a:srgbClr val="BFBFBF"/>
                </a:solidFill>
                <a:latin typeface="Arial"/>
              </a:rPr>
              <a:t>  rows</a:t>
            </a:r>
          </a:p>
          <a:p>
            <a:pPr algn="l">
              <a:spcBef>
                <a:spcPts val="0"/>
              </a:spcBef>
              <a:spcAft>
                <a:spcPts val="0"/>
              </a:spcAft>
            </a:pPr>
            <a:r>
              <a:rPr sz="1050" b="0">
                <a:solidFill>
                  <a:srgbClr val="BFBFBF"/>
                </a:solidFill>
                <a:latin typeface="Arial"/>
              </a:rPr>
              <a:t>One row per unique complaint</a:t>
            </a:r>
          </a:p>
        </p:txBody>
      </p:sp>
      <p:sp>
        <p:nvSpPr>
          <p:cNvPr id="33" name="TextBox 32"/>
          <p:cNvSpPr txBox="1"/>
          <p:nvPr/>
        </p:nvSpPr>
        <p:spPr>
          <a:xfrm>
            <a:off x="3200400" y="4480559"/>
            <a:ext cx="2331720" cy="1207008"/>
          </a:xfrm>
          <a:prstGeom prst="rect">
            <a:avLst/>
          </a:prstGeom>
          <a:noFill/>
        </p:spPr>
        <p:txBody>
          <a:bodyPr wrap="square" lIns="0" tIns="0" rIns="0" bIns="0" anchor="t">
            <a:noAutofit/>
          </a:bodyPr>
          <a:lstStyle/>
          <a:p>
            <a:pPr algn="l">
              <a:spcBef>
                <a:spcPts val="0"/>
              </a:spcBef>
              <a:spcAft>
                <a:spcPts val="300"/>
              </a:spcAft>
            </a:pPr>
            <a:r>
              <a:rPr sz="850" b="1" spc="100">
                <a:solidFill>
                  <a:srgbClr val="A6A6A6"/>
                </a:solidFill>
                <a:latin typeface="Arial"/>
              </a:rPr>
              <a:t>KEYS</a:t>
            </a:r>
          </a:p>
          <a:p>
            <a:pPr algn="l">
              <a:spcBef>
                <a:spcPts val="0"/>
              </a:spcBef>
              <a:spcAft>
                <a:spcPts val="0"/>
              </a:spcAft>
            </a:pPr>
            <a:r>
              <a:rPr sz="1050" b="0">
                <a:solidFill>
                  <a:srgbClr val="F2F2F2"/>
                </a:solidFill>
                <a:latin typeface="Arial"/>
              </a:rPr>
              <a:t>complaint_key (PK)</a:t>
            </a:r>
          </a:p>
          <a:p>
            <a:pPr algn="l">
              <a:spcBef>
                <a:spcPts val="0"/>
              </a:spcBef>
              <a:spcAft>
                <a:spcPts val="0"/>
              </a:spcAft>
            </a:pPr>
            <a:r>
              <a:rPr sz="1050" b="0">
                <a:solidFill>
                  <a:srgbClr val="F2F2F2"/>
                </a:solidFill>
                <a:latin typeface="Arial"/>
              </a:rPr>
              <a:t>complaint_id (unique)</a:t>
            </a:r>
          </a:p>
          <a:p>
            <a:pPr algn="l">
              <a:spcBef>
                <a:spcPts val="0"/>
              </a:spcBef>
              <a:spcAft>
                <a:spcPts val="0"/>
              </a:spcAft>
            </a:pPr>
            <a:r>
              <a:rPr sz="1050" b="0">
                <a:solidFill>
                  <a:srgbClr val="F2F2F2"/>
                </a:solidFill>
                <a:latin typeface="Arial"/>
              </a:rPr>
              <a:t>FKs: time_key, location_key, category_key, status_key</a:t>
            </a:r>
          </a:p>
        </p:txBody>
      </p:sp>
      <p:sp>
        <p:nvSpPr>
          <p:cNvPr id="34" name="TextBox 33"/>
          <p:cNvSpPr txBox="1"/>
          <p:nvPr/>
        </p:nvSpPr>
        <p:spPr>
          <a:xfrm>
            <a:off x="5715000" y="4480559"/>
            <a:ext cx="2743200" cy="1207008"/>
          </a:xfrm>
          <a:prstGeom prst="rect">
            <a:avLst/>
          </a:prstGeom>
          <a:noFill/>
        </p:spPr>
        <p:txBody>
          <a:bodyPr wrap="square" lIns="0" tIns="0" rIns="0" bIns="0" anchor="t">
            <a:noAutofit/>
          </a:bodyPr>
          <a:lstStyle/>
          <a:p>
            <a:pPr algn="l">
              <a:spcBef>
                <a:spcPts val="0"/>
              </a:spcBef>
              <a:spcAft>
                <a:spcPts val="300"/>
              </a:spcAft>
            </a:pPr>
            <a:r>
              <a:rPr sz="850" b="1" spc="100">
                <a:solidFill>
                  <a:srgbClr val="A6A6A6"/>
                </a:solidFill>
                <a:latin typeface="Arial"/>
              </a:rPr>
              <a:t>MEASURES</a:t>
            </a:r>
          </a:p>
          <a:p>
            <a:pPr algn="l">
              <a:spcBef>
                <a:spcPts val="0"/>
              </a:spcBef>
              <a:spcAft>
                <a:spcPts val="0"/>
              </a:spcAft>
            </a:pPr>
            <a:r>
              <a:rPr sz="1050" b="0">
                <a:solidFill>
                  <a:srgbClr val="F2F2F2"/>
                </a:solidFill>
                <a:latin typeface="Arial"/>
              </a:rPr>
              <a:t>complaint_count, resolution_days, estimated_cost_inr, num_reassignments, prior_complaints_count, infrastructure_age_years, months_since_last_maintained, citizen_satisfied</a:t>
            </a:r>
          </a:p>
        </p:txBody>
      </p:sp>
      <p:sp>
        <p:nvSpPr>
          <p:cNvPr id="35" name="TextBox 34"/>
          <p:cNvSpPr txBox="1"/>
          <p:nvPr/>
        </p:nvSpPr>
        <p:spPr>
          <a:xfrm>
            <a:off x="8686800" y="4480559"/>
            <a:ext cx="2788920" cy="1207008"/>
          </a:xfrm>
          <a:prstGeom prst="rect">
            <a:avLst/>
          </a:prstGeom>
          <a:noFill/>
        </p:spPr>
        <p:txBody>
          <a:bodyPr wrap="square" lIns="0" tIns="0" rIns="0" bIns="0" anchor="t">
            <a:noAutofit/>
          </a:bodyPr>
          <a:lstStyle/>
          <a:p>
            <a:pPr algn="l">
              <a:spcBef>
                <a:spcPts val="0"/>
              </a:spcBef>
              <a:spcAft>
                <a:spcPts val="300"/>
              </a:spcAft>
            </a:pPr>
            <a:r>
              <a:rPr sz="850" b="1" spc="100">
                <a:solidFill>
                  <a:srgbClr val="A6A6A6"/>
                </a:solidFill>
                <a:latin typeface="Arial"/>
              </a:rPr>
              <a:t>FLAGS AND CONTEXT</a:t>
            </a:r>
          </a:p>
          <a:p>
            <a:pPr algn="l">
              <a:spcBef>
                <a:spcPts val="0"/>
              </a:spcBef>
              <a:spcAft>
                <a:spcPts val="0"/>
              </a:spcAft>
            </a:pPr>
            <a:r>
              <a:rPr sz="1050" b="0">
                <a:solidFill>
                  <a:srgbClr val="F2F2F2"/>
                </a:solidFill>
                <a:latin typeface="Arial"/>
              </a:rPr>
              <a:t>Channel, time of day, severity, complainant and property type, photo and GPS, media attention, political sensitivity, repeat complainant, inspection, defect liability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0192703C-E504-470D-8616-8198B2C7A1C8}"/>
              </a:ext>
            </a:extLst>
          </p:cNvPr>
          <p:cNvSpPr>
            <a:spLocks noGrp="1"/>
          </p:cNvSpPr>
          <p:nvPr>
            <p:ph type="title" idx="102" hasCustomPrompt="1"/>
          </p:nvPr>
        </p:nvSpPr>
        <p:spPr>
          <a:xfrm>
            <a:off x="822960" y="411480"/>
            <a:ext cx="10789920" cy="777240"/>
          </a:xfrm>
          <a:prstGeom prst="rect">
            <a:avLst/>
          </a:prstGeom>
          <a:noFill/>
        </p:spPr>
        <p:txBody>
          <a:bodyPr wrap="square" anchor="ctr"/>
          <a:lstStyle/>
          <a:p>
            <a:r>
              <a:t>Creating the Warehouse: MySQL DDL (1/3)</a:t>
            </a:r>
          </a:p>
        </p:txBody>
      </p:sp>
      <p:sp>
        <p:nvSpPr>
          <p:cNvPr id="25" name="Slide Number Placeholder 0">
            <a:extLst>
              <a:ext uri="{FF2B5EF4-FFF2-40B4-BE49-F238E27FC236}">
                <a16:creationId xmlns:a16="http://schemas.microsoft.com/office/drawing/2014/main" id="{82922CA4-C789-4F1F-AB33-FD11053A393F}"/>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10</a:t>
            </a:r>
          </a:p>
        </p:txBody>
      </p:sp>
      <p:sp>
        <p:nvSpPr>
          <p:cNvPr id="26" name="Rectangle 25"/>
          <p:cNvSpPr/>
          <p:nvPr/>
        </p:nvSpPr>
        <p:spPr>
          <a:xfrm>
            <a:off x="548640" y="1325880"/>
            <a:ext cx="11009376" cy="44805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wrap="none" lIns="164592" tIns="109728" rIns="128016" bIns="73152" rtlCol="0" anchor="t"/>
          <a:lstStyle/>
          <a:p>
            <a:pPr algn="l">
              <a:lnSpc>
                <a:spcPts val="1040"/>
              </a:lnSpc>
              <a:spcBef>
                <a:spcPts val="0"/>
              </a:spcBef>
              <a:spcAft>
                <a:spcPts val="0"/>
              </a:spcAft>
            </a:pPr>
            <a:r>
              <a:rPr sz="890" dirty="0">
                <a:solidFill>
                  <a:srgbClr val="F4F4F4"/>
                </a:solidFill>
                <a:latin typeface="Consolas"/>
              </a:rPr>
              <a:t>CREATE DATABASE IF NOT EXISTS </a:t>
            </a:r>
            <a:r>
              <a:rPr sz="890" dirty="0" err="1">
                <a:solidFill>
                  <a:srgbClr val="F4F4F4"/>
                </a:solidFill>
                <a:latin typeface="Consolas"/>
              </a:rPr>
              <a:t>bmc_complaint_dw</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USE </a:t>
            </a:r>
            <a:r>
              <a:rPr sz="890" dirty="0" err="1">
                <a:solidFill>
                  <a:srgbClr val="F4F4F4"/>
                </a:solidFill>
                <a:latin typeface="Consolas"/>
              </a:rPr>
              <a:t>bmc_complaint_dw</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SET FOREIGN_KEY_CHECKS = 0;</a:t>
            </a:r>
          </a:p>
          <a:p>
            <a:pPr algn="l">
              <a:lnSpc>
                <a:spcPts val="1040"/>
              </a:lnSpc>
              <a:spcBef>
                <a:spcPts val="0"/>
              </a:spcBef>
              <a:spcAft>
                <a:spcPts val="0"/>
              </a:spcAft>
            </a:pPr>
            <a:r>
              <a:rPr sz="890" dirty="0">
                <a:solidFill>
                  <a:srgbClr val="F4F4F4"/>
                </a:solidFill>
                <a:latin typeface="Consolas"/>
              </a:rPr>
              <a:t>DROP TABLE IF EXISTS </a:t>
            </a:r>
            <a:r>
              <a:rPr sz="890" dirty="0" err="1">
                <a:solidFill>
                  <a:srgbClr val="F4F4F4"/>
                </a:solidFill>
                <a:latin typeface="Consolas"/>
              </a:rPr>
              <a:t>fact_complaint</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DROP TABLE IF EXISTS </a:t>
            </a:r>
            <a:r>
              <a:rPr sz="890" dirty="0" err="1">
                <a:solidFill>
                  <a:srgbClr val="F4F4F4"/>
                </a:solidFill>
                <a:latin typeface="Consolas"/>
              </a:rPr>
              <a:t>dim_status</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DROP TABLE IF EXISTS </a:t>
            </a:r>
            <a:r>
              <a:rPr sz="890" dirty="0" err="1">
                <a:solidFill>
                  <a:srgbClr val="F4F4F4"/>
                </a:solidFill>
                <a:latin typeface="Consolas"/>
              </a:rPr>
              <a:t>dim_category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DROP TABLE IF EXISTS </a:t>
            </a:r>
            <a:r>
              <a:rPr sz="890" dirty="0" err="1">
                <a:solidFill>
                  <a:srgbClr val="F4F4F4"/>
                </a:solidFill>
                <a:latin typeface="Consolas"/>
              </a:rPr>
              <a:t>dim_location</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DROP TABLE IF EXISTS </a:t>
            </a:r>
            <a:r>
              <a:rPr sz="890" dirty="0" err="1">
                <a:solidFill>
                  <a:srgbClr val="F4F4F4"/>
                </a:solidFill>
                <a:latin typeface="Consolas"/>
              </a:rPr>
              <a:t>dim_time</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CREATE TABLE </a:t>
            </a:r>
            <a:r>
              <a:rPr sz="890" dirty="0" err="1">
                <a:solidFill>
                  <a:srgbClr val="F4F4F4"/>
                </a:solidFill>
                <a:latin typeface="Consolas"/>
              </a:rPr>
              <a:t>dim_time</a:t>
            </a: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time_key</a:t>
            </a:r>
            <a:r>
              <a:rPr sz="890" dirty="0">
                <a:solidFill>
                  <a:srgbClr val="F4F4F4"/>
                </a:solidFill>
                <a:latin typeface="Consolas"/>
              </a:rPr>
              <a:t> INT PRIMARY KEY,</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full_date</a:t>
            </a:r>
            <a:r>
              <a:rPr sz="890" dirty="0">
                <a:solidFill>
                  <a:srgbClr val="F4F4F4"/>
                </a:solidFill>
                <a:latin typeface="Consolas"/>
              </a:rPr>
              <a:t> DATE NOT NULL UNIQUE,</a:t>
            </a:r>
          </a:p>
          <a:p>
            <a:pPr algn="l">
              <a:lnSpc>
                <a:spcPts val="1040"/>
              </a:lnSpc>
              <a:spcBef>
                <a:spcPts val="0"/>
              </a:spcBef>
              <a:spcAft>
                <a:spcPts val="0"/>
              </a:spcAft>
            </a:pPr>
            <a:r>
              <a:rPr sz="890" dirty="0">
                <a:solidFill>
                  <a:srgbClr val="F4F4F4"/>
                </a:solidFill>
                <a:latin typeface="Consolas"/>
              </a:rPr>
              <a:t>    day INT NOT NULL, month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month_name</a:t>
            </a:r>
            <a:r>
              <a:rPr sz="890" dirty="0">
                <a:solidFill>
                  <a:srgbClr val="F4F4F4"/>
                </a:solidFill>
                <a:latin typeface="Consolas"/>
              </a:rPr>
              <a:t> VARCHAR(15) NOT NULL,</a:t>
            </a:r>
          </a:p>
          <a:p>
            <a:pPr algn="l">
              <a:lnSpc>
                <a:spcPts val="1040"/>
              </a:lnSpc>
              <a:spcBef>
                <a:spcPts val="0"/>
              </a:spcBef>
              <a:spcAft>
                <a:spcPts val="0"/>
              </a:spcAft>
            </a:pPr>
            <a:r>
              <a:rPr sz="890" dirty="0">
                <a:solidFill>
                  <a:srgbClr val="F4F4F4"/>
                </a:solidFill>
                <a:latin typeface="Consolas"/>
              </a:rPr>
              <a:t>    quarter INT NOT NULL, year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day_of_week</a:t>
            </a:r>
            <a:r>
              <a:rPr sz="890" dirty="0">
                <a:solidFill>
                  <a:srgbClr val="F4F4F4"/>
                </a:solidFill>
                <a:latin typeface="Consolas"/>
              </a:rPr>
              <a:t> VARCHAR(15)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is_monsoon_season</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ENGINE=</a:t>
            </a:r>
            <a:r>
              <a:rPr sz="890" dirty="0" err="1">
                <a:solidFill>
                  <a:srgbClr val="F4F4F4"/>
                </a:solidFill>
                <a:latin typeface="Consolas"/>
              </a:rPr>
              <a:t>InnoDB</a:t>
            </a:r>
            <a:r>
              <a:rPr sz="890" dirty="0">
                <a:solidFill>
                  <a:srgbClr val="F4F4F4"/>
                </a:solidFill>
                <a:latin typeface="Consolas"/>
              </a:rPr>
              <a:t> DEFAULT CHARSET=utf8mb4;</a:t>
            </a:r>
          </a:p>
          <a:p>
            <a:pPr algn="l">
              <a:lnSpc>
                <a:spcPts val="1040"/>
              </a:lnSpc>
              <a:spcBef>
                <a:spcPts val="0"/>
              </a:spcBef>
              <a:spcAft>
                <a:spcPts val="0"/>
              </a:spcAft>
            </a:pP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CREATE TABLE </a:t>
            </a:r>
            <a:r>
              <a:rPr sz="890" dirty="0" err="1">
                <a:solidFill>
                  <a:srgbClr val="F4F4F4"/>
                </a:solidFill>
                <a:latin typeface="Consolas"/>
              </a:rPr>
              <a:t>dim_location</a:t>
            </a: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location_key</a:t>
            </a:r>
            <a:r>
              <a:rPr sz="890" dirty="0">
                <a:solidFill>
                  <a:srgbClr val="F4F4F4"/>
                </a:solidFill>
                <a:latin typeface="Consolas"/>
              </a:rPr>
              <a:t> INT PRIMARY KEY,</a:t>
            </a:r>
          </a:p>
          <a:p>
            <a:pPr algn="l">
              <a:lnSpc>
                <a:spcPts val="1040"/>
              </a:lnSpc>
              <a:spcBef>
                <a:spcPts val="0"/>
              </a:spcBef>
              <a:spcAft>
                <a:spcPts val="0"/>
              </a:spcAft>
            </a:pPr>
            <a:r>
              <a:rPr sz="890" dirty="0">
                <a:solidFill>
                  <a:srgbClr val="F4F4F4"/>
                </a:solidFill>
                <a:latin typeface="Consolas"/>
              </a:rPr>
              <a:t>    ward VARCHAR(10) NOT NULL UNIQUE,</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ward_area</a:t>
            </a:r>
            <a:r>
              <a:rPr sz="890" dirty="0">
                <a:solidFill>
                  <a:srgbClr val="F4F4F4"/>
                </a:solidFill>
                <a:latin typeface="Consolas"/>
              </a:rPr>
              <a:t> VARCHAR(100) NOT NULL,</a:t>
            </a:r>
          </a:p>
          <a:p>
            <a:pPr algn="l">
              <a:lnSpc>
                <a:spcPts val="1040"/>
              </a:lnSpc>
              <a:spcBef>
                <a:spcPts val="0"/>
              </a:spcBef>
              <a:spcAft>
                <a:spcPts val="0"/>
              </a:spcAft>
            </a:pPr>
            <a:r>
              <a:rPr sz="890" dirty="0">
                <a:solidFill>
                  <a:srgbClr val="F4F4F4"/>
                </a:solidFill>
                <a:latin typeface="Consolas"/>
              </a:rPr>
              <a:t>    zone VARCHAR(50)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ward_type</a:t>
            </a:r>
            <a:r>
              <a:rPr sz="890" dirty="0">
                <a:solidFill>
                  <a:srgbClr val="F4F4F4"/>
                </a:solidFill>
                <a:latin typeface="Consolas"/>
              </a:rPr>
              <a:t> VARCHAR(50)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population_density</a:t>
            </a:r>
            <a:r>
              <a:rPr sz="890" dirty="0">
                <a:solidFill>
                  <a:srgbClr val="F4F4F4"/>
                </a:solidFill>
                <a:latin typeface="Consolas"/>
              </a:rPr>
              <a:t> VARCHAR(50)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ward_slum_percentage</a:t>
            </a:r>
            <a:r>
              <a:rPr sz="890" dirty="0">
                <a:solidFill>
                  <a:srgbClr val="F4F4F4"/>
                </a:solidFill>
                <a:latin typeface="Consolas"/>
              </a:rPr>
              <a:t> DECIMAL(5,2) NOT NULL</a:t>
            </a:r>
          </a:p>
          <a:p>
            <a:pPr algn="l">
              <a:lnSpc>
                <a:spcPts val="1040"/>
              </a:lnSpc>
              <a:spcBef>
                <a:spcPts val="0"/>
              </a:spcBef>
              <a:spcAft>
                <a:spcPts val="0"/>
              </a:spcAft>
            </a:pPr>
            <a:r>
              <a:rPr sz="890" dirty="0">
                <a:solidFill>
                  <a:srgbClr val="F4F4F4"/>
                </a:solidFill>
                <a:latin typeface="Consolas"/>
              </a:rPr>
              <a:t>) ENGINE=</a:t>
            </a:r>
            <a:r>
              <a:rPr sz="890" dirty="0" err="1">
                <a:solidFill>
                  <a:srgbClr val="F4F4F4"/>
                </a:solidFill>
                <a:latin typeface="Consolas"/>
              </a:rPr>
              <a:t>InnoDB</a:t>
            </a:r>
            <a:r>
              <a:rPr sz="890" dirty="0">
                <a:solidFill>
                  <a:srgbClr val="F4F4F4"/>
                </a:solidFill>
                <a:latin typeface="Consolas"/>
              </a:rPr>
              <a:t> DEFAULT CHARSET=utf8mb4;</a:t>
            </a:r>
          </a:p>
        </p:txBody>
      </p:sp>
    </p:spTree>
    <p:extLst>
      <p:ext uri="{BB962C8B-B14F-4D97-AF65-F5344CB8AC3E}">
        <p14:creationId xmlns:p14="http://schemas.microsoft.com/office/powerpoint/2010/main" val="16758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2"/>
          </p:nvPr>
        </p:nvSpPr>
        <p:spPr/>
        <p:txBody>
          <a:bodyPr/>
          <a:lstStyle/>
          <a:p>
            <a:r>
              <a:t>Creating the Warehouse: MySQL DDL (2/3)</a:t>
            </a:r>
          </a:p>
        </p:txBody>
      </p:sp>
      <p:sp>
        <p:nvSpPr>
          <p:cNvPr id="4" name="Rectangle 3"/>
          <p:cNvSpPr/>
          <p:nvPr/>
        </p:nvSpPr>
        <p:spPr>
          <a:xfrm>
            <a:off x="548640" y="1325880"/>
            <a:ext cx="11009376" cy="44805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wrap="none" lIns="164592" tIns="109728" rIns="128016" bIns="73152" rtlCol="0" anchor="t"/>
          <a:lstStyle/>
          <a:p>
            <a:pPr algn="l">
              <a:lnSpc>
                <a:spcPts val="1350"/>
              </a:lnSpc>
              <a:spcBef>
                <a:spcPts val="0"/>
              </a:spcBef>
              <a:spcAft>
                <a:spcPts val="0"/>
              </a:spcAft>
            </a:pPr>
            <a:r>
              <a:rPr sz="1200" dirty="0">
                <a:solidFill>
                  <a:srgbClr val="F4F4F4"/>
                </a:solidFill>
                <a:latin typeface="Consolas"/>
              </a:rPr>
              <a:t> </a:t>
            </a:r>
          </a:p>
          <a:p>
            <a:pPr algn="l">
              <a:lnSpc>
                <a:spcPts val="1350"/>
              </a:lnSpc>
              <a:spcBef>
                <a:spcPts val="0"/>
              </a:spcBef>
              <a:spcAft>
                <a:spcPts val="0"/>
              </a:spcAft>
            </a:pPr>
            <a:r>
              <a:rPr sz="1200" dirty="0">
                <a:solidFill>
                  <a:srgbClr val="F4F4F4"/>
                </a:solidFill>
                <a:latin typeface="Consolas"/>
              </a:rPr>
              <a:t>CREATE TABLE </a:t>
            </a:r>
            <a:r>
              <a:rPr sz="1200" dirty="0" err="1">
                <a:solidFill>
                  <a:srgbClr val="F4F4F4"/>
                </a:solidFill>
                <a:latin typeface="Consolas"/>
              </a:rPr>
              <a:t>dim_category</a:t>
            </a:r>
            <a:r>
              <a:rPr sz="1200" dirty="0">
                <a:solidFill>
                  <a:srgbClr val="F4F4F4"/>
                </a:solidFill>
                <a:latin typeface="Consolas"/>
              </a:rPr>
              <a:t> (</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category_key</a:t>
            </a:r>
            <a:r>
              <a:rPr sz="1200" dirty="0">
                <a:solidFill>
                  <a:srgbClr val="F4F4F4"/>
                </a:solidFill>
                <a:latin typeface="Consolas"/>
              </a:rPr>
              <a:t> INT PRIMARY KEY,</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category_name</a:t>
            </a:r>
            <a:r>
              <a:rPr sz="1200" dirty="0">
                <a:solidFill>
                  <a:srgbClr val="F4F4F4"/>
                </a:solidFill>
                <a:latin typeface="Consolas"/>
              </a:rPr>
              <a:t> VARCHAR(100) NOT NULL UNIQUE,</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department_assigned</a:t>
            </a:r>
            <a:r>
              <a:rPr sz="1200" dirty="0">
                <a:solidFill>
                  <a:srgbClr val="F4F4F4"/>
                </a:solidFill>
                <a:latin typeface="Consolas"/>
              </a:rPr>
              <a:t> VARCHAR(100) NOT NULL</a:t>
            </a:r>
          </a:p>
          <a:p>
            <a:pPr algn="l">
              <a:lnSpc>
                <a:spcPts val="1350"/>
              </a:lnSpc>
              <a:spcBef>
                <a:spcPts val="0"/>
              </a:spcBef>
              <a:spcAft>
                <a:spcPts val="0"/>
              </a:spcAft>
            </a:pPr>
            <a:r>
              <a:rPr sz="1200" dirty="0">
                <a:solidFill>
                  <a:srgbClr val="F4F4F4"/>
                </a:solidFill>
                <a:latin typeface="Consolas"/>
              </a:rPr>
              <a:t>) ENGINE=</a:t>
            </a:r>
            <a:r>
              <a:rPr sz="1200" dirty="0" err="1">
                <a:solidFill>
                  <a:srgbClr val="F4F4F4"/>
                </a:solidFill>
                <a:latin typeface="Consolas"/>
              </a:rPr>
              <a:t>InnoDB</a:t>
            </a:r>
            <a:r>
              <a:rPr sz="1200" dirty="0">
                <a:solidFill>
                  <a:srgbClr val="F4F4F4"/>
                </a:solidFill>
                <a:latin typeface="Consolas"/>
              </a:rPr>
              <a:t> DEFAULT CHARSET=utf8mb4;</a:t>
            </a:r>
          </a:p>
          <a:p>
            <a:pPr algn="l">
              <a:lnSpc>
                <a:spcPts val="1350"/>
              </a:lnSpc>
              <a:spcBef>
                <a:spcPts val="0"/>
              </a:spcBef>
              <a:spcAft>
                <a:spcPts val="0"/>
              </a:spcAft>
            </a:pPr>
            <a:r>
              <a:rPr sz="1200" dirty="0">
                <a:solidFill>
                  <a:srgbClr val="F4F4F4"/>
                </a:solidFill>
                <a:latin typeface="Consolas"/>
              </a:rPr>
              <a:t> </a:t>
            </a:r>
          </a:p>
          <a:p>
            <a:pPr algn="l">
              <a:lnSpc>
                <a:spcPts val="1350"/>
              </a:lnSpc>
              <a:spcBef>
                <a:spcPts val="0"/>
              </a:spcBef>
              <a:spcAft>
                <a:spcPts val="0"/>
              </a:spcAft>
            </a:pPr>
            <a:r>
              <a:rPr sz="1200" dirty="0">
                <a:solidFill>
                  <a:srgbClr val="F4F4F4"/>
                </a:solidFill>
                <a:latin typeface="Consolas"/>
              </a:rPr>
              <a:t>CREATE TABLE </a:t>
            </a:r>
            <a:r>
              <a:rPr sz="1200" dirty="0" err="1">
                <a:solidFill>
                  <a:srgbClr val="F4F4F4"/>
                </a:solidFill>
                <a:latin typeface="Consolas"/>
              </a:rPr>
              <a:t>dim_status</a:t>
            </a:r>
            <a:r>
              <a:rPr sz="1200" dirty="0">
                <a:solidFill>
                  <a:srgbClr val="F4F4F4"/>
                </a:solidFill>
                <a:latin typeface="Consolas"/>
              </a:rPr>
              <a:t> (</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status_key</a:t>
            </a:r>
            <a:r>
              <a:rPr sz="1200" dirty="0">
                <a:solidFill>
                  <a:srgbClr val="F4F4F4"/>
                </a:solidFill>
                <a:latin typeface="Consolas"/>
              </a:rPr>
              <a:t> INT PRIMARY KEY,</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status_name</a:t>
            </a:r>
            <a:r>
              <a:rPr sz="1200" dirty="0">
                <a:solidFill>
                  <a:srgbClr val="F4F4F4"/>
                </a:solidFill>
                <a:latin typeface="Consolas"/>
              </a:rPr>
              <a:t> VARCHAR(50) NOT NULL,</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work_quality_rating</a:t>
            </a:r>
            <a:r>
              <a:rPr sz="1200" dirty="0">
                <a:solidFill>
                  <a:srgbClr val="F4F4F4"/>
                </a:solidFill>
                <a:latin typeface="Consolas"/>
              </a:rPr>
              <a:t> VARCHAR(50) NOT NULL,</a:t>
            </a:r>
          </a:p>
          <a:p>
            <a:pPr algn="l">
              <a:lnSpc>
                <a:spcPts val="1350"/>
              </a:lnSpc>
              <a:spcBef>
                <a:spcPts val="0"/>
              </a:spcBef>
              <a:spcAft>
                <a:spcPts val="0"/>
              </a:spcAft>
            </a:pPr>
            <a:r>
              <a:rPr sz="1200" dirty="0">
                <a:solidFill>
                  <a:srgbClr val="F4F4F4"/>
                </a:solidFill>
                <a:latin typeface="Consolas"/>
              </a:rPr>
              <a:t>    </a:t>
            </a:r>
            <a:r>
              <a:rPr sz="1200" dirty="0" err="1">
                <a:solidFill>
                  <a:srgbClr val="F4F4F4"/>
                </a:solidFill>
                <a:latin typeface="Consolas"/>
              </a:rPr>
              <a:t>contractor_category</a:t>
            </a:r>
            <a:r>
              <a:rPr sz="1200" dirty="0">
                <a:solidFill>
                  <a:srgbClr val="F4F4F4"/>
                </a:solidFill>
                <a:latin typeface="Consolas"/>
              </a:rPr>
              <a:t> VARCHAR(50) NOT NULL</a:t>
            </a:r>
          </a:p>
          <a:p>
            <a:pPr algn="l">
              <a:lnSpc>
                <a:spcPts val="1350"/>
              </a:lnSpc>
              <a:spcBef>
                <a:spcPts val="0"/>
              </a:spcBef>
              <a:spcAft>
                <a:spcPts val="0"/>
              </a:spcAft>
            </a:pPr>
            <a:r>
              <a:rPr sz="1200" dirty="0">
                <a:solidFill>
                  <a:srgbClr val="F4F4F4"/>
                </a:solidFill>
                <a:latin typeface="Consolas"/>
              </a:rPr>
              <a:t>) ENGINE=</a:t>
            </a:r>
            <a:r>
              <a:rPr sz="1200" dirty="0" err="1">
                <a:solidFill>
                  <a:srgbClr val="F4F4F4"/>
                </a:solidFill>
                <a:latin typeface="Consolas"/>
              </a:rPr>
              <a:t>InnoDB</a:t>
            </a:r>
            <a:r>
              <a:rPr sz="1200" dirty="0">
                <a:solidFill>
                  <a:srgbClr val="F4F4F4"/>
                </a:solidFill>
                <a:latin typeface="Consolas"/>
              </a:rPr>
              <a:t> DEFAULT CHARSET=utf8mb4;</a:t>
            </a:r>
          </a:p>
          <a:p>
            <a:pPr algn="l">
              <a:lnSpc>
                <a:spcPts val="1350"/>
              </a:lnSpc>
              <a:spcBef>
                <a:spcPts val="0"/>
              </a:spcBef>
              <a:spcAft>
                <a:spcPts val="0"/>
              </a:spcAft>
            </a:pPr>
            <a:r>
              <a:rPr sz="1200" dirty="0">
                <a:solidFill>
                  <a:srgbClr val="F4F4F4"/>
                </a:solidFill>
                <a:latin typeface="Consolas"/>
              </a:rPr>
              <a:t> </a:t>
            </a:r>
          </a:p>
          <a:p>
            <a:pPr algn="l">
              <a:lnSpc>
                <a:spcPts val="1350"/>
              </a:lnSpc>
              <a:spcBef>
                <a:spcPts val="0"/>
              </a:spcBef>
              <a:spcAft>
                <a:spcPts val="0"/>
              </a:spcAft>
            </a:pPr>
            <a:r>
              <a:rPr sz="1200" dirty="0">
                <a:solidFill>
                  <a:srgbClr val="F4F4F4"/>
                </a:solidFill>
                <a:latin typeface="Consolas"/>
              </a:rPr>
              <a:t>-- Dimension hierarchies used in analysis:</a:t>
            </a:r>
          </a:p>
          <a:p>
            <a:pPr algn="l">
              <a:lnSpc>
                <a:spcPts val="1350"/>
              </a:lnSpc>
              <a:spcBef>
                <a:spcPts val="0"/>
              </a:spcBef>
              <a:spcAft>
                <a:spcPts val="0"/>
              </a:spcAft>
            </a:pPr>
            <a:r>
              <a:rPr sz="1200" dirty="0">
                <a:solidFill>
                  <a:srgbClr val="F4F4F4"/>
                </a:solidFill>
                <a:latin typeface="Consolas"/>
              </a:rPr>
              <a:t>-- Time: Day -&gt; Month -&gt; Quarter -&gt; Year</a:t>
            </a:r>
          </a:p>
          <a:p>
            <a:pPr algn="l">
              <a:lnSpc>
                <a:spcPts val="1350"/>
              </a:lnSpc>
              <a:spcBef>
                <a:spcPts val="0"/>
              </a:spcBef>
              <a:spcAft>
                <a:spcPts val="0"/>
              </a:spcAft>
            </a:pPr>
            <a:r>
              <a:rPr sz="1200" dirty="0">
                <a:solidFill>
                  <a:srgbClr val="F4F4F4"/>
                </a:solidFill>
                <a:latin typeface="Consolas"/>
              </a:rPr>
              <a:t>-- Location: Area -&gt; Ward -&gt; Zone</a:t>
            </a:r>
          </a:p>
          <a:p>
            <a:pPr algn="l">
              <a:lnSpc>
                <a:spcPts val="1350"/>
              </a:lnSpc>
              <a:spcBef>
                <a:spcPts val="0"/>
              </a:spcBef>
              <a:spcAft>
                <a:spcPts val="0"/>
              </a:spcAft>
            </a:pPr>
            <a:r>
              <a:rPr sz="1200" dirty="0">
                <a:solidFill>
                  <a:srgbClr val="F4F4F4"/>
                </a:solidFill>
                <a:latin typeface="Consolas"/>
              </a:rPr>
              <a:t>-- Category: Complaint Category -&gt; Department</a:t>
            </a:r>
          </a:p>
          <a:p>
            <a:pPr algn="l">
              <a:lnSpc>
                <a:spcPts val="1350"/>
              </a:lnSpc>
              <a:spcBef>
                <a:spcPts val="0"/>
              </a:spcBef>
              <a:spcAft>
                <a:spcPts val="0"/>
              </a:spcAft>
            </a:pPr>
            <a:r>
              <a:rPr sz="1200" dirty="0">
                <a:solidFill>
                  <a:srgbClr val="F4F4F4"/>
                </a:solidFill>
                <a:latin typeface="Consolas"/>
              </a:rPr>
              <a:t>-- Status groups status, work quality and contractor category.</a:t>
            </a:r>
          </a:p>
          <a:p>
            <a:pPr algn="l">
              <a:lnSpc>
                <a:spcPts val="1350"/>
              </a:lnSpc>
              <a:spcBef>
                <a:spcPts val="0"/>
              </a:spcBef>
              <a:spcAft>
                <a:spcPts val="0"/>
              </a:spcAft>
            </a:pPr>
            <a:r>
              <a:rPr sz="1200" dirty="0">
                <a:solidFill>
                  <a:srgbClr val="F4F4F4"/>
                </a:solidFill>
                <a:latin typeface="Consolas"/>
              </a:rPr>
              <a:t> </a:t>
            </a:r>
          </a:p>
          <a:p>
            <a:pPr algn="l">
              <a:lnSpc>
                <a:spcPts val="1350"/>
              </a:lnSpc>
              <a:spcBef>
                <a:spcPts val="0"/>
              </a:spcBef>
              <a:spcAft>
                <a:spcPts val="0"/>
              </a:spcAft>
            </a:pPr>
            <a:r>
              <a:rPr sz="1200" dirty="0">
                <a:solidFill>
                  <a:srgbClr val="F4F4F4"/>
                </a:solidFill>
                <a:latin typeface="Consolas"/>
              </a:rPr>
              <a:t>-- Create </a:t>
            </a:r>
            <a:r>
              <a:rPr sz="1200" dirty="0" err="1">
                <a:solidFill>
                  <a:srgbClr val="F4F4F4"/>
                </a:solidFill>
                <a:latin typeface="Consolas"/>
              </a:rPr>
              <a:t>fact_complaint</a:t>
            </a:r>
            <a:r>
              <a:rPr sz="1200" dirty="0">
                <a:solidFill>
                  <a:srgbClr val="F4F4F4"/>
                </a:solidFill>
                <a:latin typeface="Consolas"/>
              </a:rPr>
              <a:t> only after all four dimensions exist.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2"/>
          </p:nvPr>
        </p:nvSpPr>
        <p:spPr/>
        <p:txBody>
          <a:bodyPr/>
          <a:lstStyle/>
          <a:p>
            <a:r>
              <a:t>Creating the Warehouse: MySQL DDL (3/3)</a:t>
            </a:r>
          </a:p>
        </p:txBody>
      </p:sp>
      <p:sp>
        <p:nvSpPr>
          <p:cNvPr id="4" name="Rectangle 3"/>
          <p:cNvSpPr/>
          <p:nvPr/>
        </p:nvSpPr>
        <p:spPr>
          <a:xfrm>
            <a:off x="548640" y="1325880"/>
            <a:ext cx="11009376" cy="44805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wrap="none" lIns="164592" tIns="109728" rIns="128016" bIns="73152" rtlCol="0" anchor="t"/>
          <a:lstStyle/>
          <a:p>
            <a:pPr algn="l">
              <a:lnSpc>
                <a:spcPts val="1040"/>
              </a:lnSpc>
              <a:spcBef>
                <a:spcPts val="0"/>
              </a:spcBef>
              <a:spcAft>
                <a:spcPts val="0"/>
              </a:spcAft>
            </a:pPr>
            <a:r>
              <a:rPr sz="890" dirty="0">
                <a:solidFill>
                  <a:srgbClr val="F4F4F4"/>
                </a:solidFill>
                <a:latin typeface="Consolas"/>
              </a:rPr>
              <a:t>CREATE TABLE </a:t>
            </a:r>
            <a:r>
              <a:rPr sz="890" dirty="0" err="1">
                <a:solidFill>
                  <a:srgbClr val="F4F4F4"/>
                </a:solidFill>
                <a:latin typeface="Consolas"/>
              </a:rPr>
              <a:t>fact_complaint</a:t>
            </a: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complaint_key</a:t>
            </a:r>
            <a:r>
              <a:rPr sz="890" dirty="0">
                <a:solidFill>
                  <a:srgbClr val="F4F4F4"/>
                </a:solidFill>
                <a:latin typeface="Consolas"/>
              </a:rPr>
              <a:t> INT AUTO_INCREMENT PRIMARY KEY,</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complaint_id</a:t>
            </a:r>
            <a:r>
              <a:rPr sz="890" dirty="0">
                <a:solidFill>
                  <a:srgbClr val="F4F4F4"/>
                </a:solidFill>
                <a:latin typeface="Consolas"/>
              </a:rPr>
              <a:t> VARCHAR(50) NOT NULL UNIQUE,</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time_key</a:t>
            </a:r>
            <a:r>
              <a:rPr sz="890" dirty="0">
                <a:solidFill>
                  <a:srgbClr val="F4F4F4"/>
                </a:solidFill>
                <a:latin typeface="Consolas"/>
              </a:rPr>
              <a:t> INT NOT NULL, </a:t>
            </a:r>
            <a:r>
              <a:rPr sz="890" dirty="0" err="1">
                <a:solidFill>
                  <a:srgbClr val="F4F4F4"/>
                </a:solidFill>
                <a:latin typeface="Consolas"/>
              </a:rPr>
              <a:t>location_key</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category_key</a:t>
            </a:r>
            <a:r>
              <a:rPr sz="890" dirty="0">
                <a:solidFill>
                  <a:srgbClr val="F4F4F4"/>
                </a:solidFill>
                <a:latin typeface="Consolas"/>
              </a:rPr>
              <a:t> INT NOT NULL, </a:t>
            </a:r>
            <a:r>
              <a:rPr sz="890" dirty="0" err="1">
                <a:solidFill>
                  <a:srgbClr val="F4F4F4"/>
                </a:solidFill>
                <a:latin typeface="Consolas"/>
              </a:rPr>
              <a:t>status_key</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complaint_channel</a:t>
            </a:r>
            <a:r>
              <a:rPr sz="890" dirty="0">
                <a:solidFill>
                  <a:srgbClr val="F4F4F4"/>
                </a:solidFill>
                <a:latin typeface="Consolas"/>
              </a:rPr>
              <a:t> VARCHAR(50)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complaint_time_of_day</a:t>
            </a:r>
            <a:r>
              <a:rPr sz="890" dirty="0">
                <a:solidFill>
                  <a:srgbClr val="F4F4F4"/>
                </a:solidFill>
                <a:latin typeface="Consolas"/>
              </a:rPr>
              <a:t> VARCHAR(50) NOT NULL,</a:t>
            </a:r>
          </a:p>
          <a:p>
            <a:pPr algn="l">
              <a:lnSpc>
                <a:spcPts val="1040"/>
              </a:lnSpc>
              <a:spcBef>
                <a:spcPts val="0"/>
              </a:spcBef>
              <a:spcAft>
                <a:spcPts val="0"/>
              </a:spcAft>
            </a:pPr>
            <a:r>
              <a:rPr sz="890" dirty="0">
                <a:solidFill>
                  <a:srgbClr val="F4F4F4"/>
                </a:solidFill>
                <a:latin typeface="Consolas"/>
              </a:rPr>
              <a:t>    severity VARCHAR(50) NOT NULL, </a:t>
            </a:r>
            <a:r>
              <a:rPr sz="890" dirty="0" err="1">
                <a:solidFill>
                  <a:srgbClr val="F4F4F4"/>
                </a:solidFill>
                <a:latin typeface="Consolas"/>
              </a:rPr>
              <a:t>complainant_type</a:t>
            </a:r>
            <a:r>
              <a:rPr sz="890" dirty="0">
                <a:solidFill>
                  <a:srgbClr val="F4F4F4"/>
                </a:solidFill>
                <a:latin typeface="Consolas"/>
              </a:rPr>
              <a:t> VARCHAR(50)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property_type</a:t>
            </a:r>
            <a:r>
              <a:rPr sz="890" dirty="0">
                <a:solidFill>
                  <a:srgbClr val="F4F4F4"/>
                </a:solidFill>
                <a:latin typeface="Consolas"/>
              </a:rPr>
              <a:t> VARCHAR(50)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complaint_count</a:t>
            </a:r>
            <a:r>
              <a:rPr sz="890" dirty="0">
                <a:solidFill>
                  <a:srgbClr val="F4F4F4"/>
                </a:solidFill>
                <a:latin typeface="Consolas"/>
              </a:rPr>
              <a:t> INT NOT NULL DEFAULT 1,</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resolution_days</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estimated_cost_inr</a:t>
            </a:r>
            <a:r>
              <a:rPr sz="890" dirty="0">
                <a:solidFill>
                  <a:srgbClr val="F4F4F4"/>
                </a:solidFill>
                <a:latin typeface="Consolas"/>
              </a:rPr>
              <a:t> DECIMAL(12,2)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num_reassignments</a:t>
            </a:r>
            <a:r>
              <a:rPr sz="890" dirty="0">
                <a:solidFill>
                  <a:srgbClr val="F4F4F4"/>
                </a:solidFill>
                <a:latin typeface="Consolas"/>
              </a:rPr>
              <a:t> INT NOT NULL, </a:t>
            </a:r>
            <a:r>
              <a:rPr sz="890" dirty="0" err="1">
                <a:solidFill>
                  <a:srgbClr val="F4F4F4"/>
                </a:solidFill>
                <a:latin typeface="Consolas"/>
              </a:rPr>
              <a:t>prior_complaints_count</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infrastructure_age_years</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months_since_last_maintained</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citizen_satisfied</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has_photo_evidence</a:t>
            </a:r>
            <a:r>
              <a:rPr sz="890" dirty="0">
                <a:solidFill>
                  <a:srgbClr val="F4F4F4"/>
                </a:solidFill>
                <a:latin typeface="Consolas"/>
              </a:rPr>
              <a:t> INT NOT NULL, </a:t>
            </a:r>
            <a:r>
              <a:rPr sz="890" dirty="0" err="1">
                <a:solidFill>
                  <a:srgbClr val="F4F4F4"/>
                </a:solidFill>
                <a:latin typeface="Consolas"/>
              </a:rPr>
              <a:t>has_gps_location</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media_attention</a:t>
            </a:r>
            <a:r>
              <a:rPr sz="890" dirty="0">
                <a:solidFill>
                  <a:srgbClr val="F4F4F4"/>
                </a:solidFill>
                <a:latin typeface="Consolas"/>
              </a:rPr>
              <a:t> INT NOT NULL, </a:t>
            </a:r>
            <a:r>
              <a:rPr sz="890" dirty="0" err="1">
                <a:solidFill>
                  <a:srgbClr val="F4F4F4"/>
                </a:solidFill>
                <a:latin typeface="Consolas"/>
              </a:rPr>
              <a:t>politically_sensitive</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repeat_complainant</a:t>
            </a:r>
            <a:r>
              <a:rPr sz="890" dirty="0">
                <a:solidFill>
                  <a:srgbClr val="F4F4F4"/>
                </a:solidFill>
                <a:latin typeface="Consolas"/>
              </a:rPr>
              <a:t> INT NOT NULL, </a:t>
            </a:r>
            <a:r>
              <a:rPr sz="890" dirty="0" err="1">
                <a:solidFill>
                  <a:srgbClr val="F4F4F4"/>
                </a:solidFill>
                <a:latin typeface="Consolas"/>
              </a:rPr>
              <a:t>site_inspected</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a:t>
            </a:r>
            <a:r>
              <a:rPr sz="890" dirty="0" err="1">
                <a:solidFill>
                  <a:srgbClr val="F4F4F4"/>
                </a:solidFill>
                <a:latin typeface="Consolas"/>
              </a:rPr>
              <a:t>defect_liability_claim</a:t>
            </a:r>
            <a:r>
              <a:rPr sz="890" dirty="0">
                <a:solidFill>
                  <a:srgbClr val="F4F4F4"/>
                </a:solidFill>
                <a:latin typeface="Consolas"/>
              </a:rPr>
              <a:t> INT NOT NULL,</a:t>
            </a:r>
          </a:p>
          <a:p>
            <a:pPr algn="l">
              <a:lnSpc>
                <a:spcPts val="1040"/>
              </a:lnSpc>
              <a:spcBef>
                <a:spcPts val="0"/>
              </a:spcBef>
              <a:spcAft>
                <a:spcPts val="0"/>
              </a:spcAft>
            </a:pPr>
            <a:r>
              <a:rPr sz="890" dirty="0">
                <a:solidFill>
                  <a:srgbClr val="F4F4F4"/>
                </a:solidFill>
                <a:latin typeface="Consolas"/>
              </a:rPr>
              <a:t>    CONSTRAINT </a:t>
            </a:r>
            <a:r>
              <a:rPr sz="890" dirty="0" err="1">
                <a:solidFill>
                  <a:srgbClr val="F4F4F4"/>
                </a:solidFill>
                <a:latin typeface="Consolas"/>
              </a:rPr>
              <a:t>fk_fact_time</a:t>
            </a:r>
            <a:r>
              <a:rPr sz="890" dirty="0">
                <a:solidFill>
                  <a:srgbClr val="F4F4F4"/>
                </a:solidFill>
                <a:latin typeface="Consolas"/>
              </a:rPr>
              <a:t> FOREIGN KEY (</a:t>
            </a:r>
            <a:r>
              <a:rPr sz="890" dirty="0" err="1">
                <a:solidFill>
                  <a:srgbClr val="F4F4F4"/>
                </a:solidFill>
                <a:latin typeface="Consolas"/>
              </a:rPr>
              <a:t>time_key</a:t>
            </a:r>
            <a:r>
              <a:rPr sz="890" dirty="0">
                <a:solidFill>
                  <a:srgbClr val="F4F4F4"/>
                </a:solidFill>
                <a:latin typeface="Consolas"/>
              </a:rPr>
              <a:t>) REFERENCES </a:t>
            </a:r>
            <a:r>
              <a:rPr sz="890" dirty="0" err="1">
                <a:solidFill>
                  <a:srgbClr val="F4F4F4"/>
                </a:solidFill>
                <a:latin typeface="Consolas"/>
              </a:rPr>
              <a:t>dim_time</a:t>
            </a:r>
            <a:r>
              <a:rPr sz="890" dirty="0">
                <a:solidFill>
                  <a:srgbClr val="F4F4F4"/>
                </a:solidFill>
                <a:latin typeface="Consolas"/>
              </a:rPr>
              <a:t>(</a:t>
            </a:r>
            <a:r>
              <a:rPr sz="890" dirty="0" err="1">
                <a:solidFill>
                  <a:srgbClr val="F4F4F4"/>
                </a:solidFill>
                <a:latin typeface="Consolas"/>
              </a:rPr>
              <a:t>time_key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    CONSTRAINT </a:t>
            </a:r>
            <a:r>
              <a:rPr sz="890" dirty="0" err="1">
                <a:solidFill>
                  <a:srgbClr val="F4F4F4"/>
                </a:solidFill>
                <a:latin typeface="Consolas"/>
              </a:rPr>
              <a:t>fk_fact_location</a:t>
            </a:r>
            <a:r>
              <a:rPr sz="890" dirty="0">
                <a:solidFill>
                  <a:srgbClr val="F4F4F4"/>
                </a:solidFill>
                <a:latin typeface="Consolas"/>
              </a:rPr>
              <a:t> FOREIGN KEY (</a:t>
            </a:r>
            <a:r>
              <a:rPr sz="890" dirty="0" err="1">
                <a:solidFill>
                  <a:srgbClr val="F4F4F4"/>
                </a:solidFill>
                <a:latin typeface="Consolas"/>
              </a:rPr>
              <a:t>location_key</a:t>
            </a:r>
            <a:r>
              <a:rPr sz="890" dirty="0">
                <a:solidFill>
                  <a:srgbClr val="F4F4F4"/>
                </a:solidFill>
                <a:latin typeface="Consolas"/>
              </a:rPr>
              <a:t>) REFERENCES </a:t>
            </a:r>
            <a:r>
              <a:rPr sz="890" dirty="0" err="1">
                <a:solidFill>
                  <a:srgbClr val="F4F4F4"/>
                </a:solidFill>
                <a:latin typeface="Consolas"/>
              </a:rPr>
              <a:t>dim_location</a:t>
            </a:r>
            <a:r>
              <a:rPr sz="890" dirty="0">
                <a:solidFill>
                  <a:srgbClr val="F4F4F4"/>
                </a:solidFill>
                <a:latin typeface="Consolas"/>
              </a:rPr>
              <a:t>(</a:t>
            </a:r>
            <a:r>
              <a:rPr sz="890" dirty="0" err="1">
                <a:solidFill>
                  <a:srgbClr val="F4F4F4"/>
                </a:solidFill>
                <a:latin typeface="Consolas"/>
              </a:rPr>
              <a:t>location_key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    CONSTRAINT </a:t>
            </a:r>
            <a:r>
              <a:rPr sz="890" dirty="0" err="1">
                <a:solidFill>
                  <a:srgbClr val="F4F4F4"/>
                </a:solidFill>
                <a:latin typeface="Consolas"/>
              </a:rPr>
              <a:t>fk_fact_category</a:t>
            </a:r>
            <a:r>
              <a:rPr sz="890" dirty="0">
                <a:solidFill>
                  <a:srgbClr val="F4F4F4"/>
                </a:solidFill>
                <a:latin typeface="Consolas"/>
              </a:rPr>
              <a:t> FOREIGN KEY (</a:t>
            </a:r>
            <a:r>
              <a:rPr sz="890" dirty="0" err="1">
                <a:solidFill>
                  <a:srgbClr val="F4F4F4"/>
                </a:solidFill>
                <a:latin typeface="Consolas"/>
              </a:rPr>
              <a:t>category_key</a:t>
            </a:r>
            <a:r>
              <a:rPr sz="890" dirty="0">
                <a:solidFill>
                  <a:srgbClr val="F4F4F4"/>
                </a:solidFill>
                <a:latin typeface="Consolas"/>
              </a:rPr>
              <a:t>) REFERENCES </a:t>
            </a:r>
            <a:r>
              <a:rPr sz="890" dirty="0" err="1">
                <a:solidFill>
                  <a:srgbClr val="F4F4F4"/>
                </a:solidFill>
                <a:latin typeface="Consolas"/>
              </a:rPr>
              <a:t>dim_category</a:t>
            </a:r>
            <a:r>
              <a:rPr sz="890" dirty="0">
                <a:solidFill>
                  <a:srgbClr val="F4F4F4"/>
                </a:solidFill>
                <a:latin typeface="Consolas"/>
              </a:rPr>
              <a:t>(</a:t>
            </a:r>
            <a:r>
              <a:rPr sz="890" dirty="0" err="1">
                <a:solidFill>
                  <a:srgbClr val="F4F4F4"/>
                </a:solidFill>
                <a:latin typeface="Consolas"/>
              </a:rPr>
              <a:t>category_key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    CONSTRAINT </a:t>
            </a:r>
            <a:r>
              <a:rPr sz="890" dirty="0" err="1">
                <a:solidFill>
                  <a:srgbClr val="F4F4F4"/>
                </a:solidFill>
                <a:latin typeface="Consolas"/>
              </a:rPr>
              <a:t>fk_fact_status</a:t>
            </a:r>
            <a:r>
              <a:rPr sz="890" dirty="0">
                <a:solidFill>
                  <a:srgbClr val="F4F4F4"/>
                </a:solidFill>
                <a:latin typeface="Consolas"/>
              </a:rPr>
              <a:t> FOREIGN KEY (</a:t>
            </a:r>
            <a:r>
              <a:rPr sz="890" dirty="0" err="1">
                <a:solidFill>
                  <a:srgbClr val="F4F4F4"/>
                </a:solidFill>
                <a:latin typeface="Consolas"/>
              </a:rPr>
              <a:t>status_key</a:t>
            </a:r>
            <a:r>
              <a:rPr sz="890" dirty="0">
                <a:solidFill>
                  <a:srgbClr val="F4F4F4"/>
                </a:solidFill>
                <a:latin typeface="Consolas"/>
              </a:rPr>
              <a:t>) REFERENCES </a:t>
            </a:r>
            <a:r>
              <a:rPr sz="890" dirty="0" err="1">
                <a:solidFill>
                  <a:srgbClr val="F4F4F4"/>
                </a:solidFill>
                <a:latin typeface="Consolas"/>
              </a:rPr>
              <a:t>dim_status</a:t>
            </a:r>
            <a:r>
              <a:rPr sz="890" dirty="0">
                <a:solidFill>
                  <a:srgbClr val="F4F4F4"/>
                </a:solidFill>
                <a:latin typeface="Consolas"/>
              </a:rPr>
              <a:t>(</a:t>
            </a:r>
            <a:r>
              <a:rPr sz="890" dirty="0" err="1">
                <a:solidFill>
                  <a:srgbClr val="F4F4F4"/>
                </a:solidFill>
                <a:latin typeface="Consolas"/>
              </a:rPr>
              <a:t>status_key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 ENGINE=</a:t>
            </a:r>
            <a:r>
              <a:rPr sz="890" dirty="0" err="1">
                <a:solidFill>
                  <a:srgbClr val="F4F4F4"/>
                </a:solidFill>
                <a:latin typeface="Consolas"/>
              </a:rPr>
              <a:t>InnoDB</a:t>
            </a:r>
            <a:r>
              <a:rPr sz="890" dirty="0">
                <a:solidFill>
                  <a:srgbClr val="F4F4F4"/>
                </a:solidFill>
                <a:latin typeface="Consolas"/>
              </a:rPr>
              <a:t> DEFAULT CHARSET=utf8mb4;</a:t>
            </a:r>
          </a:p>
          <a:p>
            <a:pPr algn="l">
              <a:lnSpc>
                <a:spcPts val="1040"/>
              </a:lnSpc>
              <a:spcBef>
                <a:spcPts val="0"/>
              </a:spcBef>
              <a:spcAft>
                <a:spcPts val="0"/>
              </a:spcAft>
            </a:pPr>
            <a:r>
              <a:rPr sz="890" dirty="0">
                <a:solidFill>
                  <a:srgbClr val="F4F4F4"/>
                </a:solidFill>
                <a:latin typeface="Consolas"/>
              </a:rPr>
              <a:t> </a:t>
            </a:r>
          </a:p>
          <a:p>
            <a:pPr algn="l">
              <a:lnSpc>
                <a:spcPts val="1040"/>
              </a:lnSpc>
              <a:spcBef>
                <a:spcPts val="0"/>
              </a:spcBef>
              <a:spcAft>
                <a:spcPts val="0"/>
              </a:spcAft>
            </a:pPr>
            <a:r>
              <a:rPr sz="890" dirty="0">
                <a:solidFill>
                  <a:srgbClr val="F4F4F4"/>
                </a:solidFill>
                <a:latin typeface="Consolas"/>
              </a:rPr>
              <a:t>CREATE INDEX </a:t>
            </a:r>
            <a:r>
              <a:rPr sz="890" dirty="0" err="1">
                <a:solidFill>
                  <a:srgbClr val="F4F4F4"/>
                </a:solidFill>
                <a:latin typeface="Consolas"/>
              </a:rPr>
              <a:t>idx_fact_time</a:t>
            </a:r>
            <a:r>
              <a:rPr sz="890" dirty="0">
                <a:solidFill>
                  <a:srgbClr val="F4F4F4"/>
                </a:solidFill>
                <a:latin typeface="Consolas"/>
              </a:rPr>
              <a:t> ON </a:t>
            </a:r>
            <a:r>
              <a:rPr sz="890" dirty="0" err="1">
                <a:solidFill>
                  <a:srgbClr val="F4F4F4"/>
                </a:solidFill>
                <a:latin typeface="Consolas"/>
              </a:rPr>
              <a:t>fact_complaint</a:t>
            </a:r>
            <a:r>
              <a:rPr sz="890" dirty="0">
                <a:solidFill>
                  <a:srgbClr val="F4F4F4"/>
                </a:solidFill>
                <a:latin typeface="Consolas"/>
              </a:rPr>
              <a:t>(</a:t>
            </a:r>
            <a:r>
              <a:rPr sz="890" dirty="0" err="1">
                <a:solidFill>
                  <a:srgbClr val="F4F4F4"/>
                </a:solidFill>
                <a:latin typeface="Consolas"/>
              </a:rPr>
              <a:t>time_key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CREATE INDEX </a:t>
            </a:r>
            <a:r>
              <a:rPr sz="890" dirty="0" err="1">
                <a:solidFill>
                  <a:srgbClr val="F4F4F4"/>
                </a:solidFill>
                <a:latin typeface="Consolas"/>
              </a:rPr>
              <a:t>idx_fact_location</a:t>
            </a:r>
            <a:r>
              <a:rPr sz="890" dirty="0">
                <a:solidFill>
                  <a:srgbClr val="F4F4F4"/>
                </a:solidFill>
                <a:latin typeface="Consolas"/>
              </a:rPr>
              <a:t> ON </a:t>
            </a:r>
            <a:r>
              <a:rPr sz="890" dirty="0" err="1">
                <a:solidFill>
                  <a:srgbClr val="F4F4F4"/>
                </a:solidFill>
                <a:latin typeface="Consolas"/>
              </a:rPr>
              <a:t>fact_complaint</a:t>
            </a:r>
            <a:r>
              <a:rPr sz="890" dirty="0">
                <a:solidFill>
                  <a:srgbClr val="F4F4F4"/>
                </a:solidFill>
                <a:latin typeface="Consolas"/>
              </a:rPr>
              <a:t>(</a:t>
            </a:r>
            <a:r>
              <a:rPr sz="890" dirty="0" err="1">
                <a:solidFill>
                  <a:srgbClr val="F4F4F4"/>
                </a:solidFill>
                <a:latin typeface="Consolas"/>
              </a:rPr>
              <a:t>location_key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CREATE INDEX </a:t>
            </a:r>
            <a:r>
              <a:rPr sz="890" dirty="0" err="1">
                <a:solidFill>
                  <a:srgbClr val="F4F4F4"/>
                </a:solidFill>
                <a:latin typeface="Consolas"/>
              </a:rPr>
              <a:t>idx_fact_category</a:t>
            </a:r>
            <a:r>
              <a:rPr sz="890" dirty="0">
                <a:solidFill>
                  <a:srgbClr val="F4F4F4"/>
                </a:solidFill>
                <a:latin typeface="Consolas"/>
              </a:rPr>
              <a:t> ON </a:t>
            </a:r>
            <a:r>
              <a:rPr sz="890" dirty="0" err="1">
                <a:solidFill>
                  <a:srgbClr val="F4F4F4"/>
                </a:solidFill>
                <a:latin typeface="Consolas"/>
              </a:rPr>
              <a:t>fact_complaint</a:t>
            </a:r>
            <a:r>
              <a:rPr sz="890" dirty="0">
                <a:solidFill>
                  <a:srgbClr val="F4F4F4"/>
                </a:solidFill>
                <a:latin typeface="Consolas"/>
              </a:rPr>
              <a:t>(</a:t>
            </a:r>
            <a:r>
              <a:rPr sz="890" dirty="0" err="1">
                <a:solidFill>
                  <a:srgbClr val="F4F4F4"/>
                </a:solidFill>
                <a:latin typeface="Consolas"/>
              </a:rPr>
              <a:t>category_key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CREATE INDEX </a:t>
            </a:r>
            <a:r>
              <a:rPr sz="890" dirty="0" err="1">
                <a:solidFill>
                  <a:srgbClr val="F4F4F4"/>
                </a:solidFill>
                <a:latin typeface="Consolas"/>
              </a:rPr>
              <a:t>idx_fact_status</a:t>
            </a:r>
            <a:r>
              <a:rPr sz="890" dirty="0">
                <a:solidFill>
                  <a:srgbClr val="F4F4F4"/>
                </a:solidFill>
                <a:latin typeface="Consolas"/>
              </a:rPr>
              <a:t> ON </a:t>
            </a:r>
            <a:r>
              <a:rPr sz="890" dirty="0" err="1">
                <a:solidFill>
                  <a:srgbClr val="F4F4F4"/>
                </a:solidFill>
                <a:latin typeface="Consolas"/>
              </a:rPr>
              <a:t>fact_complaint</a:t>
            </a:r>
            <a:r>
              <a:rPr sz="890" dirty="0">
                <a:solidFill>
                  <a:srgbClr val="F4F4F4"/>
                </a:solidFill>
                <a:latin typeface="Consolas"/>
              </a:rPr>
              <a:t>(</a:t>
            </a:r>
            <a:r>
              <a:rPr sz="890" dirty="0" err="1">
                <a:solidFill>
                  <a:srgbClr val="F4F4F4"/>
                </a:solidFill>
                <a:latin typeface="Consolas"/>
              </a:rPr>
              <a:t>status_key</a:t>
            </a:r>
            <a:r>
              <a:rPr sz="890" dirty="0">
                <a:solidFill>
                  <a:srgbClr val="F4F4F4"/>
                </a:solidFill>
                <a:latin typeface="Consolas"/>
              </a:rPr>
              <a:t>);</a:t>
            </a:r>
          </a:p>
          <a:p>
            <a:pPr algn="l">
              <a:lnSpc>
                <a:spcPts val="1040"/>
              </a:lnSpc>
              <a:spcBef>
                <a:spcPts val="0"/>
              </a:spcBef>
              <a:spcAft>
                <a:spcPts val="0"/>
              </a:spcAft>
            </a:pPr>
            <a:r>
              <a:rPr sz="890" dirty="0">
                <a:solidFill>
                  <a:srgbClr val="F4F4F4"/>
                </a:solidFill>
                <a:latin typeface="Consolas"/>
              </a:rPr>
              <a:t>SET FOREIGN_KEY_CHECKS =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2"/>
          </p:nvPr>
        </p:nvSpPr>
        <p:spPr/>
        <p:txBody>
          <a:bodyPr/>
          <a:lstStyle/>
          <a:p>
            <a:r>
              <a:t>ETL Pipeline: Source-to-Warehouse Transformations</a:t>
            </a:r>
          </a:p>
        </p:txBody>
      </p:sp>
      <p:sp>
        <p:nvSpPr>
          <p:cNvPr id="4" name="Step 1 card"/>
          <p:cNvSpPr/>
          <p:nvPr/>
        </p:nvSpPr>
        <p:spPr>
          <a:xfrm>
            <a:off x="502920" y="1234440"/>
            <a:ext cx="3544824" cy="2103120"/>
          </a:xfrm>
          <a:prstGeom prst="roundRect">
            <a:avLst>
              <a:gd name="adj" fmla="val 52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ep 1 badge"/>
          <p:cNvSpPr/>
          <p:nvPr/>
        </p:nvSpPr>
        <p:spPr>
          <a:xfrm>
            <a:off x="731520" y="1453896"/>
            <a:ext cx="384048" cy="384048"/>
          </a:xfrm>
          <a:prstGeom prst="ellipse">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1</a:t>
            </a:r>
          </a:p>
        </p:txBody>
      </p:sp>
      <p:sp>
        <p:nvSpPr>
          <p:cNvPr id="6" name="TextBox 5"/>
          <p:cNvSpPr txBox="1"/>
          <p:nvPr/>
        </p:nvSpPr>
        <p:spPr>
          <a:xfrm>
            <a:off x="1252728" y="1453896"/>
            <a:ext cx="2584704" cy="384048"/>
          </a:xfrm>
          <a:prstGeom prst="rect">
            <a:avLst/>
          </a:prstGeom>
          <a:noFill/>
        </p:spPr>
        <p:txBody>
          <a:bodyPr wrap="square" lIns="0" tIns="0" rIns="0" bIns="0" anchor="ctr">
            <a:noAutofit/>
          </a:bodyPr>
          <a:lstStyle/>
          <a:p>
            <a:pPr algn="l">
              <a:spcBef>
                <a:spcPts val="0"/>
              </a:spcBef>
              <a:spcAft>
                <a:spcPts val="0"/>
              </a:spcAft>
            </a:pPr>
            <a:r>
              <a:rPr sz="1400" b="1">
                <a:solidFill>
                  <a:srgbClr val="181818"/>
                </a:solidFill>
                <a:latin typeface="Arial"/>
              </a:rPr>
              <a:t>Extract</a:t>
            </a:r>
          </a:p>
        </p:txBody>
      </p:sp>
      <p:sp>
        <p:nvSpPr>
          <p:cNvPr id="7" name="TextBox 6"/>
          <p:cNvSpPr txBox="1"/>
          <p:nvPr/>
        </p:nvSpPr>
        <p:spPr>
          <a:xfrm>
            <a:off x="731520" y="2039112"/>
            <a:ext cx="3087624" cy="1188719"/>
          </a:xfrm>
          <a:prstGeom prst="rect">
            <a:avLst/>
          </a:prstGeom>
          <a:noFill/>
        </p:spPr>
        <p:txBody>
          <a:bodyPr wrap="square" lIns="0" tIns="0" rIns="0" bIns="0" anchor="t">
            <a:noAutofit/>
          </a:bodyPr>
          <a:lstStyle/>
          <a:p>
            <a:pPr marL="164592" indent="-164592" algn="l">
              <a:spcBef>
                <a:spcPts val="0"/>
              </a:spcBef>
              <a:spcAft>
                <a:spcPts val="600"/>
              </a:spcAft>
              <a:buFont typeface="Arial"/>
              <a:buChar char="•"/>
            </a:pPr>
            <a:r>
              <a:rPr sz="1200" b="0">
                <a:solidFill>
                  <a:srgbClr val="232323"/>
                </a:solidFill>
                <a:latin typeface="Arial"/>
              </a:rPr>
              <a:t>Read dataset/bmc_train.csv with pandas.</a:t>
            </a:r>
          </a:p>
          <a:p>
            <a:pPr marL="164592" indent="-164592" algn="l">
              <a:spcBef>
                <a:spcPts val="0"/>
              </a:spcBef>
              <a:spcAft>
                <a:spcPts val="600"/>
              </a:spcAft>
              <a:buFont typeface="Arial"/>
              <a:buChar char="•"/>
            </a:pPr>
            <a:r>
              <a:rPr sz="1200" b="0">
                <a:solidFill>
                  <a:srgbClr val="232323"/>
                </a:solidFill>
                <a:latin typeface="Arial"/>
              </a:rPr>
              <a:t>Input: 960,000 rows × 35 columns.</a:t>
            </a:r>
          </a:p>
          <a:p>
            <a:pPr marL="164592" indent="-164592" algn="l">
              <a:spcBef>
                <a:spcPts val="0"/>
              </a:spcBef>
              <a:spcAft>
                <a:spcPts val="600"/>
              </a:spcAft>
              <a:buFont typeface="Arial"/>
              <a:buChar char="•"/>
            </a:pPr>
            <a:r>
              <a:rPr sz="1200" b="0">
                <a:solidFill>
                  <a:srgbClr val="232323"/>
                </a:solidFill>
                <a:latin typeface="Arial"/>
              </a:rPr>
              <a:t>Keep bmc_test.csv separate; citizen_satisfied is withheld there.</a:t>
            </a:r>
          </a:p>
        </p:txBody>
      </p:sp>
      <p:sp>
        <p:nvSpPr>
          <p:cNvPr id="8" name="Arrow 1"/>
          <p:cNvSpPr/>
          <p:nvPr/>
        </p:nvSpPr>
        <p:spPr>
          <a:xfrm>
            <a:off x="4111752" y="1536192"/>
            <a:ext cx="146304" cy="219456"/>
          </a:xfrm>
          <a:prstGeom prst="chevron">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ep 2 card"/>
          <p:cNvSpPr/>
          <p:nvPr/>
        </p:nvSpPr>
        <p:spPr>
          <a:xfrm>
            <a:off x="4322064" y="1234440"/>
            <a:ext cx="3544824" cy="2103120"/>
          </a:xfrm>
          <a:prstGeom prst="roundRect">
            <a:avLst>
              <a:gd name="adj" fmla="val 52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ep 2 badge"/>
          <p:cNvSpPr/>
          <p:nvPr/>
        </p:nvSpPr>
        <p:spPr>
          <a:xfrm>
            <a:off x="4550664" y="1453896"/>
            <a:ext cx="384048" cy="384048"/>
          </a:xfrm>
          <a:prstGeom prst="ellipse">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2</a:t>
            </a:r>
          </a:p>
        </p:txBody>
      </p:sp>
      <p:sp>
        <p:nvSpPr>
          <p:cNvPr id="11" name="TextBox 10"/>
          <p:cNvSpPr txBox="1"/>
          <p:nvPr/>
        </p:nvSpPr>
        <p:spPr>
          <a:xfrm>
            <a:off x="5071872" y="1453896"/>
            <a:ext cx="2584704" cy="384048"/>
          </a:xfrm>
          <a:prstGeom prst="rect">
            <a:avLst/>
          </a:prstGeom>
          <a:noFill/>
        </p:spPr>
        <p:txBody>
          <a:bodyPr wrap="square" lIns="0" tIns="0" rIns="0" bIns="0" anchor="ctr">
            <a:noAutofit/>
          </a:bodyPr>
          <a:lstStyle/>
          <a:p>
            <a:pPr algn="l">
              <a:spcBef>
                <a:spcPts val="0"/>
              </a:spcBef>
              <a:spcAft>
                <a:spcPts val="0"/>
              </a:spcAft>
            </a:pPr>
            <a:r>
              <a:rPr sz="1400" b="1">
                <a:solidFill>
                  <a:srgbClr val="181818"/>
                </a:solidFill>
                <a:latin typeface="Arial"/>
              </a:rPr>
              <a:t>Clean &amp; validate</a:t>
            </a:r>
          </a:p>
        </p:txBody>
      </p:sp>
      <p:sp>
        <p:nvSpPr>
          <p:cNvPr id="12" name="TextBox 11"/>
          <p:cNvSpPr txBox="1"/>
          <p:nvPr/>
        </p:nvSpPr>
        <p:spPr>
          <a:xfrm>
            <a:off x="4550664" y="2039112"/>
            <a:ext cx="3087624" cy="1188719"/>
          </a:xfrm>
          <a:prstGeom prst="rect">
            <a:avLst/>
          </a:prstGeom>
          <a:noFill/>
        </p:spPr>
        <p:txBody>
          <a:bodyPr wrap="square" lIns="0" tIns="0" rIns="0" bIns="0" anchor="t">
            <a:noAutofit/>
          </a:bodyPr>
          <a:lstStyle/>
          <a:p>
            <a:pPr marL="164592" indent="-164592" algn="l">
              <a:spcBef>
                <a:spcPts val="0"/>
              </a:spcBef>
              <a:spcAft>
                <a:spcPts val="600"/>
              </a:spcAft>
              <a:buFont typeface="Arial"/>
              <a:buChar char="•"/>
            </a:pPr>
            <a:r>
              <a:rPr sz="1200" b="0">
                <a:solidFill>
                  <a:srgbClr val="232323"/>
                </a:solidFill>
                <a:latin typeface="Arial"/>
              </a:rPr>
              <a:t>Work on a copy.</a:t>
            </a:r>
          </a:p>
          <a:p>
            <a:pPr marL="164592" indent="-164592" algn="l">
              <a:spcBef>
                <a:spcPts val="0"/>
              </a:spcBef>
              <a:spcAft>
                <a:spcPts val="600"/>
              </a:spcAft>
              <a:buFont typeface="Arial"/>
              <a:buChar char="•"/>
            </a:pPr>
            <a:r>
              <a:rPr sz="1200" b="0">
                <a:solidFill>
                  <a:srgbClr val="232323"/>
                </a:solidFill>
                <a:latin typeface="Arial"/>
              </a:rPr>
              <a:t>Drop duplicate complaint_ids; standardize dates, strings and numeric types.</a:t>
            </a:r>
          </a:p>
          <a:p>
            <a:pPr marL="164592" indent="-164592" algn="l">
              <a:spcBef>
                <a:spcPts val="0"/>
              </a:spcBef>
              <a:spcAft>
                <a:spcPts val="600"/>
              </a:spcAft>
              <a:buFont typeface="Arial"/>
              <a:buChar char="•"/>
            </a:pPr>
            <a:r>
              <a:rPr sz="1200" b="0">
                <a:solidFill>
                  <a:srgbClr val="232323"/>
                </a:solidFill>
                <a:latin typeface="Arial"/>
              </a:rPr>
              <a:t>Check for missing values and negative measures.</a:t>
            </a:r>
          </a:p>
        </p:txBody>
      </p:sp>
      <p:sp>
        <p:nvSpPr>
          <p:cNvPr id="13" name="Arrow 2"/>
          <p:cNvSpPr/>
          <p:nvPr/>
        </p:nvSpPr>
        <p:spPr>
          <a:xfrm>
            <a:off x="7930896" y="1536192"/>
            <a:ext cx="146304" cy="219456"/>
          </a:xfrm>
          <a:prstGeom prst="chevron">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tep 3 card"/>
          <p:cNvSpPr/>
          <p:nvPr/>
        </p:nvSpPr>
        <p:spPr>
          <a:xfrm>
            <a:off x="8141208" y="1234440"/>
            <a:ext cx="3544824" cy="2103120"/>
          </a:xfrm>
          <a:prstGeom prst="roundRect">
            <a:avLst>
              <a:gd name="adj" fmla="val 52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tep 3 badge"/>
          <p:cNvSpPr/>
          <p:nvPr/>
        </p:nvSpPr>
        <p:spPr>
          <a:xfrm>
            <a:off x="8369808" y="1453896"/>
            <a:ext cx="384048" cy="384048"/>
          </a:xfrm>
          <a:prstGeom prst="ellipse">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3</a:t>
            </a:r>
          </a:p>
        </p:txBody>
      </p:sp>
      <p:sp>
        <p:nvSpPr>
          <p:cNvPr id="16" name="TextBox 15"/>
          <p:cNvSpPr txBox="1"/>
          <p:nvPr/>
        </p:nvSpPr>
        <p:spPr>
          <a:xfrm>
            <a:off x="8891016" y="1453896"/>
            <a:ext cx="2584704" cy="384048"/>
          </a:xfrm>
          <a:prstGeom prst="rect">
            <a:avLst/>
          </a:prstGeom>
          <a:noFill/>
        </p:spPr>
        <p:txBody>
          <a:bodyPr wrap="square" lIns="0" tIns="0" rIns="0" bIns="0" anchor="ctr">
            <a:noAutofit/>
          </a:bodyPr>
          <a:lstStyle/>
          <a:p>
            <a:pPr algn="l">
              <a:spcBef>
                <a:spcPts val="0"/>
              </a:spcBef>
              <a:spcAft>
                <a:spcPts val="0"/>
              </a:spcAft>
            </a:pPr>
            <a:r>
              <a:rPr sz="1400" b="1">
                <a:solidFill>
                  <a:srgbClr val="181818"/>
                </a:solidFill>
                <a:latin typeface="Arial"/>
              </a:rPr>
              <a:t>Engineer attributes</a:t>
            </a:r>
          </a:p>
        </p:txBody>
      </p:sp>
      <p:sp>
        <p:nvSpPr>
          <p:cNvPr id="17" name="TextBox 16"/>
          <p:cNvSpPr txBox="1"/>
          <p:nvPr/>
        </p:nvSpPr>
        <p:spPr>
          <a:xfrm>
            <a:off x="8369808" y="2039112"/>
            <a:ext cx="3087624" cy="1188719"/>
          </a:xfrm>
          <a:prstGeom prst="rect">
            <a:avLst/>
          </a:prstGeom>
          <a:noFill/>
        </p:spPr>
        <p:txBody>
          <a:bodyPr wrap="square" lIns="0" tIns="0" rIns="0" bIns="0" anchor="t">
            <a:noAutofit/>
          </a:bodyPr>
          <a:lstStyle/>
          <a:p>
            <a:pPr marL="164592" indent="-164592" algn="l">
              <a:spcBef>
                <a:spcPts val="0"/>
              </a:spcBef>
              <a:spcAft>
                <a:spcPts val="600"/>
              </a:spcAft>
              <a:buFont typeface="Arial"/>
              <a:buChar char="•"/>
            </a:pPr>
            <a:r>
              <a:rPr sz="1200" b="0">
                <a:solidFill>
                  <a:srgbClr val="232323"/>
                </a:solidFill>
                <a:latin typeface="Arial"/>
              </a:rPr>
              <a:t>Build the calendar fields for dim_time: day, month, month name, quarter, year and day of week.</a:t>
            </a:r>
          </a:p>
          <a:p>
            <a:pPr marL="164592" indent="-164592" algn="l">
              <a:spcBef>
                <a:spcPts val="0"/>
              </a:spcBef>
              <a:spcAft>
                <a:spcPts val="600"/>
              </a:spcAft>
              <a:buFont typeface="Arial"/>
              <a:buChar char="•"/>
            </a:pPr>
            <a:r>
              <a:rPr sz="1200" b="0">
                <a:solidFill>
                  <a:srgbClr val="232323"/>
                </a:solidFill>
                <a:latin typeface="Arial"/>
              </a:rPr>
              <a:t>Add the monsoon flag and set complaint_count = 1.</a:t>
            </a:r>
          </a:p>
        </p:txBody>
      </p:sp>
      <p:sp>
        <p:nvSpPr>
          <p:cNvPr id="18" name="Step 4 card"/>
          <p:cNvSpPr/>
          <p:nvPr/>
        </p:nvSpPr>
        <p:spPr>
          <a:xfrm>
            <a:off x="502920" y="3566160"/>
            <a:ext cx="3544824" cy="2103120"/>
          </a:xfrm>
          <a:prstGeom prst="roundRect">
            <a:avLst>
              <a:gd name="adj" fmla="val 52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ep 4 badge"/>
          <p:cNvSpPr/>
          <p:nvPr/>
        </p:nvSpPr>
        <p:spPr>
          <a:xfrm>
            <a:off x="731520" y="3785615"/>
            <a:ext cx="384048" cy="384048"/>
          </a:xfrm>
          <a:prstGeom prst="ellipse">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4</a:t>
            </a:r>
          </a:p>
        </p:txBody>
      </p:sp>
      <p:sp>
        <p:nvSpPr>
          <p:cNvPr id="20" name="TextBox 19"/>
          <p:cNvSpPr txBox="1"/>
          <p:nvPr/>
        </p:nvSpPr>
        <p:spPr>
          <a:xfrm>
            <a:off x="1252728" y="3785615"/>
            <a:ext cx="2584704" cy="384048"/>
          </a:xfrm>
          <a:prstGeom prst="rect">
            <a:avLst/>
          </a:prstGeom>
          <a:noFill/>
        </p:spPr>
        <p:txBody>
          <a:bodyPr wrap="square" lIns="0" tIns="0" rIns="0" bIns="0" anchor="ctr">
            <a:noAutofit/>
          </a:bodyPr>
          <a:lstStyle/>
          <a:p>
            <a:pPr algn="l">
              <a:spcBef>
                <a:spcPts val="0"/>
              </a:spcBef>
              <a:spcAft>
                <a:spcPts val="0"/>
              </a:spcAft>
            </a:pPr>
            <a:r>
              <a:rPr sz="1400" b="1">
                <a:solidFill>
                  <a:srgbClr val="181818"/>
                </a:solidFill>
                <a:latin typeface="Arial"/>
              </a:rPr>
              <a:t>Build dimensions</a:t>
            </a:r>
          </a:p>
        </p:txBody>
      </p:sp>
      <p:sp>
        <p:nvSpPr>
          <p:cNvPr id="21" name="TextBox 20"/>
          <p:cNvSpPr txBox="1"/>
          <p:nvPr/>
        </p:nvSpPr>
        <p:spPr>
          <a:xfrm>
            <a:off x="731520" y="4370832"/>
            <a:ext cx="3087624" cy="1188719"/>
          </a:xfrm>
          <a:prstGeom prst="rect">
            <a:avLst/>
          </a:prstGeom>
          <a:noFill/>
        </p:spPr>
        <p:txBody>
          <a:bodyPr wrap="square" lIns="0" tIns="0" rIns="0" bIns="0" anchor="t">
            <a:noAutofit/>
          </a:bodyPr>
          <a:lstStyle/>
          <a:p>
            <a:pPr marL="164592" indent="-164592" algn="l">
              <a:spcBef>
                <a:spcPts val="0"/>
              </a:spcBef>
              <a:spcAft>
                <a:spcPts val="600"/>
              </a:spcAft>
              <a:buFont typeface="Arial"/>
              <a:buChar char="•"/>
            </a:pPr>
            <a:r>
              <a:rPr sz="1200" b="0">
                <a:solidFill>
                  <a:srgbClr val="232323"/>
                </a:solidFill>
                <a:latin typeface="Arial"/>
              </a:rPr>
              <a:t>Pull out the unique members for time, location, category and status.</a:t>
            </a:r>
          </a:p>
          <a:p>
            <a:pPr marL="164592" indent="-164592" algn="l">
              <a:spcBef>
                <a:spcPts val="0"/>
              </a:spcBef>
              <a:spcAft>
                <a:spcPts val="600"/>
              </a:spcAft>
              <a:buFont typeface="Arial"/>
              <a:buChar char="•"/>
            </a:pPr>
            <a:r>
              <a:rPr sz="1200" b="0">
                <a:solidFill>
                  <a:srgbClr val="232323"/>
                </a:solidFill>
                <a:latin typeface="Arial"/>
              </a:rPr>
              <a:t>Assign surrogate keys and build lookup maps for the fact rows.</a:t>
            </a:r>
          </a:p>
        </p:txBody>
      </p:sp>
      <p:sp>
        <p:nvSpPr>
          <p:cNvPr id="22" name="Arrow 4"/>
          <p:cNvSpPr/>
          <p:nvPr/>
        </p:nvSpPr>
        <p:spPr>
          <a:xfrm>
            <a:off x="4111752" y="3867911"/>
            <a:ext cx="146304" cy="219456"/>
          </a:xfrm>
          <a:prstGeom prst="chevron">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tep 5 card"/>
          <p:cNvSpPr/>
          <p:nvPr/>
        </p:nvSpPr>
        <p:spPr>
          <a:xfrm>
            <a:off x="4322064" y="3566160"/>
            <a:ext cx="3544824" cy="2103120"/>
          </a:xfrm>
          <a:prstGeom prst="roundRect">
            <a:avLst>
              <a:gd name="adj" fmla="val 52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tep 5 badge"/>
          <p:cNvSpPr/>
          <p:nvPr/>
        </p:nvSpPr>
        <p:spPr>
          <a:xfrm>
            <a:off x="4550664" y="3785615"/>
            <a:ext cx="384048" cy="384048"/>
          </a:xfrm>
          <a:prstGeom prst="ellipse">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5</a:t>
            </a:r>
          </a:p>
        </p:txBody>
      </p:sp>
      <p:sp>
        <p:nvSpPr>
          <p:cNvPr id="25" name="TextBox 24"/>
          <p:cNvSpPr txBox="1"/>
          <p:nvPr/>
        </p:nvSpPr>
        <p:spPr>
          <a:xfrm>
            <a:off x="5071872" y="3785615"/>
            <a:ext cx="2584704" cy="384048"/>
          </a:xfrm>
          <a:prstGeom prst="rect">
            <a:avLst/>
          </a:prstGeom>
          <a:noFill/>
        </p:spPr>
        <p:txBody>
          <a:bodyPr wrap="square" lIns="0" tIns="0" rIns="0" bIns="0" anchor="ctr">
            <a:noAutofit/>
          </a:bodyPr>
          <a:lstStyle/>
          <a:p>
            <a:pPr algn="l">
              <a:spcBef>
                <a:spcPts val="0"/>
              </a:spcBef>
              <a:spcAft>
                <a:spcPts val="0"/>
              </a:spcAft>
            </a:pPr>
            <a:r>
              <a:rPr sz="1400" b="1">
                <a:solidFill>
                  <a:srgbClr val="181818"/>
                </a:solidFill>
                <a:latin typeface="Arial"/>
              </a:rPr>
              <a:t>Build fact table</a:t>
            </a:r>
          </a:p>
        </p:txBody>
      </p:sp>
      <p:sp>
        <p:nvSpPr>
          <p:cNvPr id="26" name="TextBox 25"/>
          <p:cNvSpPr txBox="1"/>
          <p:nvPr/>
        </p:nvSpPr>
        <p:spPr>
          <a:xfrm>
            <a:off x="4550664" y="4370832"/>
            <a:ext cx="3087624" cy="1188719"/>
          </a:xfrm>
          <a:prstGeom prst="rect">
            <a:avLst/>
          </a:prstGeom>
          <a:noFill/>
        </p:spPr>
        <p:txBody>
          <a:bodyPr wrap="square" lIns="0" tIns="0" rIns="0" bIns="0" anchor="t">
            <a:noAutofit/>
          </a:bodyPr>
          <a:lstStyle/>
          <a:p>
            <a:pPr marL="164592" indent="-164592" algn="l">
              <a:spcBef>
                <a:spcPts val="0"/>
              </a:spcBef>
              <a:spcAft>
                <a:spcPts val="600"/>
              </a:spcAft>
              <a:buFont typeface="Arial"/>
              <a:buChar char="•"/>
            </a:pPr>
            <a:r>
              <a:rPr sz="1200" b="0">
                <a:solidFill>
                  <a:srgbClr val="232323"/>
                </a:solidFill>
                <a:latin typeface="Arial"/>
              </a:rPr>
              <a:t>One fact row per unique complaint_id.</a:t>
            </a:r>
          </a:p>
          <a:p>
            <a:pPr marL="164592" indent="-164592" algn="l">
              <a:spcBef>
                <a:spcPts val="0"/>
              </a:spcBef>
              <a:spcAft>
                <a:spcPts val="600"/>
              </a:spcAft>
              <a:buFont typeface="Arial"/>
              <a:buChar char="•"/>
            </a:pPr>
            <a:r>
              <a:rPr sz="1200" b="0">
                <a:solidFill>
                  <a:srgbClr val="232323"/>
                </a:solidFill>
                <a:latin typeface="Arial"/>
              </a:rPr>
              <a:t>Map time_key, location_key, category_key and status_key.</a:t>
            </a:r>
          </a:p>
          <a:p>
            <a:pPr marL="164592" indent="-164592" algn="l">
              <a:spcBef>
                <a:spcPts val="0"/>
              </a:spcBef>
              <a:spcAft>
                <a:spcPts val="600"/>
              </a:spcAft>
              <a:buFont typeface="Arial"/>
              <a:buChar char="•"/>
            </a:pPr>
            <a:r>
              <a:rPr sz="1200" b="0">
                <a:solidFill>
                  <a:srgbClr val="232323"/>
                </a:solidFill>
                <a:latin typeface="Arial"/>
              </a:rPr>
              <a:t>Keep measures and complaint flags.</a:t>
            </a:r>
          </a:p>
        </p:txBody>
      </p:sp>
      <p:sp>
        <p:nvSpPr>
          <p:cNvPr id="27" name="Arrow 5"/>
          <p:cNvSpPr/>
          <p:nvPr/>
        </p:nvSpPr>
        <p:spPr>
          <a:xfrm>
            <a:off x="7930896" y="3867911"/>
            <a:ext cx="146304" cy="219456"/>
          </a:xfrm>
          <a:prstGeom prst="chevron">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tep 6 card"/>
          <p:cNvSpPr/>
          <p:nvPr/>
        </p:nvSpPr>
        <p:spPr>
          <a:xfrm>
            <a:off x="8141208" y="3566160"/>
            <a:ext cx="3544824" cy="2103120"/>
          </a:xfrm>
          <a:prstGeom prst="roundRect">
            <a:avLst>
              <a:gd name="adj" fmla="val 52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tep 6 badge"/>
          <p:cNvSpPr/>
          <p:nvPr/>
        </p:nvSpPr>
        <p:spPr>
          <a:xfrm>
            <a:off x="8369808" y="3785615"/>
            <a:ext cx="384048" cy="384048"/>
          </a:xfrm>
          <a:prstGeom prst="ellipse">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6</a:t>
            </a:r>
          </a:p>
        </p:txBody>
      </p:sp>
      <p:sp>
        <p:nvSpPr>
          <p:cNvPr id="30" name="TextBox 29"/>
          <p:cNvSpPr txBox="1"/>
          <p:nvPr/>
        </p:nvSpPr>
        <p:spPr>
          <a:xfrm>
            <a:off x="8891016" y="3785615"/>
            <a:ext cx="2584704" cy="384048"/>
          </a:xfrm>
          <a:prstGeom prst="rect">
            <a:avLst/>
          </a:prstGeom>
          <a:noFill/>
        </p:spPr>
        <p:txBody>
          <a:bodyPr wrap="square" lIns="0" tIns="0" rIns="0" bIns="0" anchor="ctr">
            <a:noAutofit/>
          </a:bodyPr>
          <a:lstStyle/>
          <a:p>
            <a:pPr algn="l">
              <a:spcBef>
                <a:spcPts val="0"/>
              </a:spcBef>
              <a:spcAft>
                <a:spcPts val="0"/>
              </a:spcAft>
            </a:pPr>
            <a:r>
              <a:rPr sz="1400" b="1">
                <a:solidFill>
                  <a:srgbClr val="181818"/>
                </a:solidFill>
                <a:latin typeface="Arial"/>
              </a:rPr>
              <a:t>Load &amp; verify</a:t>
            </a:r>
          </a:p>
        </p:txBody>
      </p:sp>
      <p:sp>
        <p:nvSpPr>
          <p:cNvPr id="31" name="TextBox 30"/>
          <p:cNvSpPr txBox="1"/>
          <p:nvPr/>
        </p:nvSpPr>
        <p:spPr>
          <a:xfrm>
            <a:off x="8369808" y="4370832"/>
            <a:ext cx="3087624" cy="1188719"/>
          </a:xfrm>
          <a:prstGeom prst="rect">
            <a:avLst/>
          </a:prstGeom>
          <a:noFill/>
        </p:spPr>
        <p:txBody>
          <a:bodyPr wrap="square" lIns="0" tIns="0" rIns="0" bIns="0" anchor="t">
            <a:noAutofit/>
          </a:bodyPr>
          <a:lstStyle/>
          <a:p>
            <a:pPr marL="164592" indent="-164592" algn="l">
              <a:spcBef>
                <a:spcPts val="0"/>
              </a:spcBef>
              <a:spcAft>
                <a:spcPts val="600"/>
              </a:spcAft>
              <a:buFont typeface="Arial"/>
              <a:buChar char="•"/>
            </a:pPr>
            <a:r>
              <a:rPr sz="1200" b="0">
                <a:solidFill>
                  <a:srgbClr val="232323"/>
                </a:solidFill>
                <a:latin typeface="Arial"/>
              </a:rPr>
              <a:t>Load dimensions first, then fact_complaint, using pandas / SQLAlchemy / MySQL.</a:t>
            </a:r>
          </a:p>
          <a:p>
            <a:pPr marL="164592" indent="-164592" algn="l">
              <a:spcBef>
                <a:spcPts val="0"/>
              </a:spcBef>
              <a:spcAft>
                <a:spcPts val="600"/>
              </a:spcAft>
              <a:buFont typeface="Arial"/>
              <a:buChar char="•"/>
            </a:pPr>
            <a:r>
              <a:rPr sz="1200" b="0">
                <a:solidFill>
                  <a:srgbClr val="232323"/>
                </a:solidFill>
                <a:latin typeface="Arial"/>
              </a:rPr>
              <a:t>Check row counts, primary keys, NULLs and all four foreign-key joins.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DBAC72C-B73E-4F6E-9B6C-CBA006341C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Dataset: Complaint Categories</a:t>
            </a:r>
            <a:endParaRPr sz="2800"/>
          </a:p>
        </p:txBody>
      </p:sp>
      <p:sp>
        <p:nvSpPr>
          <p:cNvPr id="25" name="Slide Number Placeholder 0">
            <a:extLst>
              <a:ext uri="{FF2B5EF4-FFF2-40B4-BE49-F238E27FC236}">
                <a16:creationId xmlns:a16="http://schemas.microsoft.com/office/drawing/2014/main" id="{86380143-3077-4CCD-BD02-37A842780740}"/>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3</a:t>
            </a:r>
          </a:p>
        </p:txBody>
      </p:sp>
      <p:pic>
        <p:nvPicPr>
          <p:cNvPr id="26" name="Picture 25">
            <a:extLst>
              <a:ext uri="{FF2B5EF4-FFF2-40B4-BE49-F238E27FC236}">
                <a16:creationId xmlns:a16="http://schemas.microsoft.com/office/drawing/2014/main" id="{4A5843EF-3C73-453D-8C44-1C5AD0A8E981}"/>
              </a:ext>
            </a:extLst>
          </p:cNvPr>
          <p:cNvPicPr>
            <a:picLocks noChangeAspect="1"/>
          </p:cNvPicPr>
          <p:nvPr/>
        </p:nvPicPr>
        <p:blipFill>
          <a:blip r:embed="rId3"/>
          <a:stretch/>
        </p:blipFill>
        <p:spPr>
          <a:xfrm>
            <a:off x="2095500" y="1323975"/>
            <a:ext cx="8001000" cy="4800600"/>
          </a:xfrm>
          <a:prstGeom prst="rect">
            <a:avLst/>
          </a:prstGeom>
        </p:spPr>
      </p:pic>
      <p:sp>
        <p:nvSpPr>
          <p:cNvPr id="27" name="Rectangle 26">
            <a:extLst>
              <a:ext uri="{FF2B5EF4-FFF2-40B4-BE49-F238E27FC236}">
                <a16:creationId xmlns:a16="http://schemas.microsoft.com/office/drawing/2014/main" id="{FAFBD07C-A8D7-4003-ABE5-28DE9A644201}"/>
              </a:ext>
            </a:extLst>
          </p:cNvPr>
          <p:cNvSpPr>
            <a:spLocks noGrp="1"/>
          </p:cNvSpPr>
          <p:nvPr/>
        </p:nvSpPr>
        <p:spPr>
          <a:xfrm>
            <a:off x="552450" y="6067425"/>
            <a:ext cx="11068050" cy="266700"/>
          </a:xfrm>
          <a:prstGeom prst="rect">
            <a:avLst/>
          </a:prstGeom>
          <a:noFill/>
          <a:ln w="0">
            <a:noFill/>
          </a:ln>
        </p:spPr>
        <p:txBody>
          <a:bodyPr lIns="0" tIns="0" rIns="0" bIns="0">
            <a:noAutofit/>
          </a:bodyPr>
          <a:lstStyle>
            <a:defPPr>
              <a:defRPr sz="1575" b="0">
                <a:solidFill>
                  <a:srgbClr val="111111"/>
                </a:solidFill>
                <a:latin typeface="Calibri"/>
                <a:ea typeface="Calibri"/>
                <a:cs typeface="Calibri"/>
              </a:defRPr>
            </a:defPPr>
          </a:lstStyle>
          <a:p>
            <a:pPr>
              <a:defRPr sz="1575" b="0">
                <a:solidFill>
                  <a:srgbClr val="111111"/>
                </a:solidFill>
                <a:latin typeface="Calibri"/>
                <a:ea typeface="Calibri"/>
                <a:cs typeface="Calibri"/>
              </a:defRPr>
            </a:pPr>
            <a:r>
              <a:rPr sz="1575" b="0">
                <a:solidFill>
                  <a:srgbClr val="111111"/>
                </a:solidFill>
                <a:latin typeface="Calibri"/>
                <a:ea typeface="Calibri"/>
                <a:cs typeface="Calibri"/>
              </a:rPr>
              <a:t>Pothole / Road Damage is the largest complaint category.</a:t>
            </a:r>
          </a:p>
        </p:txBody>
      </p:sp>
    </p:spTree>
    <p:extLst>
      <p:ext uri="{BB962C8B-B14F-4D97-AF65-F5344CB8AC3E}">
        <p14:creationId xmlns:p14="http://schemas.microsoft.com/office/powerpoint/2010/main" val="208003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DBAC72C-B73E-4F6E-9B6C-CBA006341C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Dataset: Ward Hotspots</a:t>
            </a:r>
            <a:endParaRPr sz="2800"/>
          </a:p>
        </p:txBody>
      </p:sp>
      <p:sp>
        <p:nvSpPr>
          <p:cNvPr id="25" name="Slide Number Placeholder 0">
            <a:extLst>
              <a:ext uri="{FF2B5EF4-FFF2-40B4-BE49-F238E27FC236}">
                <a16:creationId xmlns:a16="http://schemas.microsoft.com/office/drawing/2014/main" id="{86380143-3077-4CCD-BD02-37A842780740}"/>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4</a:t>
            </a:r>
          </a:p>
        </p:txBody>
      </p:sp>
      <p:pic>
        <p:nvPicPr>
          <p:cNvPr id="26" name="Picture 25">
            <a:extLst>
              <a:ext uri="{FF2B5EF4-FFF2-40B4-BE49-F238E27FC236}">
                <a16:creationId xmlns:a16="http://schemas.microsoft.com/office/drawing/2014/main" id="{B2143573-604D-4FB5-8B59-B6DE32E502B5}"/>
              </a:ext>
            </a:extLst>
          </p:cNvPr>
          <p:cNvPicPr>
            <a:picLocks noChangeAspect="1"/>
          </p:cNvPicPr>
          <p:nvPr/>
        </p:nvPicPr>
        <p:blipFill>
          <a:blip r:embed="rId3"/>
          <a:stretch/>
        </p:blipFill>
        <p:spPr>
          <a:xfrm>
            <a:off x="1476375" y="1323975"/>
            <a:ext cx="9220200" cy="4610100"/>
          </a:xfrm>
          <a:prstGeom prst="rect">
            <a:avLst/>
          </a:prstGeom>
        </p:spPr>
      </p:pic>
      <p:sp>
        <p:nvSpPr>
          <p:cNvPr id="27" name="Rectangle 26">
            <a:extLst>
              <a:ext uri="{FF2B5EF4-FFF2-40B4-BE49-F238E27FC236}">
                <a16:creationId xmlns:a16="http://schemas.microsoft.com/office/drawing/2014/main" id="{6FCE0B66-5BAA-4988-9D22-76F444F1FF9C}"/>
              </a:ext>
            </a:extLst>
          </p:cNvPr>
          <p:cNvSpPr>
            <a:spLocks noGrp="1"/>
          </p:cNvSpPr>
          <p:nvPr/>
        </p:nvSpPr>
        <p:spPr>
          <a:xfrm>
            <a:off x="552450" y="6067425"/>
            <a:ext cx="11068050" cy="266700"/>
          </a:xfrm>
          <a:prstGeom prst="rect">
            <a:avLst/>
          </a:prstGeom>
          <a:noFill/>
          <a:ln w="0">
            <a:noFill/>
          </a:ln>
        </p:spPr>
        <p:txBody>
          <a:bodyPr lIns="0" tIns="0" rIns="0" bIns="0">
            <a:noAutofit/>
          </a:bodyPr>
          <a:lstStyle>
            <a:defPPr>
              <a:defRPr sz="1575" b="0">
                <a:solidFill>
                  <a:srgbClr val="111111"/>
                </a:solidFill>
                <a:latin typeface="Calibri"/>
                <a:ea typeface="Calibri"/>
                <a:cs typeface="Calibri"/>
              </a:defRPr>
            </a:defPPr>
          </a:lstStyle>
          <a:p>
            <a:pPr>
              <a:defRPr sz="1575" b="0">
                <a:solidFill>
                  <a:srgbClr val="111111"/>
                </a:solidFill>
                <a:latin typeface="Calibri"/>
                <a:ea typeface="Calibri"/>
                <a:cs typeface="Calibri"/>
              </a:defRPr>
            </a:pPr>
            <a:r>
              <a:rPr sz="1575" b="0">
                <a:solidFill>
                  <a:srgbClr val="111111"/>
                </a:solidFill>
                <a:latin typeface="Calibri"/>
                <a:ea typeface="Calibri"/>
                <a:cs typeface="Calibri"/>
              </a:rPr>
              <a:t>Andheri East and Kurla-Vidyavihar lead complaint volume.</a:t>
            </a:r>
          </a:p>
        </p:txBody>
      </p:sp>
    </p:spTree>
    <p:extLst>
      <p:ext uri="{BB962C8B-B14F-4D97-AF65-F5344CB8AC3E}">
        <p14:creationId xmlns:p14="http://schemas.microsoft.com/office/powerpoint/2010/main" val="208003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DBAC72C-B73E-4F6E-9B6C-CBA006341C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Dataset: Monthly Complaint Trend</a:t>
            </a:r>
            <a:endParaRPr sz="2800"/>
          </a:p>
        </p:txBody>
      </p:sp>
      <p:sp>
        <p:nvSpPr>
          <p:cNvPr id="25" name="Slide Number Placeholder 0">
            <a:extLst>
              <a:ext uri="{FF2B5EF4-FFF2-40B4-BE49-F238E27FC236}">
                <a16:creationId xmlns:a16="http://schemas.microsoft.com/office/drawing/2014/main" id="{86380143-3077-4CCD-BD02-37A842780740}"/>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5</a:t>
            </a:r>
          </a:p>
        </p:txBody>
      </p:sp>
      <p:pic>
        <p:nvPicPr>
          <p:cNvPr id="26" name="Picture 25">
            <a:extLst>
              <a:ext uri="{FF2B5EF4-FFF2-40B4-BE49-F238E27FC236}">
                <a16:creationId xmlns:a16="http://schemas.microsoft.com/office/drawing/2014/main" id="{63710F70-86EA-4841-BBAA-E89007AC97D1}"/>
              </a:ext>
            </a:extLst>
          </p:cNvPr>
          <p:cNvPicPr>
            <a:picLocks noChangeAspect="1"/>
          </p:cNvPicPr>
          <p:nvPr/>
        </p:nvPicPr>
        <p:blipFill>
          <a:blip r:embed="rId3"/>
          <a:stretch/>
        </p:blipFill>
        <p:spPr>
          <a:xfrm>
            <a:off x="554355" y="1323975"/>
            <a:ext cx="11064240" cy="4610100"/>
          </a:xfrm>
          <a:prstGeom prst="rect">
            <a:avLst/>
          </a:prstGeom>
        </p:spPr>
      </p:pic>
      <p:sp>
        <p:nvSpPr>
          <p:cNvPr id="27" name="Rectangle 26">
            <a:extLst>
              <a:ext uri="{FF2B5EF4-FFF2-40B4-BE49-F238E27FC236}">
                <a16:creationId xmlns:a16="http://schemas.microsoft.com/office/drawing/2014/main" id="{DC0529CD-FADD-43E3-A199-E001D660E143}"/>
              </a:ext>
            </a:extLst>
          </p:cNvPr>
          <p:cNvSpPr>
            <a:spLocks noGrp="1"/>
          </p:cNvSpPr>
          <p:nvPr/>
        </p:nvSpPr>
        <p:spPr>
          <a:xfrm>
            <a:off x="552450" y="6067425"/>
            <a:ext cx="11068050" cy="266700"/>
          </a:xfrm>
          <a:prstGeom prst="rect">
            <a:avLst/>
          </a:prstGeom>
          <a:noFill/>
          <a:ln w="0">
            <a:noFill/>
          </a:ln>
        </p:spPr>
        <p:txBody>
          <a:bodyPr lIns="0" tIns="0" rIns="0" bIns="0">
            <a:noAutofit/>
          </a:bodyPr>
          <a:lstStyle>
            <a:defPPr>
              <a:defRPr sz="1575" b="0">
                <a:solidFill>
                  <a:srgbClr val="111111"/>
                </a:solidFill>
                <a:latin typeface="Calibri"/>
                <a:ea typeface="Calibri"/>
                <a:cs typeface="Calibri"/>
              </a:defRPr>
            </a:defPPr>
          </a:lstStyle>
          <a:p>
            <a:pPr>
              <a:defRPr sz="1575" b="0">
                <a:solidFill>
                  <a:srgbClr val="111111"/>
                </a:solidFill>
                <a:latin typeface="Calibri"/>
                <a:ea typeface="Calibri"/>
                <a:cs typeface="Calibri"/>
              </a:defRPr>
            </a:pPr>
            <a:r>
              <a:rPr sz="1575" b="0">
                <a:solidFill>
                  <a:srgbClr val="111111"/>
                </a:solidFill>
                <a:latin typeface="Calibri"/>
                <a:ea typeface="Calibri"/>
                <a:cs typeface="Calibri"/>
              </a:rPr>
              <a:t>The chart shows monthly complaint counts from 2018 to 2024.</a:t>
            </a:r>
          </a:p>
        </p:txBody>
      </p:sp>
    </p:spTree>
    <p:extLst>
      <p:ext uri="{BB962C8B-B14F-4D97-AF65-F5344CB8AC3E}">
        <p14:creationId xmlns:p14="http://schemas.microsoft.com/office/powerpoint/2010/main" val="208003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4E0B9A9D-68CA-498A-9214-E4B5F777E0ED}"/>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Warehouse Design &amp; ETL Results</a:t>
            </a:r>
            <a:endParaRPr sz="2800"/>
          </a:p>
        </p:txBody>
      </p:sp>
      <p:sp>
        <p:nvSpPr>
          <p:cNvPr id="25" name="Slide Number Placeholder 0">
            <a:extLst>
              <a:ext uri="{FF2B5EF4-FFF2-40B4-BE49-F238E27FC236}">
                <a16:creationId xmlns:a16="http://schemas.microsoft.com/office/drawing/2014/main" id="{00C93AB1-8CB5-4F05-B6D1-373A862A46A7}"/>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14</a:t>
            </a:r>
          </a:p>
        </p:txBody>
      </p:sp>
      <p:sp>
        <p:nvSpPr>
          <p:cNvPr id="26" name="Rectangle 25">
            <a:extLst>
              <a:ext uri="{FF2B5EF4-FFF2-40B4-BE49-F238E27FC236}">
                <a16:creationId xmlns:a16="http://schemas.microsoft.com/office/drawing/2014/main" id="{0DD3FC43-471E-4C7E-A54E-DBE8E7975411}"/>
              </a:ext>
            </a:extLst>
          </p:cNvPr>
          <p:cNvSpPr>
            <a:spLocks noGrp="1"/>
          </p:cNvSpPr>
          <p:nvPr/>
        </p:nvSpPr>
        <p:spPr>
          <a:xfrm>
            <a:off x="552450" y="1381125"/>
            <a:ext cx="11068050" cy="314325"/>
          </a:xfrm>
          <a:prstGeom prst="rect">
            <a:avLst/>
          </a:prstGeom>
          <a:noFill/>
          <a:ln w="0">
            <a:noFill/>
          </a:ln>
        </p:spPr>
        <p:txBody>
          <a:bodyPr lIns="0" tIns="0" rIns="0" bIns="0">
            <a:noAutofit/>
          </a:bodyPr>
          <a:lstStyle>
            <a:defPPr>
              <a:defRPr sz="1875" b="1">
                <a:solidFill>
                  <a:srgbClr val="111111"/>
                </a:solidFill>
                <a:latin typeface="Calibri"/>
                <a:ea typeface="Calibri"/>
                <a:cs typeface="Calibri"/>
              </a:defRPr>
            </a:defPPr>
          </a:lstStyle>
          <a:p>
            <a:r>
              <a:rPr sz="1700" b="1">
                <a:latin typeface="Calibri"/>
              </a:rPr>
              <a:t>Grain: one row per unique complaint_id  |  Load dimensions before fact_complaint so the foreign keys resolve</a:t>
            </a:r>
          </a:p>
        </p:txBody>
      </p:sp>
      <p:sp>
        <p:nvSpPr>
          <p:cNvPr id="27" name="Rectangle 26">
            <a:extLst>
              <a:ext uri="{FF2B5EF4-FFF2-40B4-BE49-F238E27FC236}">
                <a16:creationId xmlns:a16="http://schemas.microsoft.com/office/drawing/2014/main" id="{724B9DCC-BC33-469C-9E34-0C311D6505F9}"/>
              </a:ext>
            </a:extLst>
          </p:cNvPr>
          <p:cNvSpPr>
            <a:spLocks noGrp="1"/>
          </p:cNvSpPr>
          <p:nvPr/>
        </p:nvSpPr>
        <p:spPr>
          <a:xfrm>
            <a:off x="552449" y="1924050"/>
            <a:ext cx="5448301" cy="3771900"/>
          </a:xfrm>
          <a:prstGeom prst="rect">
            <a:avLst/>
          </a:prstGeom>
          <a:noFill/>
          <a:ln w="0">
            <a:noFill/>
          </a:ln>
        </p:spPr>
        <p:txBody>
          <a:bodyPr wrap="square" lIns="109728" tIns="73152" rIns="109728" bIns="54864">
            <a:noAutofit/>
          </a:bodyPr>
          <a:lstStyle>
            <a:defPPr>
              <a:defRPr sz="1725" b="0">
                <a:solidFill>
                  <a:srgbClr val="111111"/>
                </a:solidFill>
                <a:latin typeface="Calibri"/>
                <a:ea typeface="Calibri"/>
                <a:cs typeface="Calibri"/>
              </a:defRPr>
            </a:defPPr>
          </a:lstStyle>
          <a:p>
            <a:pPr>
              <a:spcAft>
                <a:spcPts val="500"/>
              </a:spcAft>
              <a:defRPr sz="1725" b="0">
                <a:solidFill>
                  <a:srgbClr val="111111"/>
                </a:solidFill>
                <a:latin typeface="Calibri"/>
                <a:ea typeface="Calibri"/>
                <a:cs typeface="Calibri"/>
              </a:defRPr>
            </a:pPr>
            <a:r>
              <a:rPr lang="en-GB" sz="1400" b="1" dirty="0">
                <a:latin typeface="Calibri"/>
              </a:rPr>
              <a:t>1  EXTRACT</a:t>
            </a:r>
          </a:p>
          <a:p>
            <a:pPr>
              <a:spcAft>
                <a:spcPts val="500"/>
              </a:spcAft>
            </a:pPr>
            <a:r>
              <a:rPr lang="en-GB" sz="1400" dirty="0"/>
              <a:t>Read bmc_train.csv (960,000 × 35) with pandas. Keep bmc_test.csv separate because </a:t>
            </a:r>
            <a:r>
              <a:rPr lang="en-GB" sz="1400" dirty="0" err="1"/>
              <a:t>citizen_satisfied</a:t>
            </a:r>
            <a:r>
              <a:rPr lang="en-GB" sz="1400" dirty="0"/>
              <a:t> is withheld.</a:t>
            </a:r>
          </a:p>
          <a:p>
            <a:pPr>
              <a:spcAft>
                <a:spcPts val="500"/>
              </a:spcAft>
            </a:pPr>
            <a:r>
              <a:rPr lang="en-GB" sz="1400" b="1" dirty="0"/>
              <a:t>2  PROFILE &amp; CLEAN</a:t>
            </a:r>
          </a:p>
          <a:p>
            <a:pPr>
              <a:spcAft>
                <a:spcPts val="500"/>
              </a:spcAft>
            </a:pPr>
            <a:r>
              <a:rPr lang="en-GB" sz="1400" dirty="0"/>
              <a:t>Check schema and data types, parse </a:t>
            </a:r>
            <a:r>
              <a:rPr lang="en-GB" sz="1400" dirty="0" err="1"/>
              <a:t>complaint_date</a:t>
            </a:r>
            <a:r>
              <a:rPr lang="en-GB" sz="1400" dirty="0"/>
              <a:t>, standardize string, date and measure formats, drop duplicate </a:t>
            </a:r>
            <a:r>
              <a:rPr lang="en-GB" sz="1400" dirty="0" err="1"/>
              <a:t>complaint_id</a:t>
            </a:r>
            <a:r>
              <a:rPr lang="en-GB" sz="1400" dirty="0"/>
              <a:t> values.</a:t>
            </a:r>
          </a:p>
          <a:p>
            <a:pPr>
              <a:spcAft>
                <a:spcPts val="500"/>
              </a:spcAft>
            </a:pPr>
            <a:r>
              <a:rPr lang="en-GB" sz="1400" b="1" dirty="0"/>
              <a:t>3  TRANSFORM</a:t>
            </a:r>
          </a:p>
          <a:p>
            <a:pPr>
              <a:spcAft>
                <a:spcPts val="500"/>
              </a:spcAft>
            </a:pPr>
            <a:r>
              <a:rPr lang="en-GB" sz="1400" dirty="0"/>
              <a:t>Add calendar fields (day, month, </a:t>
            </a:r>
            <a:r>
              <a:rPr lang="en-GB" sz="1400" dirty="0" err="1"/>
              <a:t>month_name</a:t>
            </a:r>
            <a:r>
              <a:rPr lang="en-GB" sz="1400" dirty="0"/>
              <a:t>, quarter, year, </a:t>
            </a:r>
            <a:r>
              <a:rPr lang="en-GB" sz="1400" dirty="0" err="1"/>
              <a:t>day_of_week</a:t>
            </a:r>
            <a:r>
              <a:rPr lang="en-GB" sz="1400" dirty="0"/>
              <a:t>) and the monsoon flag (June–September). Set </a:t>
            </a:r>
            <a:r>
              <a:rPr lang="en-GB" sz="1400" dirty="0" err="1"/>
              <a:t>complaint_count</a:t>
            </a:r>
            <a:r>
              <a:rPr lang="en-GB" sz="1400" dirty="0"/>
              <a:t> = 1.</a:t>
            </a:r>
          </a:p>
          <a:p>
            <a:pPr>
              <a:spcAft>
                <a:spcPts val="500"/>
              </a:spcAft>
            </a:pPr>
            <a:r>
              <a:rPr lang="en-GB" sz="1400" b="1" dirty="0"/>
              <a:t>4  BUILD DIMENSIONS</a:t>
            </a:r>
          </a:p>
          <a:p>
            <a:pPr>
              <a:spcAft>
                <a:spcPts val="500"/>
              </a:spcAft>
            </a:pPr>
            <a:r>
              <a:rPr lang="en-GB" sz="1400" dirty="0"/>
              <a:t>Create unique time, location, category and status records, with integer surrogate keys and lookup maps.</a:t>
            </a:r>
          </a:p>
          <a:p>
            <a:pPr>
              <a:spcAft>
                <a:spcPts val="500"/>
              </a:spcAft>
            </a:pPr>
            <a:r>
              <a:rPr lang="en-GB" sz="1400" b="1" dirty="0"/>
              <a:t>5  LOAD FACTS</a:t>
            </a:r>
          </a:p>
          <a:p>
            <a:pPr>
              <a:spcAft>
                <a:spcPts val="500"/>
              </a:spcAft>
            </a:pPr>
            <a:r>
              <a:rPr lang="en-GB" sz="1400" dirty="0"/>
              <a:t>Map the four FKs on each complaint row and keep the measures and binary flags. Load dimensions first, then </a:t>
            </a:r>
            <a:r>
              <a:rPr lang="en-GB" sz="1400" dirty="0" err="1"/>
              <a:t>fact_complaint</a:t>
            </a:r>
            <a:r>
              <a:rPr lang="en-GB" sz="1400" dirty="0"/>
              <a:t>.</a:t>
            </a:r>
          </a:p>
        </p:txBody>
      </p:sp>
      <p:graphicFrame>
        <p:nvGraphicFramePr>
          <p:cNvPr id="28" name="Table 27">
            <a:extLst>
              <a:ext uri="{FF2B5EF4-FFF2-40B4-BE49-F238E27FC236}">
                <a16:creationId xmlns:a16="http://schemas.microsoft.com/office/drawing/2014/main" id="{13B3343C-CE74-4946-BB09-3EF1EBC9580A}"/>
              </a:ext>
            </a:extLst>
          </p:cNvPr>
          <p:cNvGraphicFramePr/>
          <p:nvPr/>
        </p:nvGraphicFramePr>
        <p:xfrm>
          <a:off x="6191250" y="1905000"/>
          <a:ext cx="5429250" cy="2619378"/>
        </p:xfrm>
        <a:graphic>
          <a:graphicData uri="http://schemas.openxmlformats.org/drawingml/2006/table">
            <a:tbl>
              <a:tblPr/>
              <a:tblGrid>
                <a:gridCol w="32385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tblGrid>
              <a:tr h="436563">
                <a:tc>
                  <a:txBody>
                    <a:bodyPr/>
                    <a:lstStyle/>
                    <a:p>
                      <a:r>
                        <a:rPr sz="1725" b="1">
                          <a:solidFill>
                            <a:srgbClr val="FFFFFF"/>
                          </a:solidFill>
                          <a:latin typeface="Calibri"/>
                          <a:ea typeface="Calibri"/>
                          <a:cs typeface="Calibri"/>
                        </a:rPr>
                        <a:t>Warehouse table</a:t>
                      </a:r>
                    </a:p>
                  </a:txBody>
                  <a:tcPr anchor="ctr">
                    <a:solidFill>
                      <a:srgbClr val="111111"/>
                    </a:solidFill>
                  </a:tcPr>
                </a:tc>
                <a:tc>
                  <a:txBody>
                    <a:bodyPr/>
                    <a:lstStyle/>
                    <a:p>
                      <a:r>
                        <a:rPr sz="1725" b="1">
                          <a:solidFill>
                            <a:srgbClr val="FFFFFF"/>
                          </a:solidFill>
                          <a:latin typeface="Calibri"/>
                          <a:ea typeface="Calibri"/>
                          <a:cs typeface="Calibri"/>
                        </a:rPr>
                        <a:t>Loaded rows</a:t>
                      </a:r>
                    </a:p>
                  </a:txBody>
                  <a:tcPr anchor="ctr">
                    <a:solidFill>
                      <a:srgbClr val="111111"/>
                    </a:solidFill>
                  </a:tcPr>
                </a:tc>
                <a:extLst>
                  <a:ext uri="{0D108BD9-81ED-4DB2-BD59-A6C34878D82A}">
                    <a16:rowId xmlns:a16="http://schemas.microsoft.com/office/drawing/2014/main" val="10000"/>
                  </a:ext>
                </a:extLst>
              </a:tr>
              <a:tr h="436563">
                <a:tc>
                  <a:txBody>
                    <a:bodyPr/>
                    <a:lstStyle/>
                    <a:p>
                      <a:r>
                        <a:rPr sz="1725" b="0">
                          <a:solidFill>
                            <a:srgbClr val="111111"/>
                          </a:solidFill>
                          <a:latin typeface="Calibri"/>
                          <a:ea typeface="Calibri"/>
                          <a:cs typeface="Calibri"/>
                        </a:rPr>
                        <a:t>fact_complaint</a:t>
                      </a:r>
                    </a:p>
                  </a:txBody>
                  <a:tcPr anchor="ctr">
                    <a:solidFill>
                      <a:srgbClr val="FFFFFF"/>
                    </a:solidFill>
                  </a:tcPr>
                </a:tc>
                <a:tc>
                  <a:txBody>
                    <a:bodyPr/>
                    <a:lstStyle/>
                    <a:p>
                      <a:r>
                        <a:rPr sz="1725" b="0">
                          <a:solidFill>
                            <a:srgbClr val="111111"/>
                          </a:solidFill>
                          <a:latin typeface="Calibri"/>
                          <a:ea typeface="Calibri"/>
                          <a:cs typeface="Calibri"/>
                        </a:rPr>
                        <a:t>960,000</a:t>
                      </a:r>
                    </a:p>
                  </a:txBody>
                  <a:tcPr anchor="ctr">
                    <a:solidFill>
                      <a:srgbClr val="FFFFFF"/>
                    </a:solidFill>
                  </a:tcPr>
                </a:tc>
                <a:extLst>
                  <a:ext uri="{0D108BD9-81ED-4DB2-BD59-A6C34878D82A}">
                    <a16:rowId xmlns:a16="http://schemas.microsoft.com/office/drawing/2014/main" val="10001"/>
                  </a:ext>
                </a:extLst>
              </a:tr>
              <a:tr h="436563">
                <a:tc>
                  <a:txBody>
                    <a:bodyPr/>
                    <a:lstStyle/>
                    <a:p>
                      <a:r>
                        <a:rPr sz="1725" b="0">
                          <a:solidFill>
                            <a:srgbClr val="111111"/>
                          </a:solidFill>
                          <a:latin typeface="Calibri"/>
                          <a:ea typeface="Calibri"/>
                          <a:cs typeface="Calibri"/>
                        </a:rPr>
                        <a:t>dim_time</a:t>
                      </a:r>
                    </a:p>
                  </a:txBody>
                  <a:tcPr anchor="ctr">
                    <a:solidFill>
                      <a:srgbClr val="FFFFFF"/>
                    </a:solidFill>
                  </a:tcPr>
                </a:tc>
                <a:tc>
                  <a:txBody>
                    <a:bodyPr/>
                    <a:lstStyle/>
                    <a:p>
                      <a:r>
                        <a:rPr sz="1725" b="0">
                          <a:solidFill>
                            <a:srgbClr val="111111"/>
                          </a:solidFill>
                          <a:latin typeface="Calibri"/>
                          <a:ea typeface="Calibri"/>
                          <a:cs typeface="Calibri"/>
                        </a:rPr>
                        <a:t>2,556</a:t>
                      </a:r>
                    </a:p>
                  </a:txBody>
                  <a:tcPr anchor="ctr">
                    <a:solidFill>
                      <a:srgbClr val="FFFFFF"/>
                    </a:solidFill>
                  </a:tcPr>
                </a:tc>
                <a:extLst>
                  <a:ext uri="{0D108BD9-81ED-4DB2-BD59-A6C34878D82A}">
                    <a16:rowId xmlns:a16="http://schemas.microsoft.com/office/drawing/2014/main" val="10002"/>
                  </a:ext>
                </a:extLst>
              </a:tr>
              <a:tr h="436563">
                <a:tc>
                  <a:txBody>
                    <a:bodyPr/>
                    <a:lstStyle/>
                    <a:p>
                      <a:r>
                        <a:rPr sz="1725" b="0">
                          <a:solidFill>
                            <a:srgbClr val="111111"/>
                          </a:solidFill>
                          <a:latin typeface="Calibri"/>
                          <a:ea typeface="Calibri"/>
                          <a:cs typeface="Calibri"/>
                        </a:rPr>
                        <a:t>dim_location</a:t>
                      </a:r>
                    </a:p>
                  </a:txBody>
                  <a:tcPr anchor="ctr">
                    <a:solidFill>
                      <a:srgbClr val="FFFFFF"/>
                    </a:solidFill>
                  </a:tcPr>
                </a:tc>
                <a:tc>
                  <a:txBody>
                    <a:bodyPr/>
                    <a:lstStyle/>
                    <a:p>
                      <a:r>
                        <a:rPr sz="1725" b="0">
                          <a:solidFill>
                            <a:srgbClr val="111111"/>
                          </a:solidFill>
                          <a:latin typeface="Calibri"/>
                          <a:ea typeface="Calibri"/>
                          <a:cs typeface="Calibri"/>
                        </a:rPr>
                        <a:t>24</a:t>
                      </a:r>
                    </a:p>
                  </a:txBody>
                  <a:tcPr anchor="ctr">
                    <a:solidFill>
                      <a:srgbClr val="FFFFFF"/>
                    </a:solidFill>
                  </a:tcPr>
                </a:tc>
                <a:extLst>
                  <a:ext uri="{0D108BD9-81ED-4DB2-BD59-A6C34878D82A}">
                    <a16:rowId xmlns:a16="http://schemas.microsoft.com/office/drawing/2014/main" val="10003"/>
                  </a:ext>
                </a:extLst>
              </a:tr>
              <a:tr h="436563">
                <a:tc>
                  <a:txBody>
                    <a:bodyPr/>
                    <a:lstStyle/>
                    <a:p>
                      <a:r>
                        <a:rPr sz="1725" b="0">
                          <a:solidFill>
                            <a:srgbClr val="111111"/>
                          </a:solidFill>
                          <a:latin typeface="Calibri"/>
                          <a:ea typeface="Calibri"/>
                          <a:cs typeface="Calibri"/>
                        </a:rPr>
                        <a:t>dim_category</a:t>
                      </a:r>
                    </a:p>
                  </a:txBody>
                  <a:tcPr anchor="ctr">
                    <a:solidFill>
                      <a:srgbClr val="FFFFFF"/>
                    </a:solidFill>
                  </a:tcPr>
                </a:tc>
                <a:tc>
                  <a:txBody>
                    <a:bodyPr/>
                    <a:lstStyle/>
                    <a:p>
                      <a:r>
                        <a:rPr sz="1725" b="0">
                          <a:solidFill>
                            <a:srgbClr val="111111"/>
                          </a:solidFill>
                          <a:latin typeface="Calibri"/>
                          <a:ea typeface="Calibri"/>
                          <a:cs typeface="Calibri"/>
                        </a:rPr>
                        <a:t>13</a:t>
                      </a:r>
                    </a:p>
                  </a:txBody>
                  <a:tcPr anchor="ctr">
                    <a:solidFill>
                      <a:srgbClr val="FFFFFF"/>
                    </a:solidFill>
                  </a:tcPr>
                </a:tc>
                <a:extLst>
                  <a:ext uri="{0D108BD9-81ED-4DB2-BD59-A6C34878D82A}">
                    <a16:rowId xmlns:a16="http://schemas.microsoft.com/office/drawing/2014/main" val="10004"/>
                  </a:ext>
                </a:extLst>
              </a:tr>
              <a:tr h="436563">
                <a:tc>
                  <a:txBody>
                    <a:bodyPr/>
                    <a:lstStyle/>
                    <a:p>
                      <a:r>
                        <a:rPr sz="1725" b="0">
                          <a:solidFill>
                            <a:srgbClr val="111111"/>
                          </a:solidFill>
                          <a:latin typeface="Calibri"/>
                          <a:ea typeface="Calibri"/>
                          <a:cs typeface="Calibri"/>
                        </a:rPr>
                        <a:t>dim_status</a:t>
                      </a:r>
                    </a:p>
                  </a:txBody>
                  <a:tcPr anchor="ctr">
                    <a:solidFill>
                      <a:srgbClr val="FFFFFF"/>
                    </a:solidFill>
                  </a:tcPr>
                </a:tc>
                <a:tc>
                  <a:txBody>
                    <a:bodyPr/>
                    <a:lstStyle/>
                    <a:p>
                      <a:r>
                        <a:rPr sz="1725" b="0">
                          <a:solidFill>
                            <a:srgbClr val="111111"/>
                          </a:solidFill>
                          <a:latin typeface="Calibri"/>
                          <a:ea typeface="Calibri"/>
                          <a:cs typeface="Calibri"/>
                        </a:rPr>
                        <a:t>100</a:t>
                      </a:r>
                    </a:p>
                  </a:txBody>
                  <a:tcPr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29" name="Table 28">
            <a:extLst>
              <a:ext uri="{FF2B5EF4-FFF2-40B4-BE49-F238E27FC236}">
                <a16:creationId xmlns:a16="http://schemas.microsoft.com/office/drawing/2014/main" id="{7D291125-F15E-4C5B-8982-EFDD80973C7C}"/>
              </a:ext>
            </a:extLst>
          </p:cNvPr>
          <p:cNvGraphicFramePr/>
          <p:nvPr/>
        </p:nvGraphicFramePr>
        <p:xfrm>
          <a:off x="6191250" y="4800600"/>
          <a:ext cx="5429250" cy="1280160"/>
        </p:xfrm>
        <a:graphic>
          <a:graphicData uri="http://schemas.openxmlformats.org/drawingml/2006/table">
            <a:tbl>
              <a:tblPr/>
              <a:tblGrid>
                <a:gridCol w="39052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19088">
                <a:tc>
                  <a:txBody>
                    <a:bodyPr/>
                    <a:lstStyle/>
                    <a:p>
                      <a:r>
                        <a:rPr sz="1500" b="1">
                          <a:solidFill>
                            <a:srgbClr val="FFFFFF"/>
                          </a:solidFill>
                          <a:latin typeface="Calibri"/>
                          <a:ea typeface="Calibri"/>
                          <a:cs typeface="Calibri"/>
                        </a:rPr>
                        <a:t>Notebook validation</a:t>
                      </a:r>
                    </a:p>
                  </a:txBody>
                  <a:tcPr anchor="ctr">
                    <a:solidFill>
                      <a:srgbClr val="111111"/>
                    </a:solidFill>
                  </a:tcPr>
                </a:tc>
                <a:tc>
                  <a:txBody>
                    <a:bodyPr/>
                    <a:lstStyle/>
                    <a:p>
                      <a:r>
                        <a:rPr sz="1500" b="1">
                          <a:solidFill>
                            <a:srgbClr val="FFFFFF"/>
                          </a:solidFill>
                          <a:latin typeface="Calibri"/>
                          <a:ea typeface="Calibri"/>
                          <a:cs typeface="Calibri"/>
                        </a:rPr>
                        <a:t>Result</a:t>
                      </a:r>
                    </a:p>
                  </a:txBody>
                  <a:tcPr anchor="ctr">
                    <a:solidFill>
                      <a:srgbClr val="111111"/>
                    </a:solidFill>
                  </a:tcPr>
                </a:tc>
                <a:extLst>
                  <a:ext uri="{0D108BD9-81ED-4DB2-BD59-A6C34878D82A}">
                    <a16:rowId xmlns:a16="http://schemas.microsoft.com/office/drawing/2014/main" val="10000"/>
                  </a:ext>
                </a:extLst>
              </a:tr>
              <a:tr h="319088">
                <a:tc>
                  <a:txBody>
                    <a:bodyPr/>
                    <a:lstStyle/>
                    <a:p>
                      <a:r>
                        <a:rPr sz="1500" b="0">
                          <a:solidFill>
                            <a:srgbClr val="111111"/>
                          </a:solidFill>
                          <a:latin typeface="Calibri"/>
                          <a:ea typeface="Calibri"/>
                          <a:cs typeface="Calibri"/>
                        </a:rPr>
                        <a:t>Orphan records across 4 FKs</a:t>
                      </a:r>
                    </a:p>
                  </a:txBody>
                  <a:tcPr anchor="ctr">
                    <a:solidFill>
                      <a:srgbClr val="FFFFFF"/>
                    </a:solidFill>
                  </a:tcPr>
                </a:tc>
                <a:tc>
                  <a:txBody>
                    <a:bodyPr/>
                    <a:lstStyle/>
                    <a:p>
                      <a:r>
                        <a:rPr sz="1500" b="0">
                          <a:solidFill>
                            <a:srgbClr val="111111"/>
                          </a:solidFill>
                          <a:latin typeface="Calibri"/>
                          <a:ea typeface="Calibri"/>
                          <a:cs typeface="Calibri"/>
                        </a:rPr>
                        <a:t>0</a:t>
                      </a:r>
                    </a:p>
                  </a:txBody>
                  <a:tcPr anchor="ctr">
                    <a:solidFill>
                      <a:srgbClr val="FFFFFF"/>
                    </a:solidFill>
                  </a:tcPr>
                </a:tc>
                <a:extLst>
                  <a:ext uri="{0D108BD9-81ED-4DB2-BD59-A6C34878D82A}">
                    <a16:rowId xmlns:a16="http://schemas.microsoft.com/office/drawing/2014/main" val="10001"/>
                  </a:ext>
                </a:extLst>
              </a:tr>
              <a:tr h="319088">
                <a:tc>
                  <a:txBody>
                    <a:bodyPr/>
                    <a:lstStyle/>
                    <a:p>
                      <a:r>
                        <a:rPr sz="1500" b="0">
                          <a:solidFill>
                            <a:srgbClr val="111111"/>
                          </a:solidFill>
                          <a:latin typeface="Calibri"/>
                          <a:ea typeface="Calibri"/>
                          <a:cs typeface="Calibri"/>
                        </a:rPr>
                        <a:t>Missing source values</a:t>
                      </a:r>
                    </a:p>
                  </a:txBody>
                  <a:tcPr anchor="ctr">
                    <a:solidFill>
                      <a:srgbClr val="FFFFFF"/>
                    </a:solidFill>
                  </a:tcPr>
                </a:tc>
                <a:tc>
                  <a:txBody>
                    <a:bodyPr/>
                    <a:lstStyle/>
                    <a:p>
                      <a:r>
                        <a:rPr sz="1500" b="0">
                          <a:solidFill>
                            <a:srgbClr val="111111"/>
                          </a:solidFill>
                          <a:latin typeface="Calibri"/>
                          <a:ea typeface="Calibri"/>
                          <a:cs typeface="Calibri"/>
                        </a:rPr>
                        <a:t>0</a:t>
                      </a:r>
                    </a:p>
                  </a:txBody>
                  <a:tcPr anchor="ctr">
                    <a:solidFill>
                      <a:srgbClr val="FFFFFF"/>
                    </a:solidFill>
                  </a:tcPr>
                </a:tc>
                <a:extLst>
                  <a:ext uri="{0D108BD9-81ED-4DB2-BD59-A6C34878D82A}">
                    <a16:rowId xmlns:a16="http://schemas.microsoft.com/office/drawing/2014/main" val="10002"/>
                  </a:ext>
                </a:extLst>
              </a:tr>
              <a:tr h="319088">
                <a:tc>
                  <a:txBody>
                    <a:bodyPr/>
                    <a:lstStyle/>
                    <a:p>
                      <a:r>
                        <a:rPr sz="1500" b="0">
                          <a:solidFill>
                            <a:srgbClr val="111111"/>
                          </a:solidFill>
                          <a:latin typeface="Calibri"/>
                          <a:ea typeface="Calibri"/>
                          <a:cs typeface="Calibri"/>
                        </a:rPr>
                        <a:t>Duplicate complaint IDs</a:t>
                      </a:r>
                    </a:p>
                  </a:txBody>
                  <a:tcPr anchor="ctr">
                    <a:solidFill>
                      <a:srgbClr val="FFFFFF"/>
                    </a:solidFill>
                  </a:tcPr>
                </a:tc>
                <a:tc>
                  <a:txBody>
                    <a:bodyPr/>
                    <a:lstStyle/>
                    <a:p>
                      <a:r>
                        <a:rPr sz="1500" b="0">
                          <a:solidFill>
                            <a:srgbClr val="111111"/>
                          </a:solidFill>
                          <a:latin typeface="Calibri"/>
                          <a:ea typeface="Calibri"/>
                          <a:cs typeface="Calibri"/>
                        </a:rPr>
                        <a:t>0</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64190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483127DE-7DAD-459B-BA71-0B9F34796FF9}"/>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Code: Python ETL &amp; Loaded Results</a:t>
            </a:r>
            <a:endParaRPr sz="2800"/>
          </a:p>
        </p:txBody>
      </p:sp>
      <p:sp>
        <p:nvSpPr>
          <p:cNvPr id="25" name="Slide Number Placeholder 0">
            <a:extLst>
              <a:ext uri="{FF2B5EF4-FFF2-40B4-BE49-F238E27FC236}">
                <a16:creationId xmlns:a16="http://schemas.microsoft.com/office/drawing/2014/main" id="{4EC4132D-EE53-427F-B30F-EEB3BB421953}"/>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15</a:t>
            </a:r>
          </a:p>
        </p:txBody>
      </p:sp>
      <p:sp>
        <p:nvSpPr>
          <p:cNvPr id="26" name="Rectangle 25">
            <a:extLst>
              <a:ext uri="{FF2B5EF4-FFF2-40B4-BE49-F238E27FC236}">
                <a16:creationId xmlns:a16="http://schemas.microsoft.com/office/drawing/2014/main" id="{CDC03F6D-74F1-4DE6-AC3C-01B897D1B756}"/>
              </a:ext>
            </a:extLst>
          </p:cNvPr>
          <p:cNvSpPr>
            <a:spLocks noGrp="1"/>
          </p:cNvSpPr>
          <p:nvPr/>
        </p:nvSpPr>
        <p:spPr>
          <a:xfrm>
            <a:off x="552450" y="1590675"/>
            <a:ext cx="6267450" cy="3981450"/>
          </a:xfrm>
          <a:prstGeom prst="rect">
            <a:avLst/>
          </a:prstGeom>
          <a:solidFill>
            <a:srgbClr val="111111"/>
          </a:solidFill>
          <a:ln w="0">
            <a:solidFill>
              <a:srgbClr val="111111"/>
            </a:solidFill>
          </a:ln>
        </p:spPr>
      </p:sp>
      <p:sp>
        <p:nvSpPr>
          <p:cNvPr id="27" name="Rectangle 26">
            <a:extLst>
              <a:ext uri="{FF2B5EF4-FFF2-40B4-BE49-F238E27FC236}">
                <a16:creationId xmlns:a16="http://schemas.microsoft.com/office/drawing/2014/main" id="{EA4A1642-540E-4B8F-94AA-1A727644F7D6}"/>
              </a:ext>
            </a:extLst>
          </p:cNvPr>
          <p:cNvSpPr>
            <a:spLocks noGrp="1"/>
          </p:cNvSpPr>
          <p:nvPr/>
        </p:nvSpPr>
        <p:spPr>
          <a:xfrm>
            <a:off x="685800" y="1704975"/>
            <a:ext cx="6000750" cy="3752850"/>
          </a:xfrm>
          <a:prstGeom prst="rect">
            <a:avLst/>
          </a:prstGeom>
          <a:noFill/>
          <a:ln w="0">
            <a:noFill/>
          </a:ln>
        </p:spPr>
        <p:txBody>
          <a:bodyPr lIns="0" tIns="0" rIns="0" bIns="0">
            <a:noAutofit/>
          </a:bodyPr>
          <a:lstStyle>
            <a:defPPr>
              <a:defRPr sz="1500" b="0">
                <a:solidFill>
                  <a:srgbClr val="FFFFFF"/>
                </a:solidFill>
                <a:latin typeface="Consolas"/>
                <a:ea typeface="Consolas"/>
                <a:cs typeface="Consolas"/>
              </a:defRPr>
            </a:defPPr>
          </a:lstStyle>
          <a:p>
            <a:pPr>
              <a:defRPr sz="1500" b="0">
                <a:solidFill>
                  <a:srgbClr val="FFFFFF"/>
                </a:solidFill>
                <a:latin typeface="Consolas"/>
                <a:ea typeface="Consolas"/>
                <a:cs typeface="Consolas"/>
              </a:defRPr>
            </a:pPr>
            <a:r>
              <a:rPr sz="1500" b="0">
                <a:solidFill>
                  <a:srgbClr val="FFFFFF"/>
                </a:solidFill>
                <a:latin typeface="Consolas"/>
                <a:ea typeface="Consolas"/>
                <a:cs typeface="Consolas"/>
              </a:rPr>
              <a:t>df_raw = pd.read_csv(raw_train_path)</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df_cleaned = df_raw.copy()</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df_cleaned = (df_cleaned</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.drop_duplicates(subset=["complaint_id"])</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.reset_index(drop=True))</a:t>
            </a:r>
          </a:p>
          <a:p>
            <a:endParaRPr sz="1500" b="0">
              <a:solidFill>
                <a:srgbClr val="FFFFFF"/>
              </a:solidFill>
              <a:latin typeface="Consolas"/>
              <a:ea typeface="Consolas"/>
              <a:cs typeface="Consolas"/>
            </a:endParaRP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dim_time["time_key"] = dim_time.index + 1</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fact_complaint["time_key"] = (</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df_cleaned["full_date"].map(time_lookup))</a:t>
            </a:r>
          </a:p>
          <a:p>
            <a:endParaRPr sz="1500" b="0">
              <a:solidFill>
                <a:srgbClr val="FFFFFF"/>
              </a:solidFill>
              <a:latin typeface="Consolas"/>
              <a:ea typeface="Consolas"/>
              <a:cs typeface="Consolas"/>
            </a:endParaRP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dim_time.to_sql("dim_time", engine,</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if_exists="append", index=False,</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chunksize=1000, method="multi")</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fact_complaint.to_sql("fact_complaint", engine,</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if_exists="append", index=False,</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chunksize=20000, method="multi")</a:t>
            </a:r>
          </a:p>
        </p:txBody>
      </p:sp>
      <p:sp>
        <p:nvSpPr>
          <p:cNvPr id="28" name="Rectangle 27">
            <a:extLst>
              <a:ext uri="{FF2B5EF4-FFF2-40B4-BE49-F238E27FC236}">
                <a16:creationId xmlns:a16="http://schemas.microsoft.com/office/drawing/2014/main" id="{48AE8A4E-4AA3-4A24-98CD-165D6A2658C8}"/>
              </a:ext>
            </a:extLst>
          </p:cNvPr>
          <p:cNvSpPr>
            <a:spLocks noGrp="1"/>
          </p:cNvSpPr>
          <p:nvPr/>
        </p:nvSpPr>
        <p:spPr>
          <a:xfrm>
            <a:off x="7096125" y="1600200"/>
            <a:ext cx="4524375" cy="514350"/>
          </a:xfrm>
          <a:prstGeom prst="rect">
            <a:avLst/>
          </a:prstGeom>
          <a:noFill/>
          <a:ln w="0">
            <a:noFill/>
          </a:ln>
        </p:spPr>
        <p:txBody>
          <a:bodyPr lIns="0" tIns="0" rIns="0" bIns="0">
            <a:noAutofit/>
          </a:bodyPr>
          <a:lstStyle>
            <a:defPPr>
              <a:defRPr sz="1800" b="1">
                <a:solidFill>
                  <a:srgbClr val="111111"/>
                </a:solidFill>
                <a:latin typeface="Calibri"/>
                <a:ea typeface="Calibri"/>
                <a:cs typeface="Calibri"/>
              </a:defRPr>
            </a:defPPr>
          </a:lstStyle>
          <a:p>
            <a:pPr>
              <a:defRPr sz="1800" b="1">
                <a:solidFill>
                  <a:srgbClr val="111111"/>
                </a:solidFill>
                <a:latin typeface="Calibri"/>
                <a:ea typeface="Calibri"/>
                <a:cs typeface="Calibri"/>
              </a:defRPr>
            </a:pPr>
            <a:r>
              <a:rPr sz="1800" b="1">
                <a:solidFill>
                  <a:srgbClr val="111111"/>
                </a:solidFill>
                <a:latin typeface="Calibri"/>
                <a:ea typeface="Calibri"/>
                <a:cs typeface="Calibri"/>
              </a:rPr>
              <a:t>Loaded warehouse join: sample rows</a:t>
            </a:r>
          </a:p>
        </p:txBody>
      </p:sp>
      <p:graphicFrame>
        <p:nvGraphicFramePr>
          <p:cNvPr id="29" name="Table 28">
            <a:extLst>
              <a:ext uri="{FF2B5EF4-FFF2-40B4-BE49-F238E27FC236}">
                <a16:creationId xmlns:a16="http://schemas.microsoft.com/office/drawing/2014/main" id="{9EE756A6-49AA-42C2-AC8D-938814A7698A}"/>
              </a:ext>
            </a:extLst>
          </p:cNvPr>
          <p:cNvGraphicFramePr/>
          <p:nvPr/>
        </p:nvGraphicFramePr>
        <p:xfrm>
          <a:off x="7096125" y="2314575"/>
          <a:ext cx="4524375" cy="2190750"/>
        </p:xfrm>
        <a:graphic>
          <a:graphicData uri="http://schemas.openxmlformats.org/drawingml/2006/table">
            <a:tbl>
              <a:tblPr/>
              <a:tblGrid>
                <a:gridCol w="523875">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619125">
                  <a:extLst>
                    <a:ext uri="{9D8B030D-6E8A-4147-A177-3AD203B41FA5}">
                      <a16:colId xmlns:a16="http://schemas.microsoft.com/office/drawing/2014/main" val="20003"/>
                    </a:ext>
                  </a:extLst>
                </a:gridCol>
                <a:gridCol w="1362075">
                  <a:extLst>
                    <a:ext uri="{9D8B030D-6E8A-4147-A177-3AD203B41FA5}">
                      <a16:colId xmlns:a16="http://schemas.microsoft.com/office/drawing/2014/main" val="20004"/>
                    </a:ext>
                  </a:extLst>
                </a:gridCol>
              </a:tblGrid>
              <a:tr h="438150">
                <a:tc>
                  <a:txBody>
                    <a:bodyPr/>
                    <a:lstStyle/>
                    <a:p>
                      <a:r>
                        <a:rPr sz="1500" b="1">
                          <a:solidFill>
                            <a:srgbClr val="FFFFFF"/>
                          </a:solidFill>
                          <a:latin typeface="Calibri"/>
                          <a:ea typeface="Calibri"/>
                          <a:cs typeface="Calibri"/>
                        </a:rPr>
                        <a:t>Key</a:t>
                      </a:r>
                    </a:p>
                  </a:txBody>
                  <a:tcPr anchor="ctr">
                    <a:solidFill>
                      <a:srgbClr val="111111"/>
                    </a:solidFill>
                  </a:tcPr>
                </a:tc>
                <a:tc>
                  <a:txBody>
                    <a:bodyPr/>
                    <a:lstStyle/>
                    <a:p>
                      <a:r>
                        <a:rPr sz="1500" b="1">
                          <a:solidFill>
                            <a:srgbClr val="FFFFFF"/>
                          </a:solidFill>
                          <a:latin typeface="Calibri"/>
                          <a:ea typeface="Calibri"/>
                          <a:cs typeface="Calibri"/>
                        </a:rPr>
                        <a:t>Date</a:t>
                      </a:r>
                    </a:p>
                  </a:txBody>
                  <a:tcPr anchor="ctr">
                    <a:solidFill>
                      <a:srgbClr val="111111"/>
                    </a:solidFill>
                  </a:tcPr>
                </a:tc>
                <a:tc>
                  <a:txBody>
                    <a:bodyPr/>
                    <a:lstStyle/>
                    <a:p>
                      <a:r>
                        <a:rPr sz="1500" b="1">
                          <a:solidFill>
                            <a:srgbClr val="FFFFFF"/>
                          </a:solidFill>
                          <a:latin typeface="Calibri"/>
                          <a:ea typeface="Calibri"/>
                          <a:cs typeface="Calibri"/>
                        </a:rPr>
                        <a:t>Ward</a:t>
                      </a:r>
                    </a:p>
                  </a:txBody>
                  <a:tcPr anchor="ctr">
                    <a:solidFill>
                      <a:srgbClr val="111111"/>
                    </a:solidFill>
                  </a:tcPr>
                </a:tc>
                <a:tc>
                  <a:txBody>
                    <a:bodyPr/>
                    <a:lstStyle/>
                    <a:p>
                      <a:r>
                        <a:rPr sz="1500" b="1">
                          <a:solidFill>
                            <a:srgbClr val="FFFFFF"/>
                          </a:solidFill>
                          <a:latin typeface="Calibri"/>
                          <a:ea typeface="Calibri"/>
                          <a:cs typeface="Calibri"/>
                        </a:rPr>
                        <a:t>Days</a:t>
                      </a:r>
                    </a:p>
                  </a:txBody>
                  <a:tcPr anchor="ctr">
                    <a:solidFill>
                      <a:srgbClr val="111111"/>
                    </a:solidFill>
                  </a:tcPr>
                </a:tc>
                <a:tc>
                  <a:txBody>
                    <a:bodyPr/>
                    <a:lstStyle/>
                    <a:p>
                      <a:r>
                        <a:rPr sz="1500" b="1">
                          <a:solidFill>
                            <a:srgbClr val="FFFFFF"/>
                          </a:solidFill>
                          <a:latin typeface="Calibri"/>
                          <a:ea typeface="Calibri"/>
                          <a:cs typeface="Calibri"/>
                        </a:rPr>
                        <a:t>Cost INR</a:t>
                      </a:r>
                    </a:p>
                  </a:txBody>
                  <a:tcPr anchor="ctr">
                    <a:solidFill>
                      <a:srgbClr val="111111"/>
                    </a:solidFill>
                  </a:tcPr>
                </a:tc>
                <a:extLst>
                  <a:ext uri="{0D108BD9-81ED-4DB2-BD59-A6C34878D82A}">
                    <a16:rowId xmlns:a16="http://schemas.microsoft.com/office/drawing/2014/main" val="10000"/>
                  </a:ext>
                </a:extLst>
              </a:tr>
              <a:tr h="438150">
                <a:tc>
                  <a:txBody>
                    <a:bodyPr/>
                    <a:lstStyle/>
                    <a:p>
                      <a:r>
                        <a:rPr sz="1500" b="0">
                          <a:solidFill>
                            <a:srgbClr val="111111"/>
                          </a:solidFill>
                          <a:latin typeface="Calibri"/>
                          <a:ea typeface="Calibri"/>
                          <a:cs typeface="Calibri"/>
                        </a:rPr>
                        <a:t>1</a:t>
                      </a:r>
                    </a:p>
                  </a:txBody>
                  <a:tcPr anchor="ctr">
                    <a:solidFill>
                      <a:srgbClr val="FFFFFF"/>
                    </a:solidFill>
                  </a:tcPr>
                </a:tc>
                <a:tc>
                  <a:txBody>
                    <a:bodyPr/>
                    <a:lstStyle/>
                    <a:p>
                      <a:r>
                        <a:rPr sz="1500" b="0">
                          <a:solidFill>
                            <a:srgbClr val="111111"/>
                          </a:solidFill>
                          <a:latin typeface="Calibri"/>
                          <a:ea typeface="Calibri"/>
                          <a:cs typeface="Calibri"/>
                        </a:rPr>
                        <a:t>2024-09-20</a:t>
                      </a:r>
                    </a:p>
                  </a:txBody>
                  <a:tcPr anchor="ctr">
                    <a:solidFill>
                      <a:srgbClr val="FFFFFF"/>
                    </a:solidFill>
                  </a:tcPr>
                </a:tc>
                <a:tc>
                  <a:txBody>
                    <a:bodyPr/>
                    <a:lstStyle/>
                    <a:p>
                      <a:r>
                        <a:rPr sz="1500" b="0">
                          <a:solidFill>
                            <a:srgbClr val="111111"/>
                          </a:solidFill>
                          <a:latin typeface="Calibri"/>
                          <a:ea typeface="Calibri"/>
                          <a:cs typeface="Calibri"/>
                        </a:rPr>
                        <a:t>A</a:t>
                      </a:r>
                    </a:p>
                  </a:txBody>
                  <a:tcPr anchor="ctr">
                    <a:solidFill>
                      <a:srgbClr val="FFFFFF"/>
                    </a:solidFill>
                  </a:tcPr>
                </a:tc>
                <a:tc>
                  <a:txBody>
                    <a:bodyPr/>
                    <a:lstStyle/>
                    <a:p>
                      <a:r>
                        <a:rPr sz="1500" b="0">
                          <a:solidFill>
                            <a:srgbClr val="111111"/>
                          </a:solidFill>
                          <a:latin typeface="Calibri"/>
                          <a:ea typeface="Calibri"/>
                          <a:cs typeface="Calibri"/>
                        </a:rPr>
                        <a:t>37</a:t>
                      </a:r>
                    </a:p>
                  </a:txBody>
                  <a:tcPr anchor="ctr">
                    <a:solidFill>
                      <a:srgbClr val="FFFFFF"/>
                    </a:solidFill>
                  </a:tcPr>
                </a:tc>
                <a:tc>
                  <a:txBody>
                    <a:bodyPr/>
                    <a:lstStyle/>
                    <a:p>
                      <a:r>
                        <a:rPr sz="1500" b="0">
                          <a:solidFill>
                            <a:srgbClr val="111111"/>
                          </a:solidFill>
                          <a:latin typeface="Calibri"/>
                          <a:ea typeface="Calibri"/>
                          <a:cs typeface="Calibri"/>
                        </a:rPr>
                        <a:t>1,500</a:t>
                      </a:r>
                    </a:p>
                  </a:txBody>
                  <a:tcPr anchor="ctr">
                    <a:solidFill>
                      <a:srgbClr val="FFFFFF"/>
                    </a:solidFill>
                  </a:tcPr>
                </a:tc>
                <a:extLst>
                  <a:ext uri="{0D108BD9-81ED-4DB2-BD59-A6C34878D82A}">
                    <a16:rowId xmlns:a16="http://schemas.microsoft.com/office/drawing/2014/main" val="10001"/>
                  </a:ext>
                </a:extLst>
              </a:tr>
              <a:tr h="438150">
                <a:tc>
                  <a:txBody>
                    <a:bodyPr/>
                    <a:lstStyle/>
                    <a:p>
                      <a:r>
                        <a:rPr sz="1500" b="0">
                          <a:solidFill>
                            <a:srgbClr val="111111"/>
                          </a:solidFill>
                          <a:latin typeface="Calibri"/>
                          <a:ea typeface="Calibri"/>
                          <a:cs typeface="Calibri"/>
                        </a:rPr>
                        <a:t>2</a:t>
                      </a:r>
                    </a:p>
                  </a:txBody>
                  <a:tcPr anchor="ctr">
                    <a:solidFill>
                      <a:srgbClr val="FFFFFF"/>
                    </a:solidFill>
                  </a:tcPr>
                </a:tc>
                <a:tc>
                  <a:txBody>
                    <a:bodyPr/>
                    <a:lstStyle/>
                    <a:p>
                      <a:r>
                        <a:rPr sz="1500" b="0">
                          <a:solidFill>
                            <a:srgbClr val="111111"/>
                          </a:solidFill>
                          <a:latin typeface="Calibri"/>
                          <a:ea typeface="Calibri"/>
                          <a:cs typeface="Calibri"/>
                        </a:rPr>
                        <a:t>2024-01-02</a:t>
                      </a:r>
                    </a:p>
                  </a:txBody>
                  <a:tcPr anchor="ctr">
                    <a:solidFill>
                      <a:srgbClr val="FFFFFF"/>
                    </a:solidFill>
                  </a:tcPr>
                </a:tc>
                <a:tc>
                  <a:txBody>
                    <a:bodyPr/>
                    <a:lstStyle/>
                    <a:p>
                      <a:r>
                        <a:rPr sz="1500" b="0">
                          <a:solidFill>
                            <a:srgbClr val="111111"/>
                          </a:solidFill>
                          <a:latin typeface="Calibri"/>
                          <a:ea typeface="Calibri"/>
                          <a:cs typeface="Calibri"/>
                        </a:rPr>
                        <a:t>P/N</a:t>
                      </a:r>
                    </a:p>
                  </a:txBody>
                  <a:tcPr anchor="ctr">
                    <a:solidFill>
                      <a:srgbClr val="FFFFFF"/>
                    </a:solidFill>
                  </a:tcPr>
                </a:tc>
                <a:tc>
                  <a:txBody>
                    <a:bodyPr/>
                    <a:lstStyle/>
                    <a:p>
                      <a:r>
                        <a:rPr sz="1500" b="0">
                          <a:solidFill>
                            <a:srgbClr val="111111"/>
                          </a:solidFill>
                          <a:latin typeface="Calibri"/>
                          <a:ea typeface="Calibri"/>
                          <a:cs typeface="Calibri"/>
                        </a:rPr>
                        <a:t>12</a:t>
                      </a:r>
                    </a:p>
                  </a:txBody>
                  <a:tcPr anchor="ctr">
                    <a:solidFill>
                      <a:srgbClr val="FFFFFF"/>
                    </a:solidFill>
                  </a:tcPr>
                </a:tc>
                <a:tc>
                  <a:txBody>
                    <a:bodyPr/>
                    <a:lstStyle/>
                    <a:p>
                      <a:r>
                        <a:rPr sz="1500" b="0">
                          <a:solidFill>
                            <a:srgbClr val="111111"/>
                          </a:solidFill>
                          <a:latin typeface="Calibri"/>
                          <a:ea typeface="Calibri"/>
                          <a:cs typeface="Calibri"/>
                        </a:rPr>
                        <a:t>38,600</a:t>
                      </a:r>
                    </a:p>
                  </a:txBody>
                  <a:tcPr anchor="ctr">
                    <a:solidFill>
                      <a:srgbClr val="FFFFFF"/>
                    </a:solidFill>
                  </a:tcPr>
                </a:tc>
                <a:extLst>
                  <a:ext uri="{0D108BD9-81ED-4DB2-BD59-A6C34878D82A}">
                    <a16:rowId xmlns:a16="http://schemas.microsoft.com/office/drawing/2014/main" val="10002"/>
                  </a:ext>
                </a:extLst>
              </a:tr>
              <a:tr h="438150">
                <a:tc>
                  <a:txBody>
                    <a:bodyPr/>
                    <a:lstStyle/>
                    <a:p>
                      <a:r>
                        <a:rPr sz="1500" b="0">
                          <a:solidFill>
                            <a:srgbClr val="111111"/>
                          </a:solidFill>
                          <a:latin typeface="Calibri"/>
                          <a:ea typeface="Calibri"/>
                          <a:cs typeface="Calibri"/>
                        </a:rPr>
                        <a:t>3</a:t>
                      </a:r>
                    </a:p>
                  </a:txBody>
                  <a:tcPr anchor="ctr">
                    <a:solidFill>
                      <a:srgbClr val="FFFFFF"/>
                    </a:solidFill>
                  </a:tcPr>
                </a:tc>
                <a:tc>
                  <a:txBody>
                    <a:bodyPr/>
                    <a:lstStyle/>
                    <a:p>
                      <a:r>
                        <a:rPr sz="1500" b="0">
                          <a:solidFill>
                            <a:srgbClr val="111111"/>
                          </a:solidFill>
                          <a:latin typeface="Calibri"/>
                          <a:ea typeface="Calibri"/>
                          <a:cs typeface="Calibri"/>
                        </a:rPr>
                        <a:t>2022-04-12</a:t>
                      </a:r>
                    </a:p>
                  </a:txBody>
                  <a:tcPr anchor="ctr">
                    <a:solidFill>
                      <a:srgbClr val="FFFFFF"/>
                    </a:solidFill>
                  </a:tcPr>
                </a:tc>
                <a:tc>
                  <a:txBody>
                    <a:bodyPr/>
                    <a:lstStyle/>
                    <a:p>
                      <a:r>
                        <a:rPr sz="1500" b="0">
                          <a:solidFill>
                            <a:srgbClr val="111111"/>
                          </a:solidFill>
                          <a:latin typeface="Calibri"/>
                          <a:ea typeface="Calibri"/>
                          <a:cs typeface="Calibri"/>
                        </a:rPr>
                        <a:t>B</a:t>
                      </a:r>
                    </a:p>
                  </a:txBody>
                  <a:tcPr anchor="ctr">
                    <a:solidFill>
                      <a:srgbClr val="FFFFFF"/>
                    </a:solidFill>
                  </a:tcPr>
                </a:tc>
                <a:tc>
                  <a:txBody>
                    <a:bodyPr/>
                    <a:lstStyle/>
                    <a:p>
                      <a:r>
                        <a:rPr sz="1500" b="0">
                          <a:solidFill>
                            <a:srgbClr val="111111"/>
                          </a:solidFill>
                          <a:latin typeface="Calibri"/>
                          <a:ea typeface="Calibri"/>
                          <a:cs typeface="Calibri"/>
                        </a:rPr>
                        <a:t>6</a:t>
                      </a:r>
                    </a:p>
                  </a:txBody>
                  <a:tcPr anchor="ctr">
                    <a:solidFill>
                      <a:srgbClr val="FFFFFF"/>
                    </a:solidFill>
                  </a:tcPr>
                </a:tc>
                <a:tc>
                  <a:txBody>
                    <a:bodyPr/>
                    <a:lstStyle/>
                    <a:p>
                      <a:r>
                        <a:rPr sz="1500" b="0">
                          <a:solidFill>
                            <a:srgbClr val="111111"/>
                          </a:solidFill>
                          <a:latin typeface="Calibri"/>
                          <a:ea typeface="Calibri"/>
                          <a:cs typeface="Calibri"/>
                        </a:rPr>
                        <a:t>13,000</a:t>
                      </a:r>
                    </a:p>
                  </a:txBody>
                  <a:tcPr anchor="ctr">
                    <a:solidFill>
                      <a:srgbClr val="FFFFFF"/>
                    </a:solidFill>
                  </a:tcPr>
                </a:tc>
                <a:extLst>
                  <a:ext uri="{0D108BD9-81ED-4DB2-BD59-A6C34878D82A}">
                    <a16:rowId xmlns:a16="http://schemas.microsoft.com/office/drawing/2014/main" val="10003"/>
                  </a:ext>
                </a:extLst>
              </a:tr>
              <a:tr h="438150">
                <a:tc>
                  <a:txBody>
                    <a:bodyPr/>
                    <a:lstStyle/>
                    <a:p>
                      <a:r>
                        <a:rPr sz="1500" b="0">
                          <a:solidFill>
                            <a:srgbClr val="111111"/>
                          </a:solidFill>
                          <a:latin typeface="Calibri"/>
                          <a:ea typeface="Calibri"/>
                          <a:cs typeface="Calibri"/>
                        </a:rPr>
                        <a:t>4</a:t>
                      </a:r>
                    </a:p>
                  </a:txBody>
                  <a:tcPr anchor="ctr">
                    <a:solidFill>
                      <a:srgbClr val="FFFFFF"/>
                    </a:solidFill>
                  </a:tcPr>
                </a:tc>
                <a:tc>
                  <a:txBody>
                    <a:bodyPr/>
                    <a:lstStyle/>
                    <a:p>
                      <a:r>
                        <a:rPr sz="1500" b="0">
                          <a:solidFill>
                            <a:srgbClr val="111111"/>
                          </a:solidFill>
                          <a:latin typeface="Calibri"/>
                          <a:ea typeface="Calibri"/>
                          <a:cs typeface="Calibri"/>
                        </a:rPr>
                        <a:t>2024-02-28</a:t>
                      </a:r>
                    </a:p>
                  </a:txBody>
                  <a:tcPr anchor="ctr">
                    <a:solidFill>
                      <a:srgbClr val="FFFFFF"/>
                    </a:solidFill>
                  </a:tcPr>
                </a:tc>
                <a:tc>
                  <a:txBody>
                    <a:bodyPr/>
                    <a:lstStyle/>
                    <a:p>
                      <a:r>
                        <a:rPr sz="1500" b="0">
                          <a:solidFill>
                            <a:srgbClr val="111111"/>
                          </a:solidFill>
                          <a:latin typeface="Calibri"/>
                          <a:ea typeface="Calibri"/>
                          <a:cs typeface="Calibri"/>
                        </a:rPr>
                        <a:t>M/E</a:t>
                      </a:r>
                    </a:p>
                  </a:txBody>
                  <a:tcPr anchor="ctr">
                    <a:solidFill>
                      <a:srgbClr val="FFFFFF"/>
                    </a:solidFill>
                  </a:tcPr>
                </a:tc>
                <a:tc>
                  <a:txBody>
                    <a:bodyPr/>
                    <a:lstStyle/>
                    <a:p>
                      <a:r>
                        <a:rPr sz="1500" b="0">
                          <a:solidFill>
                            <a:srgbClr val="111111"/>
                          </a:solidFill>
                          <a:latin typeface="Calibri"/>
                          <a:ea typeface="Calibri"/>
                          <a:cs typeface="Calibri"/>
                        </a:rPr>
                        <a:t>1</a:t>
                      </a:r>
                    </a:p>
                  </a:txBody>
                  <a:tcPr anchor="ctr">
                    <a:solidFill>
                      <a:srgbClr val="FFFFFF"/>
                    </a:solidFill>
                  </a:tcPr>
                </a:tc>
                <a:tc>
                  <a:txBody>
                    <a:bodyPr/>
                    <a:lstStyle/>
                    <a:p>
                      <a:r>
                        <a:rPr sz="1500" b="0">
                          <a:solidFill>
                            <a:srgbClr val="111111"/>
                          </a:solidFill>
                          <a:latin typeface="Calibri"/>
                          <a:ea typeface="Calibri"/>
                          <a:cs typeface="Calibri"/>
                        </a:rPr>
                        <a:t>2,400</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0" name="Rectangle 29">
            <a:extLst>
              <a:ext uri="{FF2B5EF4-FFF2-40B4-BE49-F238E27FC236}">
                <a16:creationId xmlns:a16="http://schemas.microsoft.com/office/drawing/2014/main" id="{49281EF1-6BC2-46C5-8A46-9D2A393F732B}"/>
              </a:ext>
            </a:extLst>
          </p:cNvPr>
          <p:cNvSpPr>
            <a:spLocks noGrp="1"/>
          </p:cNvSpPr>
          <p:nvPr/>
        </p:nvSpPr>
        <p:spPr>
          <a:xfrm>
            <a:off x="7096125" y="4857750"/>
            <a:ext cx="4524375" cy="1219200"/>
          </a:xfrm>
          <a:prstGeom prst="rect">
            <a:avLst/>
          </a:prstGeom>
          <a:noFill/>
          <a:ln w="0">
            <a:noFill/>
          </a:ln>
        </p:spPr>
        <p:txBody>
          <a:bodyPr lIns="0" tIns="0" rIns="0" bIns="0">
            <a:noAutofit/>
          </a:bodyPr>
          <a:lstStyle>
            <a:defPPr>
              <a:defRPr sz="1725" b="0">
                <a:solidFill>
                  <a:srgbClr val="111111"/>
                </a:solidFill>
                <a:latin typeface="Calibri"/>
                <a:ea typeface="Calibri"/>
                <a:cs typeface="Calibri"/>
              </a:defRPr>
            </a:defPPr>
          </a:lstStyle>
          <a:p>
            <a:pPr>
              <a:defRPr sz="1725" b="0">
                <a:solidFill>
                  <a:srgbClr val="111111"/>
                </a:solidFill>
                <a:latin typeface="Calibri"/>
                <a:ea typeface="Calibri"/>
                <a:cs typeface="Calibri"/>
              </a:defRPr>
            </a:pPr>
            <a:r>
              <a:rPr sz="1725" b="0">
                <a:solidFill>
                  <a:srgbClr val="111111"/>
                </a:solidFill>
                <a:latin typeface="Calibri"/>
                <a:ea typeface="Calibri"/>
                <a:cs typeface="Calibri"/>
              </a:rPr>
              <a:t>960,000 fact records</a:t>
            </a:r>
          </a:p>
          <a:p>
            <a:pPr>
              <a:defRPr sz="1725" b="0">
                <a:solidFill>
                  <a:srgbClr val="111111"/>
                </a:solidFill>
                <a:latin typeface="Calibri"/>
                <a:ea typeface="Calibri"/>
                <a:cs typeface="Calibri"/>
              </a:defRPr>
            </a:pPr>
            <a:r>
              <a:rPr sz="1725" b="0">
                <a:solidFill>
                  <a:srgbClr val="111111"/>
                </a:solidFill>
                <a:latin typeface="Calibri"/>
                <a:ea typeface="Calibri"/>
                <a:cs typeface="Calibri"/>
              </a:rPr>
              <a:t>0 orphan foreign keys</a:t>
            </a:r>
          </a:p>
          <a:p>
            <a:endParaRPr sz="1725" b="0">
              <a:solidFill>
                <a:srgbClr val="111111"/>
              </a:solidFill>
              <a:latin typeface="Calibri"/>
              <a:ea typeface="Calibri"/>
              <a:cs typeface="Calibri"/>
            </a:endParaRPr>
          </a:p>
          <a:p>
            <a:pPr>
              <a:defRPr sz="1725" b="0">
                <a:solidFill>
                  <a:srgbClr val="111111"/>
                </a:solidFill>
                <a:latin typeface="Calibri"/>
                <a:ea typeface="Calibri"/>
                <a:cs typeface="Calibri"/>
              </a:defRPr>
            </a:pPr>
            <a:r>
              <a:rPr sz="1725" b="0">
                <a:solidFill>
                  <a:srgbClr val="111111"/>
                </a:solidFill>
                <a:latin typeface="Calibri"/>
                <a:ea typeface="Calibri"/>
                <a:cs typeface="Calibri"/>
              </a:rPr>
              <a:t>Dimensions load before facts.</a:t>
            </a:r>
          </a:p>
        </p:txBody>
      </p:sp>
      <p:sp>
        <p:nvSpPr>
          <p:cNvPr id="31" name="Rectangle 30">
            <a:extLst>
              <a:ext uri="{FF2B5EF4-FFF2-40B4-BE49-F238E27FC236}">
                <a16:creationId xmlns:a16="http://schemas.microsoft.com/office/drawing/2014/main" id="{375BCB7A-ECDE-409F-A67F-6AF76E6634DE}"/>
              </a:ext>
            </a:extLst>
          </p:cNvPr>
          <p:cNvSpPr>
            <a:spLocks noGrp="1"/>
          </p:cNvSpPr>
          <p:nvPr/>
        </p:nvSpPr>
        <p:spPr>
          <a:xfrm>
            <a:off x="552450" y="6010275"/>
            <a:ext cx="6267450" cy="371475"/>
          </a:xfrm>
          <a:prstGeom prst="rect">
            <a:avLst/>
          </a:prstGeom>
          <a:noFill/>
          <a:ln w="0">
            <a:noFill/>
          </a:ln>
        </p:spPr>
        <p:txBody>
          <a:bodyPr lIns="0" tIns="0" rIns="0" bIns="0">
            <a:noAutofit/>
          </a:bodyPr>
          <a:lstStyle>
            <a:defPPr>
              <a:defRPr sz="1350" b="0">
                <a:solidFill>
                  <a:srgbClr val="111111"/>
                </a:solidFill>
                <a:latin typeface="Calibri"/>
                <a:ea typeface="Calibri"/>
                <a:cs typeface="Calibri"/>
              </a:defRPr>
            </a:defPPr>
          </a:lstStyle>
          <a:p>
            <a:pPr>
              <a:defRPr sz="1350" b="0">
                <a:solidFill>
                  <a:srgbClr val="111111"/>
                </a:solidFill>
                <a:latin typeface="Calibri"/>
                <a:ea typeface="Calibri"/>
                <a:cs typeface="Calibri"/>
              </a:defRPr>
            </a:pPr>
            <a:r>
              <a:rPr sz="1350" b="0">
                <a:solidFill>
                  <a:srgbClr val="111111"/>
                </a:solidFill>
                <a:latin typeface="Calibri"/>
                <a:ea typeface="Calibri"/>
                <a:cs typeface="Calibri"/>
              </a:rPr>
              <a:t>Excerpts cover extraction, key mapping and loading. Intermediate steps are left out.</a:t>
            </a:r>
          </a:p>
        </p:txBody>
      </p:sp>
    </p:spTree>
    <p:extLst>
      <p:ext uri="{BB962C8B-B14F-4D97-AF65-F5344CB8AC3E}">
        <p14:creationId xmlns:p14="http://schemas.microsoft.com/office/powerpoint/2010/main" val="1175959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C16E5CF-A9AF-4904-BE9F-3E2A5AD68E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OLAP Operations: Roll-up &amp; Drill-down</a:t>
            </a:r>
            <a:endParaRPr sz="2800"/>
          </a:p>
        </p:txBody>
      </p:sp>
      <p:sp>
        <p:nvSpPr>
          <p:cNvPr id="28" name="Slide Number Placeholder 0">
            <a:extLst>
              <a:ext uri="{FF2B5EF4-FFF2-40B4-BE49-F238E27FC236}">
                <a16:creationId xmlns:a16="http://schemas.microsoft.com/office/drawing/2014/main" id="{B99B83AE-054F-49A4-85A6-A24AEEE7B42C}"/>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16</a:t>
            </a:r>
          </a:p>
        </p:txBody>
      </p:sp>
      <p:sp>
        <p:nvSpPr>
          <p:cNvPr id="29" name="Rectangle 28">
            <a:extLst>
              <a:ext uri="{FF2B5EF4-FFF2-40B4-BE49-F238E27FC236}">
                <a16:creationId xmlns:a16="http://schemas.microsoft.com/office/drawing/2014/main" id="{3870DDD0-1BFA-4384-ABFF-89CA88399A9A}"/>
              </a:ext>
            </a:extLst>
          </p:cNvPr>
          <p:cNvSpPr>
            <a:spLocks noGrp="1"/>
          </p:cNvSpPr>
          <p:nvPr/>
        </p:nvSpPr>
        <p:spPr>
          <a:xfrm>
            <a:off x="552450" y="1390650"/>
            <a:ext cx="5286375" cy="304800"/>
          </a:xfrm>
          <a:prstGeom prst="rect">
            <a:avLst/>
          </a:prstGeom>
          <a:noFill/>
          <a:ln w="0">
            <a:noFill/>
          </a:ln>
        </p:spPr>
        <p:txBody>
          <a:bodyPr lIns="0" tIns="0" rIns="0" bIns="0">
            <a:noAutofit/>
          </a:bodyPr>
          <a:lstStyle>
            <a:defPPr>
              <a:defRPr sz="1800" b="1">
                <a:solidFill>
                  <a:srgbClr val="111111"/>
                </a:solidFill>
                <a:latin typeface="Calibri"/>
                <a:ea typeface="Calibri"/>
                <a:cs typeface="Calibri"/>
              </a:defRPr>
            </a:defPPr>
          </a:lstStyle>
          <a:p>
            <a:pPr>
              <a:defRPr sz="1800" b="1">
                <a:solidFill>
                  <a:srgbClr val="111111"/>
                </a:solidFill>
                <a:latin typeface="Calibri"/>
                <a:ea typeface="Calibri"/>
                <a:cs typeface="Calibri"/>
              </a:defRPr>
            </a:pPr>
            <a:r>
              <a:rPr sz="1800" b="1">
                <a:solidFill>
                  <a:srgbClr val="111111"/>
                </a:solidFill>
                <a:latin typeface="Calibri"/>
                <a:ea typeface="Calibri"/>
                <a:cs typeface="Calibri"/>
              </a:rPr>
              <a:t>Roll-up: ward to zone</a:t>
            </a:r>
          </a:p>
        </p:txBody>
      </p:sp>
      <p:sp>
        <p:nvSpPr>
          <p:cNvPr id="30" name="Rectangle 29">
            <a:extLst>
              <a:ext uri="{FF2B5EF4-FFF2-40B4-BE49-F238E27FC236}">
                <a16:creationId xmlns:a16="http://schemas.microsoft.com/office/drawing/2014/main" id="{BA28C38D-0395-4509-93DE-4D0C862068B4}"/>
              </a:ext>
            </a:extLst>
          </p:cNvPr>
          <p:cNvSpPr>
            <a:spLocks noGrp="1"/>
          </p:cNvSpPr>
          <p:nvPr/>
        </p:nvSpPr>
        <p:spPr>
          <a:xfrm>
            <a:off x="6343650" y="1390650"/>
            <a:ext cx="5286375" cy="304800"/>
          </a:xfrm>
          <a:prstGeom prst="rect">
            <a:avLst/>
          </a:prstGeom>
          <a:noFill/>
          <a:ln w="0">
            <a:noFill/>
          </a:ln>
        </p:spPr>
        <p:txBody>
          <a:bodyPr lIns="0" tIns="0" rIns="0" bIns="0">
            <a:noAutofit/>
          </a:bodyPr>
          <a:lstStyle>
            <a:defPPr>
              <a:defRPr sz="1800" b="1">
                <a:solidFill>
                  <a:srgbClr val="111111"/>
                </a:solidFill>
                <a:latin typeface="Calibri"/>
                <a:ea typeface="Calibri"/>
                <a:cs typeface="Calibri"/>
              </a:defRPr>
            </a:defPPr>
          </a:lstStyle>
          <a:p>
            <a:pPr>
              <a:defRPr sz="1800" b="1">
                <a:solidFill>
                  <a:srgbClr val="111111"/>
                </a:solidFill>
                <a:latin typeface="Calibri"/>
                <a:ea typeface="Calibri"/>
                <a:cs typeface="Calibri"/>
              </a:defRPr>
            </a:pPr>
            <a:r>
              <a:rPr sz="1800" b="1">
                <a:solidFill>
                  <a:srgbClr val="111111"/>
                </a:solidFill>
                <a:latin typeface="Calibri"/>
                <a:ea typeface="Calibri"/>
                <a:cs typeface="Calibri"/>
              </a:rPr>
              <a:t>Drill-down: year to month</a:t>
            </a:r>
          </a:p>
        </p:txBody>
      </p:sp>
      <p:sp>
        <p:nvSpPr>
          <p:cNvPr id="31" name="Rectangle 30">
            <a:extLst>
              <a:ext uri="{FF2B5EF4-FFF2-40B4-BE49-F238E27FC236}">
                <a16:creationId xmlns:a16="http://schemas.microsoft.com/office/drawing/2014/main" id="{825215E8-BFE7-49B7-AFF8-38AD5B1511DB}"/>
              </a:ext>
            </a:extLst>
          </p:cNvPr>
          <p:cNvSpPr>
            <a:spLocks noGrp="1"/>
          </p:cNvSpPr>
          <p:nvPr/>
        </p:nvSpPr>
        <p:spPr>
          <a:xfrm>
            <a:off x="552450" y="1724025"/>
            <a:ext cx="5410200" cy="1657350"/>
          </a:xfrm>
          <a:prstGeom prst="rect">
            <a:avLst/>
          </a:prstGeom>
          <a:solidFill>
            <a:srgbClr val="111111"/>
          </a:solidFill>
          <a:ln w="0">
            <a:solidFill>
              <a:srgbClr val="111111"/>
            </a:solidFill>
          </a:ln>
        </p:spPr>
      </p:sp>
      <p:sp>
        <p:nvSpPr>
          <p:cNvPr id="32" name="Rectangle 31">
            <a:extLst>
              <a:ext uri="{FF2B5EF4-FFF2-40B4-BE49-F238E27FC236}">
                <a16:creationId xmlns:a16="http://schemas.microsoft.com/office/drawing/2014/main" id="{85CCB754-5DEA-4EDE-B4E6-6AB735612A90}"/>
              </a:ext>
            </a:extLst>
          </p:cNvPr>
          <p:cNvSpPr>
            <a:spLocks noGrp="1"/>
          </p:cNvSpPr>
          <p:nvPr/>
        </p:nvSpPr>
        <p:spPr>
          <a:xfrm>
            <a:off x="685800" y="1838325"/>
            <a:ext cx="5143500" cy="1428750"/>
          </a:xfrm>
          <a:prstGeom prst="rect">
            <a:avLst/>
          </a:prstGeom>
          <a:noFill/>
          <a:ln w="0">
            <a:noFill/>
          </a:ln>
        </p:spPr>
        <p:txBody>
          <a:bodyPr lIns="0" tIns="0" rIns="0" bIns="0">
            <a:noAutofit/>
          </a:bodyPr>
          <a:lstStyle>
            <a:defPPr>
              <a:defRPr sz="1350" b="0">
                <a:solidFill>
                  <a:srgbClr val="FFFFFF"/>
                </a:solidFill>
                <a:latin typeface="Consolas"/>
                <a:ea typeface="Consolas"/>
                <a:cs typeface="Consolas"/>
              </a:defRPr>
            </a:defPPr>
          </a:lstStyle>
          <a:p>
            <a:pPr>
              <a:defRPr sz="1350" b="0">
                <a:solidFill>
                  <a:srgbClr val="FFFFFF"/>
                </a:solidFill>
                <a:latin typeface="Consolas"/>
                <a:ea typeface="Consolas"/>
                <a:cs typeface="Consolas"/>
              </a:defRPr>
            </a:pPr>
            <a:r>
              <a:rPr sz="1350" b="0">
                <a:solidFill>
                  <a:srgbClr val="FFFFFF"/>
                </a:solidFill>
                <a:latin typeface="Consolas"/>
                <a:ea typeface="Consolas"/>
                <a:cs typeface="Consolas"/>
              </a:rPr>
              <a:t>SELECT l.zone,</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 COUNT(f.complaint_key) AS total_complaints</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FROM fact_complaint f</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JOIN dim_location l</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 ON f.location_key = l.location_key</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GROUP BY l.zone</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ORDER BY total_complaints DESC;</a:t>
            </a:r>
          </a:p>
        </p:txBody>
      </p:sp>
      <p:sp>
        <p:nvSpPr>
          <p:cNvPr id="33" name="Rectangle 32">
            <a:extLst>
              <a:ext uri="{FF2B5EF4-FFF2-40B4-BE49-F238E27FC236}">
                <a16:creationId xmlns:a16="http://schemas.microsoft.com/office/drawing/2014/main" id="{0A40B9C7-54A5-4118-BC05-1329CB98E672}"/>
              </a:ext>
            </a:extLst>
          </p:cNvPr>
          <p:cNvSpPr>
            <a:spLocks noGrp="1"/>
          </p:cNvSpPr>
          <p:nvPr/>
        </p:nvSpPr>
        <p:spPr>
          <a:xfrm>
            <a:off x="6343650" y="1724025"/>
            <a:ext cx="5276850" cy="1657350"/>
          </a:xfrm>
          <a:prstGeom prst="rect">
            <a:avLst/>
          </a:prstGeom>
          <a:solidFill>
            <a:srgbClr val="111111"/>
          </a:solidFill>
          <a:ln w="0">
            <a:solidFill>
              <a:srgbClr val="111111"/>
            </a:solidFill>
          </a:ln>
        </p:spPr>
      </p:sp>
      <p:sp>
        <p:nvSpPr>
          <p:cNvPr id="34" name="Rectangle 33">
            <a:extLst>
              <a:ext uri="{FF2B5EF4-FFF2-40B4-BE49-F238E27FC236}">
                <a16:creationId xmlns:a16="http://schemas.microsoft.com/office/drawing/2014/main" id="{52A18C77-40BA-4440-85B0-030CCC4C9645}"/>
              </a:ext>
            </a:extLst>
          </p:cNvPr>
          <p:cNvSpPr>
            <a:spLocks noGrp="1"/>
          </p:cNvSpPr>
          <p:nvPr/>
        </p:nvSpPr>
        <p:spPr>
          <a:xfrm>
            <a:off x="6477000" y="1838325"/>
            <a:ext cx="5010150" cy="1428750"/>
          </a:xfrm>
          <a:prstGeom prst="rect">
            <a:avLst/>
          </a:prstGeom>
          <a:noFill/>
          <a:ln w="0">
            <a:noFill/>
          </a:ln>
        </p:spPr>
        <p:txBody>
          <a:bodyPr lIns="0" tIns="0" rIns="0" bIns="0">
            <a:noAutofit/>
          </a:bodyPr>
          <a:lstStyle>
            <a:defPPr>
              <a:defRPr sz="1350" b="0">
                <a:solidFill>
                  <a:srgbClr val="FFFFFF"/>
                </a:solidFill>
                <a:latin typeface="Consolas"/>
                <a:ea typeface="Consolas"/>
                <a:cs typeface="Consolas"/>
              </a:defRPr>
            </a:defPPr>
          </a:lstStyle>
          <a:p>
            <a:pPr>
              <a:defRPr sz="1350" b="0">
                <a:solidFill>
                  <a:srgbClr val="FFFFFF"/>
                </a:solidFill>
                <a:latin typeface="Consolas"/>
                <a:ea typeface="Consolas"/>
                <a:cs typeface="Consolas"/>
              </a:defRPr>
            </a:pPr>
            <a:r>
              <a:rPr sz="1350" b="0">
                <a:solidFill>
                  <a:srgbClr val="FFFFFF"/>
                </a:solidFill>
                <a:latin typeface="Consolas"/>
                <a:ea typeface="Consolas"/>
                <a:cs typeface="Consolas"/>
              </a:rPr>
              <a:t>SELECT t.year, t.quarter, t.month,</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 SUM(f.complaint_count) AS total_complaints</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FROM fact_complaint f</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JOIN dim_time t ON f.time_key = t.time_key</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WHERE t.year = 2024</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GROUP BY t.year, t.quarter, t.month, t.month_name</a:t>
            </a:r>
          </a:p>
          <a:p>
            <a:pPr>
              <a:defRPr sz="1350" b="0">
                <a:solidFill>
                  <a:srgbClr val="FFFFFF"/>
                </a:solidFill>
                <a:latin typeface="Consolas"/>
                <a:ea typeface="Consolas"/>
                <a:cs typeface="Consolas"/>
              </a:defRPr>
            </a:pPr>
            <a:r>
              <a:rPr sz="1350" b="0">
                <a:solidFill>
                  <a:srgbClr val="FFFFFF"/>
                </a:solidFill>
                <a:latin typeface="Consolas"/>
                <a:ea typeface="Consolas"/>
                <a:cs typeface="Consolas"/>
              </a:rPr>
              <a:t>ORDER BY t.quarter, t.month;</a:t>
            </a:r>
          </a:p>
        </p:txBody>
      </p:sp>
      <p:graphicFrame>
        <p:nvGraphicFramePr>
          <p:cNvPr id="35" name="Table 34">
            <a:extLst>
              <a:ext uri="{FF2B5EF4-FFF2-40B4-BE49-F238E27FC236}">
                <a16:creationId xmlns:a16="http://schemas.microsoft.com/office/drawing/2014/main" id="{6E6EFB8E-17D8-40A8-917C-6E5CA954AA47}"/>
              </a:ext>
            </a:extLst>
          </p:cNvPr>
          <p:cNvGraphicFramePr/>
          <p:nvPr/>
        </p:nvGraphicFramePr>
        <p:xfrm>
          <a:off x="552450" y="3581400"/>
          <a:ext cx="5410200" cy="1847852"/>
        </p:xfrm>
        <a:graphic>
          <a:graphicData uri="http://schemas.openxmlformats.org/drawingml/2006/table">
            <a:tbl>
              <a:tblPr/>
              <a:tblGrid>
                <a:gridCol w="20764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tblGrid>
              <a:tr h="461963">
                <a:tc>
                  <a:txBody>
                    <a:bodyPr/>
                    <a:lstStyle/>
                    <a:p>
                      <a:r>
                        <a:rPr sz="1650" b="1">
                          <a:solidFill>
                            <a:srgbClr val="FFFFFF"/>
                          </a:solidFill>
                          <a:latin typeface="Calibri"/>
                          <a:ea typeface="Calibri"/>
                          <a:cs typeface="Calibri"/>
                        </a:rPr>
                        <a:t>Zone</a:t>
                      </a:r>
                    </a:p>
                  </a:txBody>
                  <a:tcPr anchor="ctr">
                    <a:solidFill>
                      <a:srgbClr val="111111"/>
                    </a:solidFill>
                  </a:tcPr>
                </a:tc>
                <a:tc>
                  <a:txBody>
                    <a:bodyPr/>
                    <a:lstStyle/>
                    <a:p>
                      <a:r>
                        <a:rPr sz="1650" b="1">
                          <a:solidFill>
                            <a:srgbClr val="FFFFFF"/>
                          </a:solidFill>
                          <a:latin typeface="Calibri"/>
                          <a:ea typeface="Calibri"/>
                          <a:cs typeface="Calibri"/>
                        </a:rPr>
                        <a:t>Complaints</a:t>
                      </a:r>
                    </a:p>
                  </a:txBody>
                  <a:tcPr anchor="ctr">
                    <a:solidFill>
                      <a:srgbClr val="111111"/>
                    </a:solidFill>
                  </a:tcPr>
                </a:tc>
                <a:tc>
                  <a:txBody>
                    <a:bodyPr/>
                    <a:lstStyle/>
                    <a:p>
                      <a:r>
                        <a:rPr sz="1650" b="1">
                          <a:solidFill>
                            <a:srgbClr val="FFFFFF"/>
                          </a:solidFill>
                          <a:latin typeface="Calibri"/>
                          <a:ea typeface="Calibri"/>
                          <a:cs typeface="Calibri"/>
                        </a:rPr>
                        <a:t>Avg days</a:t>
                      </a:r>
                    </a:p>
                  </a:txBody>
                  <a:tcPr anchor="ctr">
                    <a:solidFill>
                      <a:srgbClr val="111111"/>
                    </a:solidFill>
                  </a:tcPr>
                </a:tc>
                <a:extLst>
                  <a:ext uri="{0D108BD9-81ED-4DB2-BD59-A6C34878D82A}">
                    <a16:rowId xmlns:a16="http://schemas.microsoft.com/office/drawing/2014/main" val="10000"/>
                  </a:ext>
                </a:extLst>
              </a:tr>
              <a:tr h="461963">
                <a:tc>
                  <a:txBody>
                    <a:bodyPr/>
                    <a:lstStyle/>
                    <a:p>
                      <a:r>
                        <a:rPr sz="1650" b="0">
                          <a:solidFill>
                            <a:srgbClr val="111111"/>
                          </a:solidFill>
                          <a:latin typeface="Calibri"/>
                          <a:ea typeface="Calibri"/>
                          <a:cs typeface="Calibri"/>
                        </a:rPr>
                        <a:t>Western</a:t>
                      </a:r>
                    </a:p>
                  </a:txBody>
                  <a:tcPr anchor="ctr">
                    <a:solidFill>
                      <a:srgbClr val="FFFFFF"/>
                    </a:solidFill>
                  </a:tcPr>
                </a:tc>
                <a:tc>
                  <a:txBody>
                    <a:bodyPr/>
                    <a:lstStyle/>
                    <a:p>
                      <a:r>
                        <a:rPr sz="1650" b="0">
                          <a:solidFill>
                            <a:srgbClr val="111111"/>
                          </a:solidFill>
                          <a:latin typeface="Calibri"/>
                          <a:ea typeface="Calibri"/>
                          <a:cs typeface="Calibri"/>
                        </a:rPr>
                        <a:t>355,984</a:t>
                      </a:r>
                    </a:p>
                  </a:txBody>
                  <a:tcPr anchor="ctr">
                    <a:solidFill>
                      <a:srgbClr val="FFFFFF"/>
                    </a:solidFill>
                  </a:tcPr>
                </a:tc>
                <a:tc>
                  <a:txBody>
                    <a:bodyPr/>
                    <a:lstStyle/>
                    <a:p>
                      <a:r>
                        <a:rPr sz="1650" b="0">
                          <a:solidFill>
                            <a:srgbClr val="111111"/>
                          </a:solidFill>
                          <a:latin typeface="Calibri"/>
                          <a:ea typeface="Calibri"/>
                          <a:cs typeface="Calibri"/>
                        </a:rPr>
                        <a:t>13.47</a:t>
                      </a:r>
                    </a:p>
                  </a:txBody>
                  <a:tcPr anchor="ctr">
                    <a:solidFill>
                      <a:srgbClr val="FFFFFF"/>
                    </a:solidFill>
                  </a:tcPr>
                </a:tc>
                <a:extLst>
                  <a:ext uri="{0D108BD9-81ED-4DB2-BD59-A6C34878D82A}">
                    <a16:rowId xmlns:a16="http://schemas.microsoft.com/office/drawing/2014/main" val="10001"/>
                  </a:ext>
                </a:extLst>
              </a:tr>
              <a:tr h="461963">
                <a:tc>
                  <a:txBody>
                    <a:bodyPr/>
                    <a:lstStyle/>
                    <a:p>
                      <a:r>
                        <a:rPr sz="1650" b="0">
                          <a:solidFill>
                            <a:srgbClr val="111111"/>
                          </a:solidFill>
                          <a:latin typeface="Calibri"/>
                          <a:ea typeface="Calibri"/>
                          <a:cs typeface="Calibri"/>
                        </a:rPr>
                        <a:t>City</a:t>
                      </a:r>
                    </a:p>
                  </a:txBody>
                  <a:tcPr anchor="ctr">
                    <a:solidFill>
                      <a:srgbClr val="FFFFFF"/>
                    </a:solidFill>
                  </a:tcPr>
                </a:tc>
                <a:tc>
                  <a:txBody>
                    <a:bodyPr/>
                    <a:lstStyle/>
                    <a:p>
                      <a:r>
                        <a:rPr sz="1650" b="0">
                          <a:solidFill>
                            <a:srgbClr val="111111"/>
                          </a:solidFill>
                          <a:latin typeface="Calibri"/>
                          <a:ea typeface="Calibri"/>
                          <a:cs typeface="Calibri"/>
                        </a:rPr>
                        <a:t>346,769</a:t>
                      </a:r>
                    </a:p>
                  </a:txBody>
                  <a:tcPr anchor="ctr">
                    <a:solidFill>
                      <a:srgbClr val="FFFFFF"/>
                    </a:solidFill>
                  </a:tcPr>
                </a:tc>
                <a:tc>
                  <a:txBody>
                    <a:bodyPr/>
                    <a:lstStyle/>
                    <a:p>
                      <a:r>
                        <a:rPr sz="1650" b="0">
                          <a:solidFill>
                            <a:srgbClr val="111111"/>
                          </a:solidFill>
                          <a:latin typeface="Calibri"/>
                          <a:ea typeface="Calibri"/>
                          <a:cs typeface="Calibri"/>
                        </a:rPr>
                        <a:t>13.8</a:t>
                      </a:r>
                    </a:p>
                  </a:txBody>
                  <a:tcPr anchor="ctr">
                    <a:solidFill>
                      <a:srgbClr val="FFFFFF"/>
                    </a:solidFill>
                  </a:tcPr>
                </a:tc>
                <a:extLst>
                  <a:ext uri="{0D108BD9-81ED-4DB2-BD59-A6C34878D82A}">
                    <a16:rowId xmlns:a16="http://schemas.microsoft.com/office/drawing/2014/main" val="10002"/>
                  </a:ext>
                </a:extLst>
              </a:tr>
              <a:tr h="461963">
                <a:tc>
                  <a:txBody>
                    <a:bodyPr/>
                    <a:lstStyle/>
                    <a:p>
                      <a:r>
                        <a:rPr sz="1650" b="0">
                          <a:solidFill>
                            <a:srgbClr val="111111"/>
                          </a:solidFill>
                          <a:latin typeface="Calibri"/>
                          <a:ea typeface="Calibri"/>
                          <a:cs typeface="Calibri"/>
                        </a:rPr>
                        <a:t>Eastern</a:t>
                      </a:r>
                    </a:p>
                  </a:txBody>
                  <a:tcPr anchor="ctr">
                    <a:solidFill>
                      <a:srgbClr val="FFFFFF"/>
                    </a:solidFill>
                  </a:tcPr>
                </a:tc>
                <a:tc>
                  <a:txBody>
                    <a:bodyPr/>
                    <a:lstStyle/>
                    <a:p>
                      <a:r>
                        <a:rPr sz="1650" b="0">
                          <a:solidFill>
                            <a:srgbClr val="111111"/>
                          </a:solidFill>
                          <a:latin typeface="Calibri"/>
                          <a:ea typeface="Calibri"/>
                          <a:cs typeface="Calibri"/>
                        </a:rPr>
                        <a:t>257,247</a:t>
                      </a:r>
                    </a:p>
                  </a:txBody>
                  <a:tcPr anchor="ctr">
                    <a:solidFill>
                      <a:srgbClr val="FFFFFF"/>
                    </a:solidFill>
                  </a:tcPr>
                </a:tc>
                <a:tc>
                  <a:txBody>
                    <a:bodyPr/>
                    <a:lstStyle/>
                    <a:p>
                      <a:r>
                        <a:rPr sz="1650" b="0">
                          <a:solidFill>
                            <a:srgbClr val="111111"/>
                          </a:solidFill>
                          <a:latin typeface="Calibri"/>
                          <a:ea typeface="Calibri"/>
                          <a:cs typeface="Calibri"/>
                        </a:rPr>
                        <a:t>14.01</a:t>
                      </a:r>
                    </a:p>
                  </a:txBody>
                  <a:tcPr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36" name="Table 35">
            <a:extLst>
              <a:ext uri="{FF2B5EF4-FFF2-40B4-BE49-F238E27FC236}">
                <a16:creationId xmlns:a16="http://schemas.microsoft.com/office/drawing/2014/main" id="{D264D1BC-4ACC-4A05-BAFF-D9602E7E4DA2}"/>
              </a:ext>
            </a:extLst>
          </p:cNvPr>
          <p:cNvGraphicFramePr/>
          <p:nvPr/>
        </p:nvGraphicFramePr>
        <p:xfrm>
          <a:off x="6343650" y="3581400"/>
          <a:ext cx="5276850" cy="1847850"/>
        </p:xfrm>
        <a:graphic>
          <a:graphicData uri="http://schemas.openxmlformats.org/drawingml/2006/table">
            <a:tbl>
              <a:tblPr/>
              <a:tblGrid>
                <a:gridCol w="203835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369570">
                <a:tc>
                  <a:txBody>
                    <a:bodyPr/>
                    <a:lstStyle/>
                    <a:p>
                      <a:r>
                        <a:rPr sz="1650" b="1">
                          <a:solidFill>
                            <a:srgbClr val="FFFFFF"/>
                          </a:solidFill>
                          <a:latin typeface="Calibri"/>
                          <a:ea typeface="Calibri"/>
                          <a:cs typeface="Calibri"/>
                        </a:rPr>
                        <a:t>2024 month</a:t>
                      </a:r>
                    </a:p>
                  </a:txBody>
                  <a:tcPr anchor="ctr">
                    <a:solidFill>
                      <a:srgbClr val="111111"/>
                    </a:solidFill>
                  </a:tcPr>
                </a:tc>
                <a:tc>
                  <a:txBody>
                    <a:bodyPr/>
                    <a:lstStyle/>
                    <a:p>
                      <a:r>
                        <a:rPr sz="1650" b="1">
                          <a:solidFill>
                            <a:srgbClr val="FFFFFF"/>
                          </a:solidFill>
                          <a:latin typeface="Calibri"/>
                          <a:ea typeface="Calibri"/>
                          <a:cs typeface="Calibri"/>
                        </a:rPr>
                        <a:t>Complaints</a:t>
                      </a:r>
                    </a:p>
                  </a:txBody>
                  <a:tcPr anchor="ctr">
                    <a:solidFill>
                      <a:srgbClr val="111111"/>
                    </a:solidFill>
                  </a:tcPr>
                </a:tc>
                <a:tc>
                  <a:txBody>
                    <a:bodyPr/>
                    <a:lstStyle/>
                    <a:p>
                      <a:r>
                        <a:rPr sz="1650" b="1">
                          <a:solidFill>
                            <a:srgbClr val="FFFFFF"/>
                          </a:solidFill>
                          <a:latin typeface="Calibri"/>
                          <a:ea typeface="Calibri"/>
                          <a:cs typeface="Calibri"/>
                        </a:rPr>
                        <a:t>Avg days</a:t>
                      </a:r>
                    </a:p>
                  </a:txBody>
                  <a:tcPr anchor="ctr">
                    <a:solidFill>
                      <a:srgbClr val="111111"/>
                    </a:solidFill>
                  </a:tcPr>
                </a:tc>
                <a:extLst>
                  <a:ext uri="{0D108BD9-81ED-4DB2-BD59-A6C34878D82A}">
                    <a16:rowId xmlns:a16="http://schemas.microsoft.com/office/drawing/2014/main" val="10000"/>
                  </a:ext>
                </a:extLst>
              </a:tr>
              <a:tr h="369570">
                <a:tc>
                  <a:txBody>
                    <a:bodyPr/>
                    <a:lstStyle/>
                    <a:p>
                      <a:r>
                        <a:rPr sz="1650" b="0">
                          <a:solidFill>
                            <a:srgbClr val="111111"/>
                          </a:solidFill>
                          <a:latin typeface="Calibri"/>
                          <a:ea typeface="Calibri"/>
                          <a:cs typeface="Calibri"/>
                        </a:rPr>
                        <a:t>May</a:t>
                      </a:r>
                    </a:p>
                  </a:txBody>
                  <a:tcPr anchor="ctr">
                    <a:solidFill>
                      <a:srgbClr val="FFFFFF"/>
                    </a:solidFill>
                  </a:tcPr>
                </a:tc>
                <a:tc>
                  <a:txBody>
                    <a:bodyPr/>
                    <a:lstStyle/>
                    <a:p>
                      <a:r>
                        <a:rPr sz="1650" b="0">
                          <a:solidFill>
                            <a:srgbClr val="111111"/>
                          </a:solidFill>
                          <a:latin typeface="Calibri"/>
                          <a:ea typeface="Calibri"/>
                          <a:cs typeface="Calibri"/>
                        </a:rPr>
                        <a:t>11,694</a:t>
                      </a:r>
                    </a:p>
                  </a:txBody>
                  <a:tcPr anchor="ctr">
                    <a:solidFill>
                      <a:srgbClr val="FFFFFF"/>
                    </a:solidFill>
                  </a:tcPr>
                </a:tc>
                <a:tc>
                  <a:txBody>
                    <a:bodyPr/>
                    <a:lstStyle/>
                    <a:p>
                      <a:r>
                        <a:rPr sz="1650" b="0">
                          <a:solidFill>
                            <a:srgbClr val="111111"/>
                          </a:solidFill>
                          <a:latin typeface="Calibri"/>
                          <a:ea typeface="Calibri"/>
                          <a:cs typeface="Calibri"/>
                        </a:rPr>
                        <a:t>12.23</a:t>
                      </a:r>
                    </a:p>
                  </a:txBody>
                  <a:tcPr anchor="ctr">
                    <a:solidFill>
                      <a:srgbClr val="FFFFFF"/>
                    </a:solidFill>
                  </a:tcPr>
                </a:tc>
                <a:extLst>
                  <a:ext uri="{0D108BD9-81ED-4DB2-BD59-A6C34878D82A}">
                    <a16:rowId xmlns:a16="http://schemas.microsoft.com/office/drawing/2014/main" val="10001"/>
                  </a:ext>
                </a:extLst>
              </a:tr>
              <a:tr h="369570">
                <a:tc>
                  <a:txBody>
                    <a:bodyPr/>
                    <a:lstStyle/>
                    <a:p>
                      <a:r>
                        <a:rPr sz="1650" b="0">
                          <a:solidFill>
                            <a:srgbClr val="111111"/>
                          </a:solidFill>
                          <a:latin typeface="Calibri"/>
                          <a:ea typeface="Calibri"/>
                          <a:cs typeface="Calibri"/>
                        </a:rPr>
                        <a:t>June</a:t>
                      </a:r>
                    </a:p>
                  </a:txBody>
                  <a:tcPr anchor="ctr">
                    <a:solidFill>
                      <a:srgbClr val="FFFFFF"/>
                    </a:solidFill>
                  </a:tcPr>
                </a:tc>
                <a:tc>
                  <a:txBody>
                    <a:bodyPr/>
                    <a:lstStyle/>
                    <a:p>
                      <a:r>
                        <a:rPr sz="1650" b="0">
                          <a:solidFill>
                            <a:srgbClr val="111111"/>
                          </a:solidFill>
                          <a:latin typeface="Calibri"/>
                          <a:ea typeface="Calibri"/>
                          <a:cs typeface="Calibri"/>
                        </a:rPr>
                        <a:t>11,459</a:t>
                      </a:r>
                    </a:p>
                  </a:txBody>
                  <a:tcPr anchor="ctr">
                    <a:solidFill>
                      <a:srgbClr val="FFFFFF"/>
                    </a:solidFill>
                  </a:tcPr>
                </a:tc>
                <a:tc>
                  <a:txBody>
                    <a:bodyPr/>
                    <a:lstStyle/>
                    <a:p>
                      <a:r>
                        <a:rPr sz="1650" b="0">
                          <a:solidFill>
                            <a:srgbClr val="111111"/>
                          </a:solidFill>
                          <a:latin typeface="Calibri"/>
                          <a:ea typeface="Calibri"/>
                          <a:cs typeface="Calibri"/>
                        </a:rPr>
                        <a:t>16.55</a:t>
                      </a:r>
                    </a:p>
                  </a:txBody>
                  <a:tcPr anchor="ctr">
                    <a:solidFill>
                      <a:srgbClr val="FFFFFF"/>
                    </a:solidFill>
                  </a:tcPr>
                </a:tc>
                <a:extLst>
                  <a:ext uri="{0D108BD9-81ED-4DB2-BD59-A6C34878D82A}">
                    <a16:rowId xmlns:a16="http://schemas.microsoft.com/office/drawing/2014/main" val="10002"/>
                  </a:ext>
                </a:extLst>
              </a:tr>
              <a:tr h="369570">
                <a:tc>
                  <a:txBody>
                    <a:bodyPr/>
                    <a:lstStyle/>
                    <a:p>
                      <a:r>
                        <a:rPr sz="1650" b="0">
                          <a:solidFill>
                            <a:srgbClr val="111111"/>
                          </a:solidFill>
                          <a:latin typeface="Calibri"/>
                          <a:ea typeface="Calibri"/>
                          <a:cs typeface="Calibri"/>
                        </a:rPr>
                        <a:t>July</a:t>
                      </a:r>
                    </a:p>
                  </a:txBody>
                  <a:tcPr anchor="ctr">
                    <a:solidFill>
                      <a:srgbClr val="FFFFFF"/>
                    </a:solidFill>
                  </a:tcPr>
                </a:tc>
                <a:tc>
                  <a:txBody>
                    <a:bodyPr/>
                    <a:lstStyle/>
                    <a:p>
                      <a:r>
                        <a:rPr sz="1650" b="0">
                          <a:solidFill>
                            <a:srgbClr val="111111"/>
                          </a:solidFill>
                          <a:latin typeface="Calibri"/>
                          <a:ea typeface="Calibri"/>
                          <a:cs typeface="Calibri"/>
                        </a:rPr>
                        <a:t>11,423</a:t>
                      </a:r>
                    </a:p>
                  </a:txBody>
                  <a:tcPr anchor="ctr">
                    <a:solidFill>
                      <a:srgbClr val="FFFFFF"/>
                    </a:solidFill>
                  </a:tcPr>
                </a:tc>
                <a:tc>
                  <a:txBody>
                    <a:bodyPr/>
                    <a:lstStyle/>
                    <a:p>
                      <a:r>
                        <a:rPr sz="1650" b="0">
                          <a:solidFill>
                            <a:srgbClr val="111111"/>
                          </a:solidFill>
                          <a:latin typeface="Calibri"/>
                          <a:ea typeface="Calibri"/>
                          <a:cs typeface="Calibri"/>
                        </a:rPr>
                        <a:t>16.68</a:t>
                      </a:r>
                    </a:p>
                  </a:txBody>
                  <a:tcPr anchor="ctr">
                    <a:solidFill>
                      <a:srgbClr val="FFFFFF"/>
                    </a:solidFill>
                  </a:tcPr>
                </a:tc>
                <a:extLst>
                  <a:ext uri="{0D108BD9-81ED-4DB2-BD59-A6C34878D82A}">
                    <a16:rowId xmlns:a16="http://schemas.microsoft.com/office/drawing/2014/main" val="10003"/>
                  </a:ext>
                </a:extLst>
              </a:tr>
              <a:tr h="369570">
                <a:tc>
                  <a:txBody>
                    <a:bodyPr/>
                    <a:lstStyle/>
                    <a:p>
                      <a:r>
                        <a:rPr sz="1650" b="0">
                          <a:solidFill>
                            <a:srgbClr val="111111"/>
                          </a:solidFill>
                          <a:latin typeface="Calibri"/>
                          <a:ea typeface="Calibri"/>
                          <a:cs typeface="Calibri"/>
                        </a:rPr>
                        <a:t>September</a:t>
                      </a:r>
                    </a:p>
                  </a:txBody>
                  <a:tcPr anchor="ctr">
                    <a:solidFill>
                      <a:srgbClr val="FFFFFF"/>
                    </a:solidFill>
                  </a:tcPr>
                </a:tc>
                <a:tc>
                  <a:txBody>
                    <a:bodyPr/>
                    <a:lstStyle/>
                    <a:p>
                      <a:r>
                        <a:rPr sz="1650" b="0">
                          <a:solidFill>
                            <a:srgbClr val="111111"/>
                          </a:solidFill>
                          <a:latin typeface="Calibri"/>
                          <a:ea typeface="Calibri"/>
                          <a:cs typeface="Calibri"/>
                        </a:rPr>
                        <a:t>11,287</a:t>
                      </a:r>
                    </a:p>
                  </a:txBody>
                  <a:tcPr anchor="ctr">
                    <a:solidFill>
                      <a:srgbClr val="FFFFFF"/>
                    </a:solidFill>
                  </a:tcPr>
                </a:tc>
                <a:tc>
                  <a:txBody>
                    <a:bodyPr/>
                    <a:lstStyle/>
                    <a:p>
                      <a:r>
                        <a:rPr sz="1650" b="0">
                          <a:solidFill>
                            <a:srgbClr val="111111"/>
                          </a:solidFill>
                          <a:latin typeface="Calibri"/>
                          <a:ea typeface="Calibri"/>
                          <a:cs typeface="Calibri"/>
                        </a:rPr>
                        <a:t>16.94</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7" name="Rectangle 36">
            <a:extLst>
              <a:ext uri="{FF2B5EF4-FFF2-40B4-BE49-F238E27FC236}">
                <a16:creationId xmlns:a16="http://schemas.microsoft.com/office/drawing/2014/main" id="{117EDF98-A648-43F9-96CA-FF75022F0404}"/>
              </a:ext>
            </a:extLst>
          </p:cNvPr>
          <p:cNvSpPr>
            <a:spLocks noGrp="1"/>
          </p:cNvSpPr>
          <p:nvPr/>
        </p:nvSpPr>
        <p:spPr>
          <a:xfrm>
            <a:off x="552450" y="5762625"/>
            <a:ext cx="5410200" cy="428625"/>
          </a:xfrm>
          <a:prstGeom prst="rect">
            <a:avLst/>
          </a:prstGeom>
          <a:noFill/>
          <a:ln w="0">
            <a:noFill/>
          </a:ln>
        </p:spPr>
        <p:txBody>
          <a:bodyPr lIns="0" tIns="0" rIns="0" bIns="0">
            <a:noAutofit/>
          </a:bodyPr>
          <a:lstStyle>
            <a:defPPr>
              <a:defRPr sz="1650" b="1">
                <a:solidFill>
                  <a:srgbClr val="111111"/>
                </a:solidFill>
                <a:latin typeface="Calibri"/>
                <a:ea typeface="Calibri"/>
                <a:cs typeface="Calibri"/>
              </a:defRPr>
            </a:defPPr>
          </a:lstStyle>
          <a:p>
            <a:pPr>
              <a:defRPr sz="1650" b="1">
                <a:solidFill>
                  <a:srgbClr val="111111"/>
                </a:solidFill>
                <a:latin typeface="Calibri"/>
                <a:ea typeface="Calibri"/>
                <a:cs typeface="Calibri"/>
              </a:defRPr>
            </a:pPr>
            <a:r>
              <a:rPr sz="1650" b="1">
                <a:solidFill>
                  <a:srgbClr val="111111"/>
                </a:solidFill>
                <a:latin typeface="Calibri"/>
                <a:ea typeface="Calibri"/>
                <a:cs typeface="Calibri"/>
              </a:rPr>
              <a:t>Western has the most complaints.</a:t>
            </a:r>
          </a:p>
        </p:txBody>
      </p:sp>
      <p:sp>
        <p:nvSpPr>
          <p:cNvPr id="38" name="Rectangle 37">
            <a:extLst>
              <a:ext uri="{FF2B5EF4-FFF2-40B4-BE49-F238E27FC236}">
                <a16:creationId xmlns:a16="http://schemas.microsoft.com/office/drawing/2014/main" id="{C4B9C6D1-7AFF-4B64-98FE-EF593287B3E1}"/>
              </a:ext>
            </a:extLst>
          </p:cNvPr>
          <p:cNvSpPr>
            <a:spLocks noGrp="1"/>
          </p:cNvSpPr>
          <p:nvPr/>
        </p:nvSpPr>
        <p:spPr>
          <a:xfrm>
            <a:off x="6343650" y="5762625"/>
            <a:ext cx="5276850" cy="476250"/>
          </a:xfrm>
          <a:prstGeom prst="rect">
            <a:avLst/>
          </a:prstGeom>
          <a:noFill/>
          <a:ln w="0">
            <a:noFill/>
          </a:ln>
        </p:spPr>
        <p:txBody>
          <a:bodyPr lIns="0" tIns="0" rIns="0" bIns="0">
            <a:noAutofit/>
          </a:bodyPr>
          <a:lstStyle>
            <a:defPPr>
              <a:defRPr sz="1650" b="1">
                <a:solidFill>
                  <a:srgbClr val="111111"/>
                </a:solidFill>
                <a:latin typeface="Calibri"/>
                <a:ea typeface="Calibri"/>
                <a:cs typeface="Calibri"/>
              </a:defRPr>
            </a:defPPr>
          </a:lstStyle>
          <a:p>
            <a:pPr>
              <a:defRPr sz="1650" b="1">
                <a:solidFill>
                  <a:srgbClr val="111111"/>
                </a:solidFill>
                <a:latin typeface="Calibri"/>
                <a:ea typeface="Calibri"/>
                <a:cs typeface="Calibri"/>
              </a:defRPr>
            </a:pPr>
            <a:r>
              <a:rPr sz="1650" b="1">
                <a:solidFill>
                  <a:srgbClr val="111111"/>
                </a:solidFill>
                <a:latin typeface="Calibri"/>
                <a:ea typeface="Calibri"/>
                <a:cs typeface="Calibri"/>
              </a:rPr>
              <a:t>September’s average resolution time is 16.94 days.</a:t>
            </a:r>
          </a:p>
        </p:txBody>
      </p:sp>
    </p:spTree>
    <p:extLst>
      <p:ext uri="{BB962C8B-B14F-4D97-AF65-F5344CB8AC3E}">
        <p14:creationId xmlns:p14="http://schemas.microsoft.com/office/powerpoint/2010/main" val="1725946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C16E5CF-A9AF-4904-BE9F-3E2A5AD68E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OLAP Operations: Slice &amp; Dice</a:t>
            </a:r>
            <a:endParaRPr sz="2800"/>
          </a:p>
        </p:txBody>
      </p:sp>
      <p:sp>
        <p:nvSpPr>
          <p:cNvPr id="28" name="Slide Number Placeholder 0">
            <a:extLst>
              <a:ext uri="{FF2B5EF4-FFF2-40B4-BE49-F238E27FC236}">
                <a16:creationId xmlns:a16="http://schemas.microsoft.com/office/drawing/2014/main" id="{B99B83AE-054F-49A4-85A6-A24AEEE7B42C}"/>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17</a:t>
            </a:r>
          </a:p>
        </p:txBody>
      </p:sp>
      <p:sp>
        <p:nvSpPr>
          <p:cNvPr id="29" name="Rectangle 28">
            <a:extLst>
              <a:ext uri="{FF2B5EF4-FFF2-40B4-BE49-F238E27FC236}">
                <a16:creationId xmlns:a16="http://schemas.microsoft.com/office/drawing/2014/main" id="{2ED142EF-EC1D-40E5-9C69-5DEC26733639}"/>
              </a:ext>
            </a:extLst>
          </p:cNvPr>
          <p:cNvSpPr>
            <a:spLocks noGrp="1"/>
          </p:cNvSpPr>
          <p:nvPr/>
        </p:nvSpPr>
        <p:spPr>
          <a:xfrm>
            <a:off x="552450" y="1390650"/>
            <a:ext cx="5286375" cy="304800"/>
          </a:xfrm>
          <a:prstGeom prst="rect">
            <a:avLst/>
          </a:prstGeom>
          <a:noFill/>
          <a:ln w="0">
            <a:noFill/>
          </a:ln>
        </p:spPr>
        <p:txBody>
          <a:bodyPr lIns="0" tIns="0" rIns="0" bIns="0">
            <a:noAutofit/>
          </a:bodyPr>
          <a:lstStyle>
            <a:defPPr>
              <a:defRPr sz="1800" b="1">
                <a:solidFill>
                  <a:srgbClr val="111111"/>
                </a:solidFill>
                <a:latin typeface="Calibri"/>
                <a:ea typeface="Calibri"/>
                <a:cs typeface="Calibri"/>
              </a:defRPr>
            </a:defPPr>
          </a:lstStyle>
          <a:p>
            <a:pPr>
              <a:defRPr sz="1800" b="1">
                <a:solidFill>
                  <a:srgbClr val="111111"/>
                </a:solidFill>
                <a:latin typeface="Calibri"/>
                <a:ea typeface="Calibri"/>
                <a:cs typeface="Calibri"/>
              </a:defRPr>
            </a:pPr>
            <a:r>
              <a:rPr sz="1800" b="1">
                <a:solidFill>
                  <a:srgbClr val="111111"/>
                </a:solidFill>
                <a:latin typeface="Calibri"/>
                <a:ea typeface="Calibri"/>
                <a:cs typeface="Calibri"/>
              </a:rPr>
              <a:t>Slice: one category</a:t>
            </a:r>
          </a:p>
        </p:txBody>
      </p:sp>
      <p:sp>
        <p:nvSpPr>
          <p:cNvPr id="30" name="Rectangle 29">
            <a:extLst>
              <a:ext uri="{FF2B5EF4-FFF2-40B4-BE49-F238E27FC236}">
                <a16:creationId xmlns:a16="http://schemas.microsoft.com/office/drawing/2014/main" id="{2E87A68D-4C28-437A-8AA0-93735369BE3D}"/>
              </a:ext>
            </a:extLst>
          </p:cNvPr>
          <p:cNvSpPr>
            <a:spLocks noGrp="1"/>
          </p:cNvSpPr>
          <p:nvPr/>
        </p:nvSpPr>
        <p:spPr>
          <a:xfrm>
            <a:off x="6343650" y="1390650"/>
            <a:ext cx="5286375" cy="304800"/>
          </a:xfrm>
          <a:prstGeom prst="rect">
            <a:avLst/>
          </a:prstGeom>
          <a:noFill/>
          <a:ln w="0">
            <a:noFill/>
          </a:ln>
        </p:spPr>
        <p:txBody>
          <a:bodyPr lIns="0" tIns="0" rIns="0" bIns="0">
            <a:noAutofit/>
          </a:bodyPr>
          <a:lstStyle>
            <a:defPPr>
              <a:defRPr sz="1800" b="1">
                <a:solidFill>
                  <a:srgbClr val="111111"/>
                </a:solidFill>
                <a:latin typeface="Calibri"/>
                <a:ea typeface="Calibri"/>
                <a:cs typeface="Calibri"/>
              </a:defRPr>
            </a:defPPr>
          </a:lstStyle>
          <a:p>
            <a:pPr>
              <a:defRPr sz="1800" b="1">
                <a:solidFill>
                  <a:srgbClr val="111111"/>
                </a:solidFill>
                <a:latin typeface="Calibri"/>
                <a:ea typeface="Calibri"/>
                <a:cs typeface="Calibri"/>
              </a:defRPr>
            </a:pPr>
            <a:r>
              <a:rPr sz="1800" b="1">
                <a:solidFill>
                  <a:srgbClr val="111111"/>
                </a:solidFill>
                <a:latin typeface="Calibri"/>
                <a:ea typeface="Calibri"/>
                <a:cs typeface="Calibri"/>
              </a:rPr>
              <a:t>Dice: category, zone and year</a:t>
            </a:r>
          </a:p>
        </p:txBody>
      </p:sp>
      <p:sp>
        <p:nvSpPr>
          <p:cNvPr id="31" name="Rectangle 30">
            <a:extLst>
              <a:ext uri="{FF2B5EF4-FFF2-40B4-BE49-F238E27FC236}">
                <a16:creationId xmlns:a16="http://schemas.microsoft.com/office/drawing/2014/main" id="{A134B539-5367-48D5-B676-F747ECD69B05}"/>
              </a:ext>
            </a:extLst>
          </p:cNvPr>
          <p:cNvSpPr>
            <a:spLocks noGrp="1"/>
          </p:cNvSpPr>
          <p:nvPr/>
        </p:nvSpPr>
        <p:spPr>
          <a:xfrm>
            <a:off x="552450" y="1790700"/>
            <a:ext cx="5410200" cy="1343025"/>
          </a:xfrm>
          <a:prstGeom prst="rect">
            <a:avLst/>
          </a:prstGeom>
          <a:solidFill>
            <a:srgbClr val="111111"/>
          </a:solidFill>
          <a:ln w="0">
            <a:solidFill>
              <a:srgbClr val="111111"/>
            </a:solidFill>
          </a:ln>
        </p:spPr>
      </p:sp>
      <p:sp>
        <p:nvSpPr>
          <p:cNvPr id="32" name="Rectangle 31">
            <a:extLst>
              <a:ext uri="{FF2B5EF4-FFF2-40B4-BE49-F238E27FC236}">
                <a16:creationId xmlns:a16="http://schemas.microsoft.com/office/drawing/2014/main" id="{330C40B5-3442-4405-B147-F533641210C4}"/>
              </a:ext>
            </a:extLst>
          </p:cNvPr>
          <p:cNvSpPr>
            <a:spLocks noGrp="1"/>
          </p:cNvSpPr>
          <p:nvPr/>
        </p:nvSpPr>
        <p:spPr>
          <a:xfrm>
            <a:off x="685800" y="1905000"/>
            <a:ext cx="5143500" cy="1114425"/>
          </a:xfrm>
          <a:prstGeom prst="rect">
            <a:avLst/>
          </a:prstGeom>
          <a:noFill/>
          <a:ln w="0">
            <a:noFill/>
          </a:ln>
        </p:spPr>
        <p:txBody>
          <a:bodyPr lIns="0" tIns="0" rIns="0" bIns="0">
            <a:noAutofit/>
          </a:bodyPr>
          <a:lstStyle>
            <a:defPPr>
              <a:defRPr sz="1500" b="0">
                <a:solidFill>
                  <a:srgbClr val="FFFFFF"/>
                </a:solidFill>
                <a:latin typeface="Consolas"/>
                <a:ea typeface="Consolas"/>
                <a:cs typeface="Consolas"/>
              </a:defRPr>
            </a:defPPr>
          </a:lstStyle>
          <a:p>
            <a:pPr>
              <a:defRPr sz="1500" b="0">
                <a:solidFill>
                  <a:srgbClr val="FFFFFF"/>
                </a:solidFill>
                <a:latin typeface="Consolas"/>
                <a:ea typeface="Consolas"/>
                <a:cs typeface="Consolas"/>
              </a:defRPr>
            </a:pPr>
            <a:r>
              <a:rPr sz="1500" b="0">
                <a:solidFill>
                  <a:srgbClr val="FFFFFF"/>
                </a:solidFill>
                <a:latin typeface="Consolas"/>
                <a:ea typeface="Consolas"/>
                <a:cs typeface="Consolas"/>
              </a:rPr>
              <a:t>WHERE c.category_name =</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 'Pothole / Road Damage'</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GROUP BY l.ward, l.ward_area, l.zone</a:t>
            </a:r>
          </a:p>
          <a:p>
            <a:pPr>
              <a:defRPr sz="1500" b="0">
                <a:solidFill>
                  <a:srgbClr val="FFFFFF"/>
                </a:solidFill>
                <a:latin typeface="Consolas"/>
                <a:ea typeface="Consolas"/>
                <a:cs typeface="Consolas"/>
              </a:defRPr>
            </a:pPr>
            <a:r>
              <a:rPr sz="1500" b="0">
                <a:solidFill>
                  <a:srgbClr val="FFFFFF"/>
                </a:solidFill>
                <a:latin typeface="Consolas"/>
                <a:ea typeface="Consolas"/>
                <a:cs typeface="Consolas"/>
              </a:rPr>
              <a:t>ORDER BY pothole_complaints DESC;</a:t>
            </a:r>
          </a:p>
        </p:txBody>
      </p:sp>
      <p:sp>
        <p:nvSpPr>
          <p:cNvPr id="33" name="Rectangle 32">
            <a:extLst>
              <a:ext uri="{FF2B5EF4-FFF2-40B4-BE49-F238E27FC236}">
                <a16:creationId xmlns:a16="http://schemas.microsoft.com/office/drawing/2014/main" id="{7D540928-EBB1-44AB-B4D1-CC1A31FA3CD6}"/>
              </a:ext>
            </a:extLst>
          </p:cNvPr>
          <p:cNvSpPr>
            <a:spLocks noGrp="1"/>
          </p:cNvSpPr>
          <p:nvPr/>
        </p:nvSpPr>
        <p:spPr>
          <a:xfrm>
            <a:off x="6343650" y="1790700"/>
            <a:ext cx="5276850" cy="1657350"/>
          </a:xfrm>
          <a:prstGeom prst="rect">
            <a:avLst/>
          </a:prstGeom>
          <a:solidFill>
            <a:srgbClr val="111111"/>
          </a:solidFill>
          <a:ln w="0">
            <a:solidFill>
              <a:srgbClr val="111111"/>
            </a:solidFill>
          </a:ln>
        </p:spPr>
      </p:sp>
      <p:sp>
        <p:nvSpPr>
          <p:cNvPr id="34" name="Rectangle 33">
            <a:extLst>
              <a:ext uri="{FF2B5EF4-FFF2-40B4-BE49-F238E27FC236}">
                <a16:creationId xmlns:a16="http://schemas.microsoft.com/office/drawing/2014/main" id="{08FE685E-44FB-4055-BDAA-B643018D660E}"/>
              </a:ext>
            </a:extLst>
          </p:cNvPr>
          <p:cNvSpPr>
            <a:spLocks noGrp="1"/>
          </p:cNvSpPr>
          <p:nvPr/>
        </p:nvSpPr>
        <p:spPr>
          <a:xfrm>
            <a:off x="6477000" y="1905000"/>
            <a:ext cx="5010150" cy="1428750"/>
          </a:xfrm>
          <a:prstGeom prst="rect">
            <a:avLst/>
          </a:prstGeom>
          <a:noFill/>
          <a:ln w="0">
            <a:noFill/>
          </a:ln>
        </p:spPr>
        <p:txBody>
          <a:bodyPr lIns="0" tIns="0" rIns="0" bIns="0">
            <a:noAutofit/>
          </a:bodyPr>
          <a:lstStyle>
            <a:defPPr>
              <a:defRPr sz="1425" b="0">
                <a:solidFill>
                  <a:srgbClr val="FFFFFF"/>
                </a:solidFill>
                <a:latin typeface="Consolas"/>
                <a:ea typeface="Consolas"/>
                <a:cs typeface="Consolas"/>
              </a:defRPr>
            </a:defPPr>
          </a:lstStyle>
          <a:p>
            <a:pPr>
              <a:defRPr sz="1425" b="0">
                <a:solidFill>
                  <a:srgbClr val="FFFFFF"/>
                </a:solidFill>
                <a:latin typeface="Consolas"/>
                <a:ea typeface="Consolas"/>
                <a:cs typeface="Consolas"/>
              </a:defRPr>
            </a:pPr>
            <a:r>
              <a:rPr sz="1425" b="0">
                <a:solidFill>
                  <a:srgbClr val="FFFFFF"/>
                </a:solidFill>
                <a:latin typeface="Consolas"/>
                <a:ea typeface="Consolas"/>
                <a:cs typeface="Consolas"/>
              </a:rPr>
              <a:t>WHERE c.category_name IN (</a:t>
            </a:r>
          </a:p>
          <a:p>
            <a:pPr>
              <a:defRPr sz="1425" b="0">
                <a:solidFill>
                  <a:srgbClr val="FFFFFF"/>
                </a:solidFill>
                <a:latin typeface="Consolas"/>
                <a:ea typeface="Consolas"/>
                <a:cs typeface="Consolas"/>
              </a:defRPr>
            </a:pPr>
            <a:r>
              <a:rPr sz="1425" b="0">
                <a:solidFill>
                  <a:srgbClr val="FFFFFF"/>
                </a:solidFill>
                <a:latin typeface="Consolas"/>
                <a:ea typeface="Consolas"/>
                <a:cs typeface="Consolas"/>
              </a:rPr>
              <a:t> 'Pothole / Road Damage',</a:t>
            </a:r>
          </a:p>
          <a:p>
            <a:pPr>
              <a:defRPr sz="1425" b="0">
                <a:solidFill>
                  <a:srgbClr val="FFFFFF"/>
                </a:solidFill>
                <a:latin typeface="Consolas"/>
                <a:ea typeface="Consolas"/>
                <a:cs typeface="Consolas"/>
              </a:defRPr>
            </a:pPr>
            <a:r>
              <a:rPr sz="1425" b="0">
                <a:solidFill>
                  <a:srgbClr val="FFFFFF"/>
                </a:solidFill>
                <a:latin typeface="Consolas"/>
                <a:ea typeface="Consolas"/>
                <a:cs typeface="Consolas"/>
              </a:rPr>
              <a:t> 'Water Supply Disruption',</a:t>
            </a:r>
          </a:p>
          <a:p>
            <a:pPr>
              <a:defRPr sz="1425" b="0">
                <a:solidFill>
                  <a:srgbClr val="FFFFFF"/>
                </a:solidFill>
                <a:latin typeface="Consolas"/>
                <a:ea typeface="Consolas"/>
                <a:cs typeface="Consolas"/>
              </a:defRPr>
            </a:pPr>
            <a:r>
              <a:rPr sz="1425" b="0">
                <a:solidFill>
                  <a:srgbClr val="FFFFFF"/>
                </a:solidFill>
                <a:latin typeface="Consolas"/>
                <a:ea typeface="Consolas"/>
                <a:cs typeface="Consolas"/>
              </a:rPr>
              <a:t> 'Drainage Overflow / Flooding')</a:t>
            </a:r>
          </a:p>
          <a:p>
            <a:pPr>
              <a:defRPr sz="1425" b="0">
                <a:solidFill>
                  <a:srgbClr val="FFFFFF"/>
                </a:solidFill>
                <a:latin typeface="Consolas"/>
                <a:ea typeface="Consolas"/>
                <a:cs typeface="Consolas"/>
              </a:defRPr>
            </a:pPr>
            <a:r>
              <a:rPr sz="1425" b="0">
                <a:solidFill>
                  <a:srgbClr val="FFFFFF"/>
                </a:solidFill>
                <a:latin typeface="Consolas"/>
                <a:ea typeface="Consolas"/>
                <a:cs typeface="Consolas"/>
              </a:rPr>
              <a:t> AND l.zone IN ('Western', 'Eastern')</a:t>
            </a:r>
          </a:p>
          <a:p>
            <a:pPr>
              <a:defRPr sz="1425" b="0">
                <a:solidFill>
                  <a:srgbClr val="FFFFFF"/>
                </a:solidFill>
                <a:latin typeface="Consolas"/>
                <a:ea typeface="Consolas"/>
                <a:cs typeface="Consolas"/>
              </a:defRPr>
            </a:pPr>
            <a:r>
              <a:rPr sz="1425" b="0">
                <a:solidFill>
                  <a:srgbClr val="FFFFFF"/>
                </a:solidFill>
                <a:latin typeface="Consolas"/>
                <a:ea typeface="Consolas"/>
                <a:cs typeface="Consolas"/>
              </a:rPr>
              <a:t> AND t.year = 2024</a:t>
            </a:r>
          </a:p>
        </p:txBody>
      </p:sp>
      <p:sp>
        <p:nvSpPr>
          <p:cNvPr id="35" name="Rectangle 34">
            <a:extLst>
              <a:ext uri="{FF2B5EF4-FFF2-40B4-BE49-F238E27FC236}">
                <a16:creationId xmlns:a16="http://schemas.microsoft.com/office/drawing/2014/main" id="{1CA47EB9-E732-4928-9D64-CFCA2830A890}"/>
              </a:ext>
            </a:extLst>
          </p:cNvPr>
          <p:cNvSpPr>
            <a:spLocks noGrp="1"/>
          </p:cNvSpPr>
          <p:nvPr/>
        </p:nvSpPr>
        <p:spPr>
          <a:xfrm>
            <a:off x="552450" y="3476625"/>
            <a:ext cx="11068050" cy="266700"/>
          </a:xfrm>
          <a:prstGeom prst="rect">
            <a:avLst/>
          </a:prstGeom>
          <a:noFill/>
          <a:ln w="0">
            <a:noFill/>
          </a:ln>
        </p:spPr>
        <p:txBody>
          <a:bodyPr lIns="0" tIns="0" rIns="0" bIns="0">
            <a:noAutofit/>
          </a:bodyPr>
          <a:lstStyle>
            <a:defPPr>
              <a:defRPr sz="1425" b="0">
                <a:solidFill>
                  <a:srgbClr val="111111"/>
                </a:solidFill>
                <a:latin typeface="Calibri"/>
                <a:ea typeface="Calibri"/>
                <a:cs typeface="Calibri"/>
              </a:defRPr>
            </a:defPPr>
          </a:lstStyle>
          <a:p>
            <a:pPr>
              <a:defRPr sz="1425" b="0">
                <a:solidFill>
                  <a:srgbClr val="111111"/>
                </a:solidFill>
                <a:latin typeface="Calibri"/>
                <a:ea typeface="Calibri"/>
                <a:cs typeface="Calibri"/>
              </a:defRPr>
            </a:pPr>
            <a:r>
              <a:rPr sz="1425" b="0">
                <a:solidFill>
                  <a:srgbClr val="111111"/>
                </a:solidFill>
                <a:latin typeface="Calibri"/>
                <a:ea typeface="Calibri"/>
                <a:cs typeface="Calibri"/>
              </a:rPr>
              <a:t>Filter and grouping excerpts from the full queries</a:t>
            </a:r>
          </a:p>
        </p:txBody>
      </p:sp>
      <p:graphicFrame>
        <p:nvGraphicFramePr>
          <p:cNvPr id="36" name="Table 35">
            <a:extLst>
              <a:ext uri="{FF2B5EF4-FFF2-40B4-BE49-F238E27FC236}">
                <a16:creationId xmlns:a16="http://schemas.microsoft.com/office/drawing/2014/main" id="{481AAF8E-AF81-4419-AA39-84849A03CCCE}"/>
              </a:ext>
            </a:extLst>
          </p:cNvPr>
          <p:cNvGraphicFramePr/>
          <p:nvPr/>
        </p:nvGraphicFramePr>
        <p:xfrm>
          <a:off x="552450" y="3857625"/>
          <a:ext cx="5410200" cy="1657352"/>
        </p:xfrm>
        <a:graphic>
          <a:graphicData uri="http://schemas.openxmlformats.org/drawingml/2006/table">
            <a:tbl>
              <a:tblPr/>
              <a:tblGrid>
                <a:gridCol w="16002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414338">
                <a:tc>
                  <a:txBody>
                    <a:bodyPr/>
                    <a:lstStyle/>
                    <a:p>
                      <a:r>
                        <a:rPr sz="1725" b="1">
                          <a:solidFill>
                            <a:srgbClr val="FFFFFF"/>
                          </a:solidFill>
                          <a:latin typeface="Calibri"/>
                          <a:ea typeface="Calibri"/>
                          <a:cs typeface="Calibri"/>
                        </a:rPr>
                        <a:t>Ward</a:t>
                      </a:r>
                    </a:p>
                  </a:txBody>
                  <a:tcPr anchor="ctr">
                    <a:solidFill>
                      <a:srgbClr val="111111"/>
                    </a:solidFill>
                  </a:tcPr>
                </a:tc>
                <a:tc>
                  <a:txBody>
                    <a:bodyPr/>
                    <a:lstStyle/>
                    <a:p>
                      <a:r>
                        <a:rPr sz="1725" b="1">
                          <a:solidFill>
                            <a:srgbClr val="FFFFFF"/>
                          </a:solidFill>
                          <a:latin typeface="Calibri"/>
                          <a:ea typeface="Calibri"/>
                          <a:cs typeface="Calibri"/>
                        </a:rPr>
                        <a:t>Potholes</a:t>
                      </a:r>
                    </a:p>
                  </a:txBody>
                  <a:tcPr anchor="ctr">
                    <a:solidFill>
                      <a:srgbClr val="111111"/>
                    </a:solidFill>
                  </a:tcPr>
                </a:tc>
                <a:tc>
                  <a:txBody>
                    <a:bodyPr/>
                    <a:lstStyle/>
                    <a:p>
                      <a:r>
                        <a:rPr sz="1725" b="1">
                          <a:solidFill>
                            <a:srgbClr val="FFFFFF"/>
                          </a:solidFill>
                          <a:latin typeface="Calibri"/>
                          <a:ea typeface="Calibri"/>
                          <a:cs typeface="Calibri"/>
                        </a:rPr>
                        <a:t>Avg days</a:t>
                      </a:r>
                    </a:p>
                  </a:txBody>
                  <a:tcPr anchor="ctr">
                    <a:solidFill>
                      <a:srgbClr val="111111"/>
                    </a:solidFill>
                  </a:tcPr>
                </a:tc>
                <a:extLst>
                  <a:ext uri="{0D108BD9-81ED-4DB2-BD59-A6C34878D82A}">
                    <a16:rowId xmlns:a16="http://schemas.microsoft.com/office/drawing/2014/main" val="10000"/>
                  </a:ext>
                </a:extLst>
              </a:tr>
              <a:tr h="414338">
                <a:tc>
                  <a:txBody>
                    <a:bodyPr/>
                    <a:lstStyle/>
                    <a:p>
                      <a:r>
                        <a:rPr sz="1725" b="0">
                          <a:solidFill>
                            <a:srgbClr val="111111"/>
                          </a:solidFill>
                          <a:latin typeface="Calibri"/>
                          <a:ea typeface="Calibri"/>
                          <a:cs typeface="Calibri"/>
                        </a:rPr>
                        <a:t>K/E</a:t>
                      </a:r>
                    </a:p>
                  </a:txBody>
                  <a:tcPr anchor="ctr">
                    <a:solidFill>
                      <a:srgbClr val="FFFFFF"/>
                    </a:solidFill>
                  </a:tcPr>
                </a:tc>
                <a:tc>
                  <a:txBody>
                    <a:bodyPr/>
                    <a:lstStyle/>
                    <a:p>
                      <a:r>
                        <a:rPr sz="1725" b="0">
                          <a:solidFill>
                            <a:srgbClr val="111111"/>
                          </a:solidFill>
                          <a:latin typeface="Calibri"/>
                          <a:ea typeface="Calibri"/>
                          <a:cs typeface="Calibri"/>
                        </a:rPr>
                        <a:t>10,668</a:t>
                      </a:r>
                    </a:p>
                  </a:txBody>
                  <a:tcPr anchor="ctr">
                    <a:solidFill>
                      <a:srgbClr val="FFFFFF"/>
                    </a:solidFill>
                  </a:tcPr>
                </a:tc>
                <a:tc>
                  <a:txBody>
                    <a:bodyPr/>
                    <a:lstStyle/>
                    <a:p>
                      <a:r>
                        <a:rPr sz="1725" b="0">
                          <a:solidFill>
                            <a:srgbClr val="111111"/>
                          </a:solidFill>
                          <a:latin typeface="Calibri"/>
                          <a:ea typeface="Calibri"/>
                          <a:cs typeface="Calibri"/>
                        </a:rPr>
                        <a:t>15.05</a:t>
                      </a:r>
                    </a:p>
                  </a:txBody>
                  <a:tcPr anchor="ctr">
                    <a:solidFill>
                      <a:srgbClr val="FFFFFF"/>
                    </a:solidFill>
                  </a:tcPr>
                </a:tc>
                <a:extLst>
                  <a:ext uri="{0D108BD9-81ED-4DB2-BD59-A6C34878D82A}">
                    <a16:rowId xmlns:a16="http://schemas.microsoft.com/office/drawing/2014/main" val="10001"/>
                  </a:ext>
                </a:extLst>
              </a:tr>
              <a:tr h="414338">
                <a:tc>
                  <a:txBody>
                    <a:bodyPr/>
                    <a:lstStyle/>
                    <a:p>
                      <a:r>
                        <a:rPr sz="1725" b="0">
                          <a:solidFill>
                            <a:srgbClr val="111111"/>
                          </a:solidFill>
                          <a:latin typeface="Calibri"/>
                          <a:ea typeface="Calibri"/>
                          <a:cs typeface="Calibri"/>
                        </a:rPr>
                        <a:t>L</a:t>
                      </a:r>
                    </a:p>
                  </a:txBody>
                  <a:tcPr anchor="ctr">
                    <a:solidFill>
                      <a:srgbClr val="FFFFFF"/>
                    </a:solidFill>
                  </a:tcPr>
                </a:tc>
                <a:tc>
                  <a:txBody>
                    <a:bodyPr/>
                    <a:lstStyle/>
                    <a:p>
                      <a:r>
                        <a:rPr sz="1725" b="0">
                          <a:solidFill>
                            <a:srgbClr val="111111"/>
                          </a:solidFill>
                          <a:latin typeface="Calibri"/>
                          <a:ea typeface="Calibri"/>
                          <a:cs typeface="Calibri"/>
                        </a:rPr>
                        <a:t>10,596</a:t>
                      </a:r>
                    </a:p>
                  </a:txBody>
                  <a:tcPr anchor="ctr">
                    <a:solidFill>
                      <a:srgbClr val="FFFFFF"/>
                    </a:solidFill>
                  </a:tcPr>
                </a:tc>
                <a:tc>
                  <a:txBody>
                    <a:bodyPr/>
                    <a:lstStyle/>
                    <a:p>
                      <a:r>
                        <a:rPr sz="1725" b="0">
                          <a:solidFill>
                            <a:srgbClr val="111111"/>
                          </a:solidFill>
                          <a:latin typeface="Calibri"/>
                          <a:ea typeface="Calibri"/>
                          <a:cs typeface="Calibri"/>
                        </a:rPr>
                        <a:t>18.17</a:t>
                      </a:r>
                    </a:p>
                  </a:txBody>
                  <a:tcPr anchor="ctr">
                    <a:solidFill>
                      <a:srgbClr val="FFFFFF"/>
                    </a:solidFill>
                  </a:tcPr>
                </a:tc>
                <a:extLst>
                  <a:ext uri="{0D108BD9-81ED-4DB2-BD59-A6C34878D82A}">
                    <a16:rowId xmlns:a16="http://schemas.microsoft.com/office/drawing/2014/main" val="10002"/>
                  </a:ext>
                </a:extLst>
              </a:tr>
              <a:tr h="414338">
                <a:tc>
                  <a:txBody>
                    <a:bodyPr/>
                    <a:lstStyle/>
                    <a:p>
                      <a:r>
                        <a:rPr sz="1725" b="0">
                          <a:solidFill>
                            <a:srgbClr val="111111"/>
                          </a:solidFill>
                          <a:latin typeface="Calibri"/>
                          <a:ea typeface="Calibri"/>
                          <a:cs typeface="Calibri"/>
                        </a:rPr>
                        <a:t>H/E</a:t>
                      </a:r>
                    </a:p>
                  </a:txBody>
                  <a:tcPr anchor="ctr">
                    <a:solidFill>
                      <a:srgbClr val="FFFFFF"/>
                    </a:solidFill>
                  </a:tcPr>
                </a:tc>
                <a:tc>
                  <a:txBody>
                    <a:bodyPr/>
                    <a:lstStyle/>
                    <a:p>
                      <a:r>
                        <a:rPr sz="1725" b="0">
                          <a:solidFill>
                            <a:srgbClr val="111111"/>
                          </a:solidFill>
                          <a:latin typeface="Calibri"/>
                          <a:ea typeface="Calibri"/>
                          <a:cs typeface="Calibri"/>
                        </a:rPr>
                        <a:t>8,901</a:t>
                      </a:r>
                    </a:p>
                  </a:txBody>
                  <a:tcPr anchor="ctr">
                    <a:solidFill>
                      <a:srgbClr val="FFFFFF"/>
                    </a:solidFill>
                  </a:tcPr>
                </a:tc>
                <a:tc>
                  <a:txBody>
                    <a:bodyPr/>
                    <a:lstStyle/>
                    <a:p>
                      <a:r>
                        <a:rPr sz="1725" b="0">
                          <a:solidFill>
                            <a:srgbClr val="111111"/>
                          </a:solidFill>
                          <a:latin typeface="Calibri"/>
                          <a:ea typeface="Calibri"/>
                          <a:cs typeface="Calibri"/>
                        </a:rPr>
                        <a:t>15.17</a:t>
                      </a:r>
                    </a:p>
                  </a:txBody>
                  <a:tcPr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37" name="Table 36">
            <a:extLst>
              <a:ext uri="{FF2B5EF4-FFF2-40B4-BE49-F238E27FC236}">
                <a16:creationId xmlns:a16="http://schemas.microsoft.com/office/drawing/2014/main" id="{F89E48A4-FC74-4766-8C9E-25ED823CD7EE}"/>
              </a:ext>
            </a:extLst>
          </p:cNvPr>
          <p:cNvGraphicFramePr/>
          <p:nvPr/>
        </p:nvGraphicFramePr>
        <p:xfrm>
          <a:off x="6343650" y="3857625"/>
          <a:ext cx="5276850" cy="1657350"/>
        </p:xfrm>
        <a:graphic>
          <a:graphicData uri="http://schemas.openxmlformats.org/drawingml/2006/table">
            <a:tbl>
              <a:tblPr/>
              <a:tblGrid>
                <a:gridCol w="3086100">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000125">
                  <a:extLst>
                    <a:ext uri="{9D8B030D-6E8A-4147-A177-3AD203B41FA5}">
                      <a16:colId xmlns:a16="http://schemas.microsoft.com/office/drawing/2014/main" val="20002"/>
                    </a:ext>
                  </a:extLst>
                </a:gridCol>
              </a:tblGrid>
              <a:tr h="331470">
                <a:tc>
                  <a:txBody>
                    <a:bodyPr/>
                    <a:lstStyle/>
                    <a:p>
                      <a:r>
                        <a:rPr sz="1500" b="1">
                          <a:solidFill>
                            <a:srgbClr val="FFFFFF"/>
                          </a:solidFill>
                          <a:latin typeface="Calibri"/>
                          <a:ea typeface="Calibri"/>
                          <a:cs typeface="Calibri"/>
                        </a:rPr>
                        <a:t>2024 zone / category</a:t>
                      </a:r>
                    </a:p>
                  </a:txBody>
                  <a:tcPr anchor="ctr">
                    <a:solidFill>
                      <a:srgbClr val="111111"/>
                    </a:solidFill>
                  </a:tcPr>
                </a:tc>
                <a:tc>
                  <a:txBody>
                    <a:bodyPr/>
                    <a:lstStyle/>
                    <a:p>
                      <a:r>
                        <a:rPr sz="1500" b="1">
                          <a:solidFill>
                            <a:srgbClr val="FFFFFF"/>
                          </a:solidFill>
                          <a:latin typeface="Calibri"/>
                          <a:ea typeface="Calibri"/>
                          <a:cs typeface="Calibri"/>
                        </a:rPr>
                        <a:t>Count</a:t>
                      </a:r>
                    </a:p>
                  </a:txBody>
                  <a:tcPr anchor="ctr">
                    <a:solidFill>
                      <a:srgbClr val="111111"/>
                    </a:solidFill>
                  </a:tcPr>
                </a:tc>
                <a:tc>
                  <a:txBody>
                    <a:bodyPr/>
                    <a:lstStyle/>
                    <a:p>
                      <a:r>
                        <a:rPr sz="1500" b="1">
                          <a:solidFill>
                            <a:srgbClr val="FFFFFF"/>
                          </a:solidFill>
                          <a:latin typeface="Calibri"/>
                          <a:ea typeface="Calibri"/>
                          <a:cs typeface="Calibri"/>
                        </a:rPr>
                        <a:t>Days</a:t>
                      </a:r>
                    </a:p>
                  </a:txBody>
                  <a:tcPr anchor="ctr">
                    <a:solidFill>
                      <a:srgbClr val="111111"/>
                    </a:solidFill>
                  </a:tcPr>
                </a:tc>
                <a:extLst>
                  <a:ext uri="{0D108BD9-81ED-4DB2-BD59-A6C34878D82A}">
                    <a16:rowId xmlns:a16="http://schemas.microsoft.com/office/drawing/2014/main" val="10000"/>
                  </a:ext>
                </a:extLst>
              </a:tr>
              <a:tr h="331470">
                <a:tc>
                  <a:txBody>
                    <a:bodyPr/>
                    <a:lstStyle/>
                    <a:p>
                      <a:r>
                        <a:rPr sz="1500" b="0">
                          <a:solidFill>
                            <a:srgbClr val="111111"/>
                          </a:solidFill>
                          <a:latin typeface="Calibri"/>
                          <a:ea typeface="Calibri"/>
                          <a:cs typeface="Calibri"/>
                        </a:rPr>
                        <a:t>Eastern / Pothole</a:t>
                      </a:r>
                    </a:p>
                  </a:txBody>
                  <a:tcPr anchor="ctr">
                    <a:solidFill>
                      <a:srgbClr val="FFFFFF"/>
                    </a:solidFill>
                  </a:tcPr>
                </a:tc>
                <a:tc>
                  <a:txBody>
                    <a:bodyPr/>
                    <a:lstStyle/>
                    <a:p>
                      <a:r>
                        <a:rPr sz="1500" b="0">
                          <a:solidFill>
                            <a:srgbClr val="111111"/>
                          </a:solidFill>
                          <a:latin typeface="Calibri"/>
                          <a:ea typeface="Calibri"/>
                          <a:cs typeface="Calibri"/>
                        </a:rPr>
                        <a:t>6,450</a:t>
                      </a:r>
                    </a:p>
                  </a:txBody>
                  <a:tcPr anchor="ctr">
                    <a:solidFill>
                      <a:srgbClr val="FFFFFF"/>
                    </a:solidFill>
                  </a:tcPr>
                </a:tc>
                <a:tc>
                  <a:txBody>
                    <a:bodyPr/>
                    <a:lstStyle/>
                    <a:p>
                      <a:r>
                        <a:rPr sz="1500" b="0">
                          <a:solidFill>
                            <a:srgbClr val="111111"/>
                          </a:solidFill>
                          <a:latin typeface="Calibri"/>
                          <a:ea typeface="Calibri"/>
                          <a:cs typeface="Calibri"/>
                        </a:rPr>
                        <a:t>15.64</a:t>
                      </a:r>
                    </a:p>
                  </a:txBody>
                  <a:tcPr anchor="ctr">
                    <a:solidFill>
                      <a:srgbClr val="FFFFFF"/>
                    </a:solidFill>
                  </a:tcPr>
                </a:tc>
                <a:extLst>
                  <a:ext uri="{0D108BD9-81ED-4DB2-BD59-A6C34878D82A}">
                    <a16:rowId xmlns:a16="http://schemas.microsoft.com/office/drawing/2014/main" val="10001"/>
                  </a:ext>
                </a:extLst>
              </a:tr>
              <a:tr h="331470">
                <a:tc>
                  <a:txBody>
                    <a:bodyPr/>
                    <a:lstStyle/>
                    <a:p>
                      <a:r>
                        <a:rPr sz="1500" b="0">
                          <a:solidFill>
                            <a:srgbClr val="111111"/>
                          </a:solidFill>
                          <a:latin typeface="Calibri"/>
                          <a:ea typeface="Calibri"/>
                          <a:cs typeface="Calibri"/>
                        </a:rPr>
                        <a:t>Western / Pothole</a:t>
                      </a:r>
                    </a:p>
                  </a:txBody>
                  <a:tcPr anchor="ctr">
                    <a:solidFill>
                      <a:srgbClr val="FFFFFF"/>
                    </a:solidFill>
                  </a:tcPr>
                </a:tc>
                <a:tc>
                  <a:txBody>
                    <a:bodyPr/>
                    <a:lstStyle/>
                    <a:p>
                      <a:r>
                        <a:rPr sz="1500" b="0">
                          <a:solidFill>
                            <a:srgbClr val="111111"/>
                          </a:solidFill>
                          <a:latin typeface="Calibri"/>
                          <a:ea typeface="Calibri"/>
                          <a:cs typeface="Calibri"/>
                        </a:rPr>
                        <a:t>9,107</a:t>
                      </a:r>
                    </a:p>
                  </a:txBody>
                  <a:tcPr anchor="ctr">
                    <a:solidFill>
                      <a:srgbClr val="FFFFFF"/>
                    </a:solidFill>
                  </a:tcPr>
                </a:tc>
                <a:tc>
                  <a:txBody>
                    <a:bodyPr/>
                    <a:lstStyle/>
                    <a:p>
                      <a:r>
                        <a:rPr sz="1500" b="0">
                          <a:solidFill>
                            <a:srgbClr val="111111"/>
                          </a:solidFill>
                          <a:latin typeface="Calibri"/>
                          <a:ea typeface="Calibri"/>
                          <a:cs typeface="Calibri"/>
                        </a:rPr>
                        <a:t>15.15</a:t>
                      </a:r>
                    </a:p>
                  </a:txBody>
                  <a:tcPr anchor="ctr">
                    <a:solidFill>
                      <a:srgbClr val="FFFFFF"/>
                    </a:solidFill>
                  </a:tcPr>
                </a:tc>
                <a:extLst>
                  <a:ext uri="{0D108BD9-81ED-4DB2-BD59-A6C34878D82A}">
                    <a16:rowId xmlns:a16="http://schemas.microsoft.com/office/drawing/2014/main" val="10002"/>
                  </a:ext>
                </a:extLst>
              </a:tr>
              <a:tr h="331470">
                <a:tc>
                  <a:txBody>
                    <a:bodyPr/>
                    <a:lstStyle/>
                    <a:p>
                      <a:r>
                        <a:rPr sz="1500" b="0">
                          <a:solidFill>
                            <a:srgbClr val="111111"/>
                          </a:solidFill>
                          <a:latin typeface="Calibri"/>
                          <a:ea typeface="Calibri"/>
                          <a:cs typeface="Calibri"/>
                        </a:rPr>
                        <a:t>Eastern / Water supply</a:t>
                      </a:r>
                    </a:p>
                  </a:txBody>
                  <a:tcPr anchor="ctr">
                    <a:solidFill>
                      <a:srgbClr val="FFFFFF"/>
                    </a:solidFill>
                  </a:tcPr>
                </a:tc>
                <a:tc>
                  <a:txBody>
                    <a:bodyPr/>
                    <a:lstStyle/>
                    <a:p>
                      <a:r>
                        <a:rPr sz="1500" b="0">
                          <a:solidFill>
                            <a:srgbClr val="111111"/>
                          </a:solidFill>
                          <a:latin typeface="Calibri"/>
                          <a:ea typeface="Calibri"/>
                          <a:cs typeface="Calibri"/>
                        </a:rPr>
                        <a:t>5,903</a:t>
                      </a:r>
                    </a:p>
                  </a:txBody>
                  <a:tcPr anchor="ctr">
                    <a:solidFill>
                      <a:srgbClr val="FFFFFF"/>
                    </a:solidFill>
                  </a:tcPr>
                </a:tc>
                <a:tc>
                  <a:txBody>
                    <a:bodyPr/>
                    <a:lstStyle/>
                    <a:p>
                      <a:r>
                        <a:rPr sz="1500" b="0">
                          <a:solidFill>
                            <a:srgbClr val="111111"/>
                          </a:solidFill>
                          <a:latin typeface="Calibri"/>
                          <a:ea typeface="Calibri"/>
                          <a:cs typeface="Calibri"/>
                        </a:rPr>
                        <a:t>9.33</a:t>
                      </a:r>
                    </a:p>
                  </a:txBody>
                  <a:tcPr anchor="ctr">
                    <a:solidFill>
                      <a:srgbClr val="FFFFFF"/>
                    </a:solidFill>
                  </a:tcPr>
                </a:tc>
                <a:extLst>
                  <a:ext uri="{0D108BD9-81ED-4DB2-BD59-A6C34878D82A}">
                    <a16:rowId xmlns:a16="http://schemas.microsoft.com/office/drawing/2014/main" val="10003"/>
                  </a:ext>
                </a:extLst>
              </a:tr>
              <a:tr h="331470">
                <a:tc>
                  <a:txBody>
                    <a:bodyPr/>
                    <a:lstStyle/>
                    <a:p>
                      <a:r>
                        <a:rPr sz="1500" b="0">
                          <a:solidFill>
                            <a:srgbClr val="111111"/>
                          </a:solidFill>
                          <a:latin typeface="Calibri"/>
                          <a:ea typeface="Calibri"/>
                          <a:cs typeface="Calibri"/>
                        </a:rPr>
                        <a:t>Western / Water supply</a:t>
                      </a:r>
                    </a:p>
                  </a:txBody>
                  <a:tcPr anchor="ctr">
                    <a:solidFill>
                      <a:srgbClr val="FFFFFF"/>
                    </a:solidFill>
                  </a:tcPr>
                </a:tc>
                <a:tc>
                  <a:txBody>
                    <a:bodyPr/>
                    <a:lstStyle/>
                    <a:p>
                      <a:r>
                        <a:rPr sz="1500" b="0">
                          <a:solidFill>
                            <a:srgbClr val="111111"/>
                          </a:solidFill>
                          <a:latin typeface="Calibri"/>
                          <a:ea typeface="Calibri"/>
                          <a:cs typeface="Calibri"/>
                        </a:rPr>
                        <a:t>8,052</a:t>
                      </a:r>
                    </a:p>
                  </a:txBody>
                  <a:tcPr anchor="ctr">
                    <a:solidFill>
                      <a:srgbClr val="FFFFFF"/>
                    </a:solidFill>
                  </a:tcPr>
                </a:tc>
                <a:tc>
                  <a:txBody>
                    <a:bodyPr/>
                    <a:lstStyle/>
                    <a:p>
                      <a:r>
                        <a:rPr sz="1500" b="0">
                          <a:solidFill>
                            <a:srgbClr val="111111"/>
                          </a:solidFill>
                          <a:latin typeface="Calibri"/>
                          <a:ea typeface="Calibri"/>
                          <a:cs typeface="Calibri"/>
                        </a:rPr>
                        <a:t>9.18</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8" name="Rectangle 37">
            <a:extLst>
              <a:ext uri="{FF2B5EF4-FFF2-40B4-BE49-F238E27FC236}">
                <a16:creationId xmlns:a16="http://schemas.microsoft.com/office/drawing/2014/main" id="{AA389962-F22E-4D25-ACE8-2B61F1BC5919}"/>
              </a:ext>
            </a:extLst>
          </p:cNvPr>
          <p:cNvSpPr>
            <a:spLocks noGrp="1"/>
          </p:cNvSpPr>
          <p:nvPr/>
        </p:nvSpPr>
        <p:spPr>
          <a:xfrm>
            <a:off x="552450" y="5762625"/>
            <a:ext cx="5410200" cy="428625"/>
          </a:xfrm>
          <a:prstGeom prst="rect">
            <a:avLst/>
          </a:prstGeom>
          <a:noFill/>
          <a:ln w="0">
            <a:noFill/>
          </a:ln>
        </p:spPr>
        <p:txBody>
          <a:bodyPr lIns="0" tIns="0" rIns="0" bIns="0">
            <a:noAutofit/>
          </a:bodyPr>
          <a:lstStyle>
            <a:defPPr>
              <a:defRPr sz="1650" b="1">
                <a:solidFill>
                  <a:srgbClr val="111111"/>
                </a:solidFill>
                <a:latin typeface="Calibri"/>
                <a:ea typeface="Calibri"/>
                <a:cs typeface="Calibri"/>
              </a:defRPr>
            </a:defPPr>
          </a:lstStyle>
          <a:p>
            <a:pPr>
              <a:defRPr sz="1650" b="1">
                <a:solidFill>
                  <a:srgbClr val="111111"/>
                </a:solidFill>
                <a:latin typeface="Calibri"/>
                <a:ea typeface="Calibri"/>
                <a:cs typeface="Calibri"/>
              </a:defRPr>
            </a:pPr>
            <a:r>
              <a:rPr sz="1650" b="1">
                <a:solidFill>
                  <a:srgbClr val="111111"/>
                </a:solidFill>
                <a:latin typeface="Calibri"/>
                <a:ea typeface="Calibri"/>
                <a:cs typeface="Calibri"/>
              </a:rPr>
              <a:t>K/E leads pothole complaints.</a:t>
            </a:r>
          </a:p>
        </p:txBody>
      </p:sp>
      <p:sp>
        <p:nvSpPr>
          <p:cNvPr id="39" name="Rectangle 38">
            <a:extLst>
              <a:ext uri="{FF2B5EF4-FFF2-40B4-BE49-F238E27FC236}">
                <a16:creationId xmlns:a16="http://schemas.microsoft.com/office/drawing/2014/main" id="{B632C757-57FF-409F-8A67-B3EDDFEA9269}"/>
              </a:ext>
            </a:extLst>
          </p:cNvPr>
          <p:cNvSpPr>
            <a:spLocks noGrp="1"/>
          </p:cNvSpPr>
          <p:nvPr/>
        </p:nvSpPr>
        <p:spPr>
          <a:xfrm>
            <a:off x="6343650" y="5762625"/>
            <a:ext cx="5276850" cy="476250"/>
          </a:xfrm>
          <a:prstGeom prst="rect">
            <a:avLst/>
          </a:prstGeom>
          <a:noFill/>
          <a:ln w="0">
            <a:noFill/>
          </a:ln>
        </p:spPr>
        <p:txBody>
          <a:bodyPr lIns="0" tIns="0" rIns="0" bIns="0">
            <a:noAutofit/>
          </a:bodyPr>
          <a:lstStyle>
            <a:defPPr>
              <a:defRPr sz="1650" b="1">
                <a:solidFill>
                  <a:srgbClr val="111111"/>
                </a:solidFill>
                <a:latin typeface="Calibri"/>
                <a:ea typeface="Calibri"/>
                <a:cs typeface="Calibri"/>
              </a:defRPr>
            </a:defPPr>
          </a:lstStyle>
          <a:p>
            <a:pPr>
              <a:defRPr sz="1650" b="1">
                <a:solidFill>
                  <a:srgbClr val="111111"/>
                </a:solidFill>
                <a:latin typeface="Calibri"/>
                <a:ea typeface="Calibri"/>
                <a:cs typeface="Calibri"/>
              </a:defRPr>
            </a:pPr>
            <a:r>
              <a:rPr sz="1650" b="1">
                <a:solidFill>
                  <a:srgbClr val="111111"/>
                </a:solidFill>
                <a:latin typeface="Calibri"/>
                <a:ea typeface="Calibri"/>
                <a:cs typeface="Calibri"/>
              </a:rPr>
              <a:t>Eastern potholes take 15.64 days to resolve.</a:t>
            </a:r>
          </a:p>
        </p:txBody>
      </p:sp>
    </p:spTree>
    <p:extLst>
      <p:ext uri="{BB962C8B-B14F-4D97-AF65-F5344CB8AC3E}">
        <p14:creationId xmlns:p14="http://schemas.microsoft.com/office/powerpoint/2010/main" val="1725946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C16E5CF-A9AF-4904-BE9F-3E2A5AD68E87}"/>
              </a:ext>
            </a:extLst>
          </p:cNvPr>
          <p:cNvSpPr>
            <a:spLocks noGrp="1"/>
          </p:cNvSpPr>
          <p:nvPr>
            <p:ph type="title" idx="102" hasCustomPrompt="1"/>
          </p:nvPr>
        </p:nvSpPr>
        <p:spPr>
          <a:xfrm>
            <a:off x="822960" y="411480"/>
            <a:ext cx="10789920" cy="777240"/>
          </a:xfrm>
          <a:prstGeom prst="rect">
            <a:avLst/>
          </a:prstGeom>
          <a:noFill/>
        </p:spPr>
        <p:txBody>
          <a:bodyPr wrap="square" anchor="ctr"/>
          <a:lstStyle/>
          <a:p>
            <a:pPr marL="0" indent="0">
              <a:buNone/>
            </a:pPr>
            <a:r>
              <a:rPr sz="2800" b="1">
                <a:solidFill>
                  <a:schemeClr val="tx2"/>
                </a:solidFill>
              </a:rPr>
              <a:t>OLAP Operations: Pivot</a:t>
            </a:r>
            <a:endParaRPr sz="2800"/>
          </a:p>
        </p:txBody>
      </p:sp>
      <p:sp>
        <p:nvSpPr>
          <p:cNvPr id="28" name="Slide Number Placeholder 0">
            <a:extLst>
              <a:ext uri="{FF2B5EF4-FFF2-40B4-BE49-F238E27FC236}">
                <a16:creationId xmlns:a16="http://schemas.microsoft.com/office/drawing/2014/main" id="{B99B83AE-054F-49A4-85A6-A24AEEE7B42C}"/>
              </a:ext>
            </a:extLst>
          </p:cNvPr>
          <p:cNvSpPr>
            <a:spLocks noGrp="1"/>
          </p:cNvSpPr>
          <p:nvPr>
            <p:ph type="sldNum" idx="4294967295"/>
          </p:nvPr>
        </p:nvSpPr>
        <p:spPr>
          <a:xfrm>
            <a:off x="11155680" y="6355080"/>
            <a:ext cx="457200" cy="274320"/>
          </a:xfrm>
          <a:prstGeom prst="rect">
            <a:avLst/>
          </a:prstGeom>
        </p:spPr>
        <p:txBody>
          <a:bodyPr/>
          <a:lstStyle>
            <a:lvl1pPr>
              <a:buNone/>
              <a:defRPr sz="1000">
                <a:solidFill>
                  <a:schemeClr val="accent6"/>
                </a:solidFill>
              </a:defRPr>
            </a:lvl1pPr>
          </a:lstStyle>
          <a:p>
            <a:r>
              <a:t>18</a:t>
            </a:r>
          </a:p>
        </p:txBody>
      </p:sp>
      <p:sp>
        <p:nvSpPr>
          <p:cNvPr id="29" name="Rectangle 28">
            <a:extLst>
              <a:ext uri="{FF2B5EF4-FFF2-40B4-BE49-F238E27FC236}">
                <a16:creationId xmlns:a16="http://schemas.microsoft.com/office/drawing/2014/main" id="{58A0EEC4-2CE7-4310-9853-F23BE3925725}"/>
              </a:ext>
            </a:extLst>
          </p:cNvPr>
          <p:cNvSpPr>
            <a:spLocks noGrp="1"/>
          </p:cNvSpPr>
          <p:nvPr/>
        </p:nvSpPr>
        <p:spPr>
          <a:xfrm>
            <a:off x="552450" y="1333500"/>
            <a:ext cx="11068050" cy="323850"/>
          </a:xfrm>
          <a:prstGeom prst="rect">
            <a:avLst/>
          </a:prstGeom>
          <a:noFill/>
          <a:ln w="0">
            <a:noFill/>
          </a:ln>
        </p:spPr>
        <p:txBody>
          <a:bodyPr lIns="0" tIns="0" rIns="0" bIns="0" anchor="t">
            <a:noAutofit/>
          </a:bodyPr>
          <a:lstStyle>
            <a:defPPr algn="l">
              <a:defRPr sz="1650" b="0">
                <a:solidFill>
                  <a:srgbClr val="111111"/>
                </a:solidFill>
                <a:latin typeface="Calibri"/>
                <a:ea typeface="Calibri"/>
                <a:cs typeface="Calibri"/>
              </a:defRPr>
            </a:defPPr>
          </a:lstStyle>
          <a:p>
            <a:pPr algn="l">
              <a:buNone/>
              <a:defRPr sz="1650" b="0">
                <a:solidFill>
                  <a:srgbClr val="111111"/>
                </a:solidFill>
                <a:latin typeface="Calibri"/>
                <a:ea typeface="Calibri"/>
                <a:cs typeface="Calibri"/>
              </a:defRPr>
            </a:pPr>
            <a:r>
              <a:rPr sz="1650" b="0">
                <a:solidFill>
                  <a:srgbClr val="111111"/>
                </a:solidFill>
                <a:latin typeface="Calibri"/>
                <a:ea typeface="Calibri"/>
                <a:cs typeface="Calibri"/>
              </a:rPr>
              <a:t>Ward rows with complaint categories as columns</a:t>
            </a:r>
          </a:p>
        </p:txBody>
      </p:sp>
      <p:sp>
        <p:nvSpPr>
          <p:cNvPr id="30" name="Rectangle 29">
            <a:extLst>
              <a:ext uri="{FF2B5EF4-FFF2-40B4-BE49-F238E27FC236}">
                <a16:creationId xmlns:a16="http://schemas.microsoft.com/office/drawing/2014/main" id="{86C92467-736C-4998-8288-FDD12043CDC1}"/>
              </a:ext>
            </a:extLst>
          </p:cNvPr>
          <p:cNvSpPr>
            <a:spLocks noGrp="1"/>
          </p:cNvSpPr>
          <p:nvPr/>
        </p:nvSpPr>
        <p:spPr>
          <a:xfrm>
            <a:off x="523875" y="1695450"/>
            <a:ext cx="5648325" cy="4095750"/>
          </a:xfrm>
          <a:prstGeom prst="rect">
            <a:avLst/>
          </a:prstGeom>
          <a:solidFill>
            <a:srgbClr val="111111"/>
          </a:solidFill>
          <a:ln w="0">
            <a:solidFill>
              <a:srgbClr val="111111"/>
            </a:solidFill>
          </a:ln>
        </p:spPr>
      </p:sp>
      <p:sp>
        <p:nvSpPr>
          <p:cNvPr id="31" name="Rectangle 30">
            <a:extLst>
              <a:ext uri="{FF2B5EF4-FFF2-40B4-BE49-F238E27FC236}">
                <a16:creationId xmlns:a16="http://schemas.microsoft.com/office/drawing/2014/main" id="{0ACE5274-CDE9-43B3-B3F6-7C510E43380B}"/>
              </a:ext>
            </a:extLst>
          </p:cNvPr>
          <p:cNvSpPr>
            <a:spLocks noGrp="1"/>
          </p:cNvSpPr>
          <p:nvPr/>
        </p:nvSpPr>
        <p:spPr>
          <a:xfrm>
            <a:off x="704850" y="1885950"/>
            <a:ext cx="5286375" cy="3714750"/>
          </a:xfrm>
          <a:prstGeom prst="rect">
            <a:avLst/>
          </a:prstGeom>
          <a:noFill/>
          <a:ln w="0">
            <a:noFill/>
          </a:ln>
        </p:spPr>
        <p:txBody>
          <a:bodyPr lIns="0" tIns="0" rIns="0" bIns="0" anchor="t">
            <a:noAutofit/>
          </a:bodyPr>
          <a:lstStyle>
            <a:defPPr algn="l">
              <a:defRPr sz="1275" b="0">
                <a:solidFill>
                  <a:srgbClr val="FFFFFF"/>
                </a:solidFill>
                <a:latin typeface="Consolas"/>
                <a:ea typeface="Consolas"/>
                <a:cs typeface="Consolas"/>
              </a:defRPr>
            </a:defPPr>
          </a:lstStyle>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SELECT l.ward, l.ward_area,</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SUM(CASE WHEN c.category_name =</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'Pothole / Road Damage'</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THEN f.complaint_count ELSE 0 END)</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AS pothole_roads,</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SUM(CASE WHEN c.category_name =</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'Water Supply Disruption'</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THEN f.complaint_count ELSE 0 END)</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AS water_supply,</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SUM(f.complaint_count)</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AS total_ward_complaints</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FROM fact_complaint f</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JOIN dim_location l</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ON f.location_key = l.location_key</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JOIN dim_category c</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 ON f.category_key = c.category_key</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GROUP BY l.ward, l.ward_area</a:t>
            </a:r>
          </a:p>
          <a:p>
            <a:pPr algn="l">
              <a:buNone/>
              <a:defRPr sz="1275" b="0">
                <a:solidFill>
                  <a:srgbClr val="FFFFFF"/>
                </a:solidFill>
                <a:latin typeface="Consolas"/>
                <a:ea typeface="Consolas"/>
                <a:cs typeface="Consolas"/>
              </a:defRPr>
            </a:pPr>
            <a:r>
              <a:rPr sz="1275" b="0">
                <a:solidFill>
                  <a:srgbClr val="FFFFFF"/>
                </a:solidFill>
                <a:latin typeface="Consolas"/>
                <a:ea typeface="Consolas"/>
                <a:cs typeface="Consolas"/>
              </a:rPr>
              <a:t>ORDER BY total_ward_complaints DESC;</a:t>
            </a:r>
          </a:p>
        </p:txBody>
      </p:sp>
      <p:sp>
        <p:nvSpPr>
          <p:cNvPr id="32" name="Rectangle 31">
            <a:extLst>
              <a:ext uri="{FF2B5EF4-FFF2-40B4-BE49-F238E27FC236}">
                <a16:creationId xmlns:a16="http://schemas.microsoft.com/office/drawing/2014/main" id="{3A11571E-658F-4877-8CE0-662C32C9DD92}"/>
              </a:ext>
            </a:extLst>
          </p:cNvPr>
          <p:cNvSpPr>
            <a:spLocks noGrp="1"/>
          </p:cNvSpPr>
          <p:nvPr/>
        </p:nvSpPr>
        <p:spPr>
          <a:xfrm>
            <a:off x="6381750" y="1743075"/>
            <a:ext cx="5238750" cy="304800"/>
          </a:xfrm>
          <a:prstGeom prst="rect">
            <a:avLst/>
          </a:prstGeom>
          <a:noFill/>
          <a:ln w="0">
            <a:noFill/>
          </a:ln>
        </p:spPr>
        <p:txBody>
          <a:bodyPr lIns="0" tIns="0" rIns="0" bIns="0" anchor="t">
            <a:noAutofit/>
          </a:bodyPr>
          <a:lstStyle>
            <a:defPPr algn="l">
              <a:defRPr sz="1575" b="1">
                <a:solidFill>
                  <a:srgbClr val="111111"/>
                </a:solidFill>
                <a:latin typeface="Calibri"/>
                <a:ea typeface="Calibri"/>
                <a:cs typeface="Calibri"/>
              </a:defRPr>
            </a:defPPr>
          </a:lstStyle>
          <a:p>
            <a:pPr algn="l">
              <a:buNone/>
              <a:defRPr sz="1575" b="1">
                <a:solidFill>
                  <a:srgbClr val="111111"/>
                </a:solidFill>
                <a:latin typeface="Calibri"/>
                <a:ea typeface="Calibri"/>
                <a:cs typeface="Calibri"/>
              </a:defRPr>
            </a:pPr>
            <a:r>
              <a:rPr sz="1575" b="1">
                <a:solidFill>
                  <a:srgbClr val="111111"/>
                </a:solidFill>
                <a:latin typeface="Calibri"/>
                <a:ea typeface="Calibri"/>
                <a:cs typeface="Calibri"/>
              </a:rPr>
              <a:t>Result table (selected rows / columns)</a:t>
            </a:r>
          </a:p>
        </p:txBody>
      </p:sp>
      <p:graphicFrame>
        <p:nvGraphicFramePr>
          <p:cNvPr id="33" name="Table 32">
            <a:extLst>
              <a:ext uri="{FF2B5EF4-FFF2-40B4-BE49-F238E27FC236}">
                <a16:creationId xmlns:a16="http://schemas.microsoft.com/office/drawing/2014/main" id="{B4A20669-265F-487E-8713-4653CB199F20}"/>
              </a:ext>
            </a:extLst>
          </p:cNvPr>
          <p:cNvGraphicFramePr/>
          <p:nvPr/>
        </p:nvGraphicFramePr>
        <p:xfrm>
          <a:off x="6381750" y="2152650"/>
          <a:ext cx="5238750" cy="2667000"/>
        </p:xfrm>
        <a:graphic>
          <a:graphicData uri="http://schemas.openxmlformats.org/drawingml/2006/table">
            <a:tbl>
              <a:tblPr/>
              <a:tblGrid>
                <a:gridCol w="80962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533400">
                <a:tc>
                  <a:txBody>
                    <a:bodyPr/>
                    <a:lstStyle/>
                    <a:p>
                      <a:r>
                        <a:rPr sz="1575" b="1">
                          <a:solidFill>
                            <a:srgbClr val="FFFFFF"/>
                          </a:solidFill>
                          <a:latin typeface="Calibri"/>
                          <a:ea typeface="Calibri"/>
                          <a:cs typeface="Calibri"/>
                        </a:rPr>
                        <a:t>Ward</a:t>
                      </a:r>
                    </a:p>
                  </a:txBody>
                  <a:tcPr anchor="ctr">
                    <a:solidFill>
                      <a:srgbClr val="000000"/>
                    </a:solidFill>
                  </a:tcPr>
                </a:tc>
                <a:tc>
                  <a:txBody>
                    <a:bodyPr/>
                    <a:lstStyle/>
                    <a:p>
                      <a:r>
                        <a:rPr sz="1575" b="1">
                          <a:solidFill>
                            <a:srgbClr val="FFFFFF"/>
                          </a:solidFill>
                          <a:latin typeface="Calibri"/>
                          <a:ea typeface="Calibri"/>
                          <a:cs typeface="Calibri"/>
                        </a:rPr>
                        <a:t>Potholes</a:t>
                      </a:r>
                    </a:p>
                  </a:txBody>
                  <a:tcPr anchor="ctr">
                    <a:solidFill>
                      <a:srgbClr val="000000"/>
                    </a:solidFill>
                  </a:tcPr>
                </a:tc>
                <a:tc>
                  <a:txBody>
                    <a:bodyPr/>
                    <a:lstStyle/>
                    <a:p>
                      <a:r>
                        <a:rPr sz="1575" b="1">
                          <a:solidFill>
                            <a:srgbClr val="FFFFFF"/>
                          </a:solidFill>
                          <a:latin typeface="Calibri"/>
                          <a:ea typeface="Calibri"/>
                          <a:cs typeface="Calibri"/>
                        </a:rPr>
                        <a:t>Water</a:t>
                      </a:r>
                    </a:p>
                  </a:txBody>
                  <a:tcPr anchor="ctr">
                    <a:solidFill>
                      <a:srgbClr val="000000"/>
                    </a:solidFill>
                  </a:tcPr>
                </a:tc>
                <a:tc>
                  <a:txBody>
                    <a:bodyPr/>
                    <a:lstStyle/>
                    <a:p>
                      <a:r>
                        <a:rPr sz="1575" b="1">
                          <a:solidFill>
                            <a:srgbClr val="FFFFFF"/>
                          </a:solidFill>
                          <a:latin typeface="Calibri"/>
                          <a:ea typeface="Calibri"/>
                          <a:cs typeface="Calibri"/>
                        </a:rPr>
                        <a:t>Total</a:t>
                      </a:r>
                    </a:p>
                  </a:txBody>
                  <a:tcPr anchor="ctr">
                    <a:solidFill>
                      <a:srgbClr val="000000"/>
                    </a:solidFill>
                  </a:tcPr>
                </a:tc>
                <a:extLst>
                  <a:ext uri="{0D108BD9-81ED-4DB2-BD59-A6C34878D82A}">
                    <a16:rowId xmlns:a16="http://schemas.microsoft.com/office/drawing/2014/main" val="10000"/>
                  </a:ext>
                </a:extLst>
              </a:tr>
              <a:tr h="533400">
                <a:tc>
                  <a:txBody>
                    <a:bodyPr/>
                    <a:lstStyle/>
                    <a:p>
                      <a:r>
                        <a:rPr sz="1575" b="0">
                          <a:solidFill>
                            <a:srgbClr val="111111"/>
                          </a:solidFill>
                          <a:latin typeface="Calibri"/>
                          <a:ea typeface="Calibri"/>
                          <a:cs typeface="Calibri"/>
                        </a:rPr>
                        <a:t>K/E</a:t>
                      </a:r>
                    </a:p>
                  </a:txBody>
                  <a:tcPr anchor="ctr">
                    <a:solidFill>
                      <a:srgbClr val="FFFFFF"/>
                    </a:solidFill>
                  </a:tcPr>
                </a:tc>
                <a:tc>
                  <a:txBody>
                    <a:bodyPr/>
                    <a:lstStyle/>
                    <a:p>
                      <a:r>
                        <a:rPr sz="1575" b="0">
                          <a:solidFill>
                            <a:srgbClr val="111111"/>
                          </a:solidFill>
                          <a:latin typeface="Calibri"/>
                          <a:ea typeface="Calibri"/>
                          <a:cs typeface="Calibri"/>
                        </a:rPr>
                        <a:t>10,668</a:t>
                      </a:r>
                    </a:p>
                  </a:txBody>
                  <a:tcPr anchor="ctr">
                    <a:solidFill>
                      <a:srgbClr val="FFFFFF"/>
                    </a:solidFill>
                  </a:tcPr>
                </a:tc>
                <a:tc>
                  <a:txBody>
                    <a:bodyPr/>
                    <a:lstStyle/>
                    <a:p>
                      <a:r>
                        <a:rPr sz="1575" b="0">
                          <a:solidFill>
                            <a:srgbClr val="111111"/>
                          </a:solidFill>
                          <a:latin typeface="Calibri"/>
                          <a:ea typeface="Calibri"/>
                          <a:cs typeface="Calibri"/>
                        </a:rPr>
                        <a:t>9,540</a:t>
                      </a:r>
                    </a:p>
                  </a:txBody>
                  <a:tcPr anchor="ctr">
                    <a:solidFill>
                      <a:srgbClr val="FFFFFF"/>
                    </a:solidFill>
                  </a:tcPr>
                </a:tc>
                <a:tc>
                  <a:txBody>
                    <a:bodyPr/>
                    <a:lstStyle/>
                    <a:p>
                      <a:r>
                        <a:rPr sz="1575" b="0">
                          <a:solidFill>
                            <a:srgbClr val="111111"/>
                          </a:solidFill>
                          <a:latin typeface="Calibri"/>
                          <a:ea typeface="Calibri"/>
                          <a:cs typeface="Calibri"/>
                        </a:rPr>
                        <a:t>59,673</a:t>
                      </a:r>
                    </a:p>
                  </a:txBody>
                  <a:tcPr anchor="ctr">
                    <a:solidFill>
                      <a:srgbClr val="FFFFFF"/>
                    </a:solidFill>
                  </a:tcPr>
                </a:tc>
                <a:extLst>
                  <a:ext uri="{0D108BD9-81ED-4DB2-BD59-A6C34878D82A}">
                    <a16:rowId xmlns:a16="http://schemas.microsoft.com/office/drawing/2014/main" val="10001"/>
                  </a:ext>
                </a:extLst>
              </a:tr>
              <a:tr h="533400">
                <a:tc>
                  <a:txBody>
                    <a:bodyPr/>
                    <a:lstStyle/>
                    <a:p>
                      <a:r>
                        <a:rPr sz="1575" b="0">
                          <a:solidFill>
                            <a:srgbClr val="111111"/>
                          </a:solidFill>
                          <a:latin typeface="Calibri"/>
                          <a:ea typeface="Calibri"/>
                          <a:cs typeface="Calibri"/>
                        </a:rPr>
                        <a:t>L</a:t>
                      </a:r>
                    </a:p>
                  </a:txBody>
                  <a:tcPr anchor="ctr">
                    <a:solidFill>
                      <a:srgbClr val="FFFFFF"/>
                    </a:solidFill>
                  </a:tcPr>
                </a:tc>
                <a:tc>
                  <a:txBody>
                    <a:bodyPr/>
                    <a:lstStyle/>
                    <a:p>
                      <a:r>
                        <a:rPr sz="1575" b="0">
                          <a:solidFill>
                            <a:srgbClr val="111111"/>
                          </a:solidFill>
                          <a:latin typeface="Calibri"/>
                          <a:ea typeface="Calibri"/>
                          <a:cs typeface="Calibri"/>
                        </a:rPr>
                        <a:t>10,596</a:t>
                      </a:r>
                    </a:p>
                  </a:txBody>
                  <a:tcPr anchor="ctr">
                    <a:solidFill>
                      <a:srgbClr val="FFFFFF"/>
                    </a:solidFill>
                  </a:tcPr>
                </a:tc>
                <a:tc>
                  <a:txBody>
                    <a:bodyPr/>
                    <a:lstStyle/>
                    <a:p>
                      <a:r>
                        <a:rPr sz="1575" b="0">
                          <a:solidFill>
                            <a:srgbClr val="111111"/>
                          </a:solidFill>
                          <a:latin typeface="Calibri"/>
                          <a:ea typeface="Calibri"/>
                          <a:cs typeface="Calibri"/>
                        </a:rPr>
                        <a:t>9,620</a:t>
                      </a:r>
                    </a:p>
                  </a:txBody>
                  <a:tcPr anchor="ctr">
                    <a:solidFill>
                      <a:srgbClr val="FFFFFF"/>
                    </a:solidFill>
                  </a:tcPr>
                </a:tc>
                <a:tc>
                  <a:txBody>
                    <a:bodyPr/>
                    <a:lstStyle/>
                    <a:p>
                      <a:r>
                        <a:rPr sz="1575" b="0">
                          <a:solidFill>
                            <a:srgbClr val="111111"/>
                          </a:solidFill>
                          <a:latin typeface="Calibri"/>
                          <a:ea typeface="Calibri"/>
                          <a:cs typeface="Calibri"/>
                        </a:rPr>
                        <a:t>59,459</a:t>
                      </a:r>
                    </a:p>
                  </a:txBody>
                  <a:tcPr anchor="ctr">
                    <a:solidFill>
                      <a:srgbClr val="FFFFFF"/>
                    </a:solidFill>
                  </a:tcPr>
                </a:tc>
                <a:extLst>
                  <a:ext uri="{0D108BD9-81ED-4DB2-BD59-A6C34878D82A}">
                    <a16:rowId xmlns:a16="http://schemas.microsoft.com/office/drawing/2014/main" val="10002"/>
                  </a:ext>
                </a:extLst>
              </a:tr>
              <a:tr h="533400">
                <a:tc>
                  <a:txBody>
                    <a:bodyPr/>
                    <a:lstStyle/>
                    <a:p>
                      <a:r>
                        <a:rPr sz="1575" b="0">
                          <a:solidFill>
                            <a:srgbClr val="111111"/>
                          </a:solidFill>
                          <a:latin typeface="Calibri"/>
                          <a:ea typeface="Calibri"/>
                          <a:cs typeface="Calibri"/>
                        </a:rPr>
                        <a:t>M/E</a:t>
                      </a:r>
                    </a:p>
                  </a:txBody>
                  <a:tcPr anchor="ctr">
                    <a:solidFill>
                      <a:srgbClr val="FFFFFF"/>
                    </a:solidFill>
                  </a:tcPr>
                </a:tc>
                <a:tc>
                  <a:txBody>
                    <a:bodyPr/>
                    <a:lstStyle/>
                    <a:p>
                      <a:r>
                        <a:rPr sz="1575" b="0">
                          <a:solidFill>
                            <a:srgbClr val="111111"/>
                          </a:solidFill>
                          <a:latin typeface="Calibri"/>
                          <a:ea typeface="Calibri"/>
                          <a:cs typeface="Calibri"/>
                        </a:rPr>
                        <a:t>8,894</a:t>
                      </a:r>
                    </a:p>
                  </a:txBody>
                  <a:tcPr anchor="ctr">
                    <a:solidFill>
                      <a:srgbClr val="FFFFFF"/>
                    </a:solidFill>
                  </a:tcPr>
                </a:tc>
                <a:tc>
                  <a:txBody>
                    <a:bodyPr/>
                    <a:lstStyle/>
                    <a:p>
                      <a:r>
                        <a:rPr sz="1575" b="0">
                          <a:solidFill>
                            <a:srgbClr val="111111"/>
                          </a:solidFill>
                          <a:latin typeface="Calibri"/>
                          <a:ea typeface="Calibri"/>
                          <a:cs typeface="Calibri"/>
                        </a:rPr>
                        <a:t>7,998</a:t>
                      </a:r>
                    </a:p>
                  </a:txBody>
                  <a:tcPr anchor="ctr">
                    <a:solidFill>
                      <a:srgbClr val="FFFFFF"/>
                    </a:solidFill>
                  </a:tcPr>
                </a:tc>
                <a:tc>
                  <a:txBody>
                    <a:bodyPr/>
                    <a:lstStyle/>
                    <a:p>
                      <a:r>
                        <a:rPr sz="1575" b="0">
                          <a:solidFill>
                            <a:srgbClr val="111111"/>
                          </a:solidFill>
                          <a:latin typeface="Calibri"/>
                          <a:ea typeface="Calibri"/>
                          <a:cs typeface="Calibri"/>
                        </a:rPr>
                        <a:t>49,648</a:t>
                      </a:r>
                    </a:p>
                  </a:txBody>
                  <a:tcPr anchor="ctr">
                    <a:solidFill>
                      <a:srgbClr val="FFFFFF"/>
                    </a:solidFill>
                  </a:tcPr>
                </a:tc>
                <a:extLst>
                  <a:ext uri="{0D108BD9-81ED-4DB2-BD59-A6C34878D82A}">
                    <a16:rowId xmlns:a16="http://schemas.microsoft.com/office/drawing/2014/main" val="10003"/>
                  </a:ext>
                </a:extLst>
              </a:tr>
              <a:tr h="533400">
                <a:tc>
                  <a:txBody>
                    <a:bodyPr/>
                    <a:lstStyle/>
                    <a:p>
                      <a:r>
                        <a:rPr sz="1575" b="0">
                          <a:solidFill>
                            <a:srgbClr val="111111"/>
                          </a:solidFill>
                          <a:latin typeface="Calibri"/>
                          <a:ea typeface="Calibri"/>
                          <a:cs typeface="Calibri"/>
                        </a:rPr>
                        <a:t>P/N</a:t>
                      </a:r>
                    </a:p>
                  </a:txBody>
                  <a:tcPr anchor="ctr">
                    <a:solidFill>
                      <a:srgbClr val="FFFFFF"/>
                    </a:solidFill>
                  </a:tcPr>
                </a:tc>
                <a:tc>
                  <a:txBody>
                    <a:bodyPr/>
                    <a:lstStyle/>
                    <a:p>
                      <a:r>
                        <a:rPr sz="1575" b="0">
                          <a:solidFill>
                            <a:srgbClr val="111111"/>
                          </a:solidFill>
                          <a:latin typeface="Calibri"/>
                          <a:ea typeface="Calibri"/>
                          <a:cs typeface="Calibri"/>
                        </a:rPr>
                        <a:t>8,875</a:t>
                      </a:r>
                    </a:p>
                  </a:txBody>
                  <a:tcPr anchor="ctr">
                    <a:solidFill>
                      <a:srgbClr val="FFFFFF"/>
                    </a:solidFill>
                  </a:tcPr>
                </a:tc>
                <a:tc>
                  <a:txBody>
                    <a:bodyPr/>
                    <a:lstStyle/>
                    <a:p>
                      <a:r>
                        <a:rPr sz="1575" b="0">
                          <a:solidFill>
                            <a:srgbClr val="111111"/>
                          </a:solidFill>
                          <a:latin typeface="Calibri"/>
                          <a:ea typeface="Calibri"/>
                          <a:cs typeface="Calibri"/>
                        </a:rPr>
                        <a:t>7,940</a:t>
                      </a:r>
                    </a:p>
                  </a:txBody>
                  <a:tcPr anchor="ctr">
                    <a:solidFill>
                      <a:srgbClr val="FFFFFF"/>
                    </a:solidFill>
                  </a:tcPr>
                </a:tc>
                <a:tc>
                  <a:txBody>
                    <a:bodyPr/>
                    <a:lstStyle/>
                    <a:p>
                      <a:r>
                        <a:rPr sz="1575" b="0">
                          <a:solidFill>
                            <a:srgbClr val="111111"/>
                          </a:solidFill>
                          <a:latin typeface="Calibri"/>
                          <a:ea typeface="Calibri"/>
                          <a:cs typeface="Calibri"/>
                        </a:rPr>
                        <a:t>49,548</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4" name="Rectangle 33">
            <a:extLst>
              <a:ext uri="{FF2B5EF4-FFF2-40B4-BE49-F238E27FC236}">
                <a16:creationId xmlns:a16="http://schemas.microsoft.com/office/drawing/2014/main" id="{5E97D73D-3EC0-43F9-93C5-864D11BAD0FB}"/>
              </a:ext>
            </a:extLst>
          </p:cNvPr>
          <p:cNvSpPr>
            <a:spLocks noGrp="1"/>
          </p:cNvSpPr>
          <p:nvPr/>
        </p:nvSpPr>
        <p:spPr>
          <a:xfrm>
            <a:off x="552450" y="6000750"/>
            <a:ext cx="11068050" cy="285750"/>
          </a:xfrm>
          <a:prstGeom prst="rect">
            <a:avLst/>
          </a:prstGeom>
          <a:noFill/>
          <a:ln w="0">
            <a:noFill/>
          </a:ln>
        </p:spPr>
        <p:txBody>
          <a:bodyPr lIns="0" tIns="0" rIns="0" bIns="0" anchor="t">
            <a:noAutofit/>
          </a:bodyPr>
          <a:lstStyle>
            <a:defPPr algn="l">
              <a:defRPr sz="1650" b="1">
                <a:solidFill>
                  <a:srgbClr val="111111"/>
                </a:solidFill>
                <a:latin typeface="Calibri"/>
                <a:ea typeface="Calibri"/>
                <a:cs typeface="Calibri"/>
              </a:defRPr>
            </a:defPPr>
          </a:lstStyle>
          <a:p>
            <a:pPr algn="l">
              <a:buNone/>
              <a:defRPr sz="1650" b="1">
                <a:solidFill>
                  <a:srgbClr val="111111"/>
                </a:solidFill>
                <a:latin typeface="Calibri"/>
                <a:ea typeface="Calibri"/>
                <a:cs typeface="Calibri"/>
              </a:defRPr>
            </a:pPr>
            <a:r>
              <a:rPr sz="1650" b="1">
                <a:solidFill>
                  <a:srgbClr val="111111"/>
                </a:solidFill>
                <a:latin typeface="Calibri"/>
                <a:ea typeface="Calibri"/>
                <a:cs typeface="Calibri"/>
              </a:rPr>
              <a:t>K/E has the most complaints overall: 59,673.</a:t>
            </a:r>
          </a:p>
        </p:txBody>
      </p:sp>
    </p:spTree>
    <p:extLst>
      <p:ext uri="{BB962C8B-B14F-4D97-AF65-F5344CB8AC3E}">
        <p14:creationId xmlns:p14="http://schemas.microsoft.com/office/powerpoint/2010/main" val="1725946943"/>
      </p:ext>
    </p:extLst>
  </p:cSld>
  <p:clrMapOvr>
    <a:masterClrMapping/>
  </p:clrMapOvr>
</p:sld>
</file>

<file path=ppt/theme/theme1.xml><?xml version="1.0" encoding="utf-8"?>
<a:theme xmlns:a="http://schemas.openxmlformats.org/drawingml/2006/main" name="DWDM Lab BW">
  <a:themeElements>
    <a:clrScheme name="DWDM Lab BW">
      <a:dk1>
        <a:srgbClr val="000000"/>
      </a:dk1>
      <a:lt1>
        <a:srgbClr val="FFFFFF"/>
      </a:lt1>
      <a:dk2>
        <a:srgbClr val="111111"/>
      </a:dk2>
      <a:lt2>
        <a:srgbClr val="F2F2F2"/>
      </a:lt2>
      <a:accent1>
        <a:srgbClr val="1A1A1A"/>
      </a:accent1>
      <a:accent2>
        <a:srgbClr val="4D4D4D"/>
      </a:accent2>
      <a:accent3>
        <a:srgbClr val="333333"/>
      </a:accent3>
      <a:accent4>
        <a:srgbClr val="666666"/>
      </a:accent4>
      <a:accent5>
        <a:srgbClr val="737373"/>
      </a:accent5>
      <a:accent6>
        <a:srgbClr val="595959"/>
      </a:accent6>
      <a:hlink>
        <a:srgbClr val="000000"/>
      </a:hlink>
      <a:folHlink>
        <a:srgbClr val="595959"/>
      </a:folHlink>
    </a:clrScheme>
    <a:fontScheme name="DWDM Lab BW">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DWDM Lab B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WDM Lab BW">
  <a:themeElements>
    <a:clrScheme name="DWDM Lab BW">
      <a:dk1>
        <a:srgbClr val="000000"/>
      </a:dk1>
      <a:lt1>
        <a:srgbClr val="FFFFFF"/>
      </a:lt1>
      <a:dk2>
        <a:srgbClr val="111111"/>
      </a:dk2>
      <a:lt2>
        <a:srgbClr val="F2F2F2"/>
      </a:lt2>
      <a:accent1>
        <a:srgbClr val="1A1A1A"/>
      </a:accent1>
      <a:accent2>
        <a:srgbClr val="4D4D4D"/>
      </a:accent2>
      <a:accent3>
        <a:srgbClr val="333333"/>
      </a:accent3>
      <a:accent4>
        <a:srgbClr val="666666"/>
      </a:accent4>
      <a:accent5>
        <a:srgbClr val="737373"/>
      </a:accent5>
      <a:accent6>
        <a:srgbClr val="595959"/>
      </a:accent6>
      <a:hlink>
        <a:srgbClr val="000000"/>
      </a:hlink>
      <a:folHlink>
        <a:srgbClr val="595959"/>
      </a:folHlink>
    </a:clrScheme>
    <a:fontScheme name="DWDM Lab BW">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DWDM Lab B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3930</Words>
  <Application>Microsoft Office PowerPoint</Application>
  <DocSecurity>0</DocSecurity>
  <PresentationFormat>Widescreen</PresentationFormat>
  <Paragraphs>595</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DWDM Lab BW</vt:lpstr>
      <vt:lpstr>Complaint Pattern Analysis of Mumbai BMC Civic Complaints</vt:lpstr>
      <vt:lpstr>Dataset Description</vt:lpstr>
      <vt:lpstr>Attribute Summary: Keys &amp; Dimensions</vt:lpstr>
      <vt:lpstr>Attribute Summary: Measures &amp; Flags</vt:lpstr>
      <vt:lpstr>Data Warehouse — Star Schema</vt:lpstr>
      <vt:lpstr>Warehouse Inventory: All Dimensions &amp; Fact Attributes</vt:lpstr>
      <vt:lpstr>Creating the Warehouse: MySQL DDL (1/3)</vt:lpstr>
      <vt:lpstr>Creating the Warehouse: MySQL DDL (2/3)</vt:lpstr>
      <vt:lpstr>Creating the Warehouse: MySQL DDL (3/3)</vt:lpstr>
      <vt:lpstr>ETL Pipeline: Source-to-Warehouse Transformations</vt:lpstr>
      <vt:lpstr>Dataset: Complaint Categories</vt:lpstr>
      <vt:lpstr>Dataset: Ward Hotspots</vt:lpstr>
      <vt:lpstr>Dataset: Monthly Complaint Trend</vt:lpstr>
      <vt:lpstr>Warehouse Design &amp; ETL Results</vt:lpstr>
      <vt:lpstr>Code: Python ETL &amp; Loaded Results</vt:lpstr>
      <vt:lpstr>OLAP Operations: Roll-up &amp; Drill-down</vt:lpstr>
      <vt:lpstr>OLAP Operations: Slice &amp; Dice</vt:lpstr>
      <vt:lpstr>OLAP Operations: Pivot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Omkar Londhe</cp:lastModifiedBy>
  <cp:revision>7</cp:revision>
  <dcterms:created xsi:type="dcterms:W3CDTF">2026-10-09T04:37:47Z</dcterms:created>
  <dcterms:modified xsi:type="dcterms:W3CDTF">2026-10-09T08:42:46Z</dcterms:modified>
</cp:coreProperties>
</file>